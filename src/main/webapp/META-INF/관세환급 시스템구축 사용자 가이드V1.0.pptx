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60" r:id="rId4"/>
  </p:sldMasterIdLst>
  <p:notesMasterIdLst>
    <p:notesMasterId r:id="rId64"/>
  </p:notesMasterIdLst>
  <p:handoutMasterIdLst>
    <p:handoutMasterId r:id="rId65"/>
  </p:handoutMasterIdLst>
  <p:sldIdLst>
    <p:sldId id="613" r:id="rId5"/>
    <p:sldId id="696" r:id="rId6"/>
    <p:sldId id="697" r:id="rId7"/>
    <p:sldId id="700" r:id="rId8"/>
    <p:sldId id="698" r:id="rId9"/>
    <p:sldId id="699" r:id="rId10"/>
    <p:sldId id="704" r:id="rId11"/>
    <p:sldId id="705" r:id="rId12"/>
    <p:sldId id="706" r:id="rId13"/>
    <p:sldId id="702" r:id="rId14"/>
    <p:sldId id="708" r:id="rId15"/>
    <p:sldId id="707" r:id="rId16"/>
    <p:sldId id="753" r:id="rId17"/>
    <p:sldId id="754" r:id="rId18"/>
    <p:sldId id="755" r:id="rId19"/>
    <p:sldId id="756" r:id="rId20"/>
    <p:sldId id="757" r:id="rId21"/>
    <p:sldId id="758" r:id="rId22"/>
    <p:sldId id="759" r:id="rId23"/>
    <p:sldId id="760" r:id="rId24"/>
    <p:sldId id="761" r:id="rId25"/>
    <p:sldId id="762" r:id="rId26"/>
    <p:sldId id="763" r:id="rId27"/>
    <p:sldId id="764" r:id="rId28"/>
    <p:sldId id="721" r:id="rId29"/>
    <p:sldId id="722" r:id="rId30"/>
    <p:sldId id="723" r:id="rId31"/>
    <p:sldId id="724" r:id="rId32"/>
    <p:sldId id="725" r:id="rId33"/>
    <p:sldId id="726" r:id="rId34"/>
    <p:sldId id="727" r:id="rId35"/>
    <p:sldId id="728" r:id="rId36"/>
    <p:sldId id="729" r:id="rId37"/>
    <p:sldId id="731" r:id="rId38"/>
    <p:sldId id="730" r:id="rId39"/>
    <p:sldId id="732" r:id="rId40"/>
    <p:sldId id="733" r:id="rId41"/>
    <p:sldId id="734" r:id="rId42"/>
    <p:sldId id="735" r:id="rId43"/>
    <p:sldId id="736" r:id="rId44"/>
    <p:sldId id="737" r:id="rId45"/>
    <p:sldId id="738" r:id="rId46"/>
    <p:sldId id="739" r:id="rId47"/>
    <p:sldId id="740" r:id="rId48"/>
    <p:sldId id="741" r:id="rId49"/>
    <p:sldId id="742" r:id="rId50"/>
    <p:sldId id="743" r:id="rId51"/>
    <p:sldId id="744" r:id="rId52"/>
    <p:sldId id="745" r:id="rId53"/>
    <p:sldId id="746" r:id="rId54"/>
    <p:sldId id="710" r:id="rId55"/>
    <p:sldId id="695" r:id="rId56"/>
    <p:sldId id="692" r:id="rId57"/>
    <p:sldId id="694" r:id="rId58"/>
    <p:sldId id="750" r:id="rId59"/>
    <p:sldId id="752" r:id="rId60"/>
    <p:sldId id="751" r:id="rId61"/>
    <p:sldId id="749" r:id="rId62"/>
    <p:sldId id="639" r:id="rId63"/>
  </p:sldIdLst>
  <p:sldSz cx="10907713" cy="7775575"/>
  <p:notesSz cx="6805613" cy="99393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hn, Hui-Jun (KR/MCS2)" initials="AH(" lastIdx="1" clrIdx="0">
    <p:extLst>
      <p:ext uri="{19B8F6BF-5375-455C-9EA6-DF929625EA0E}">
        <p15:presenceInfo xmlns:p15="http://schemas.microsoft.com/office/powerpoint/2012/main" userId="S::huijunahn@kr.kpmg.com::8061f831-e217-495f-8de0-92bd210154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5BB7"/>
    <a:srgbClr val="D9D9D9"/>
    <a:srgbClr val="FFFFFF"/>
    <a:srgbClr val="0091DA"/>
    <a:srgbClr val="DDEBF7"/>
    <a:srgbClr val="FFCC99"/>
    <a:srgbClr val="FF9966"/>
    <a:srgbClr val="494949"/>
    <a:srgbClr val="004C98"/>
    <a:srgbClr val="E3E3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27" autoAdjust="0"/>
    <p:restoredTop sz="96804" autoAdjust="0"/>
  </p:normalViewPr>
  <p:slideViewPr>
    <p:cSldViewPr snapToGrid="0" showGuides="1">
      <p:cViewPr varScale="1">
        <p:scale>
          <a:sx n="103" d="100"/>
          <a:sy n="103" d="100"/>
        </p:scale>
        <p:origin x="1162" y="86"/>
      </p:cViewPr>
      <p:guideLst/>
    </p:cSldViewPr>
  </p:slid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1" d="100"/>
          <a:sy n="81" d="100"/>
        </p:scale>
        <p:origin x="3979" y="8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4939" y="0"/>
            <a:ext cx="2949099" cy="498693"/>
          </a:xfrm>
          <a:prstGeom prst="rect">
            <a:avLst/>
          </a:prstGeom>
        </p:spPr>
        <p:txBody>
          <a:bodyPr vert="horz" lIns="91440" tIns="45720" rIns="91440" bIns="45720" rtlCol="0"/>
          <a:lstStyle>
            <a:lvl1pPr algn="r">
              <a:defRPr sz="1200"/>
            </a:lvl1pPr>
          </a:lstStyle>
          <a:p>
            <a:fld id="{FA40A77E-B6B1-4D6A-A7FD-EFB84D10918C}" type="datetimeFigureOut">
              <a:rPr lang="ko-KR" altLang="en-US" smtClean="0"/>
              <a:t>2025-03-26</a:t>
            </a:fld>
            <a:endParaRPr lang="ko-KR" altLang="en-US"/>
          </a:p>
        </p:txBody>
      </p:sp>
      <p:sp>
        <p:nvSpPr>
          <p:cNvPr id="4" name="바닥글 개체 틀 3"/>
          <p:cNvSpPr>
            <a:spLocks noGrp="1"/>
          </p:cNvSpPr>
          <p:nvPr>
            <p:ph type="ftr" sz="quarter" idx="2"/>
          </p:nvPr>
        </p:nvSpPr>
        <p:spPr>
          <a:xfrm>
            <a:off x="0" y="9440647"/>
            <a:ext cx="2949099" cy="498692"/>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4939" y="9440647"/>
            <a:ext cx="2949099" cy="498692"/>
          </a:xfrm>
          <a:prstGeom prst="rect">
            <a:avLst/>
          </a:prstGeom>
        </p:spPr>
        <p:txBody>
          <a:bodyPr vert="horz" lIns="91440" tIns="45720" rIns="91440" bIns="45720" rtlCol="0" anchor="b"/>
          <a:lstStyle>
            <a:lvl1pPr algn="r">
              <a:defRPr sz="1200"/>
            </a:lvl1pPr>
          </a:lstStyle>
          <a:p>
            <a:fld id="{FCF4D75C-19BC-4033-AA9A-530CBD58F6AE}" type="slidenum">
              <a:rPr lang="ko-KR" altLang="en-US" smtClean="0"/>
              <a:t>‹#›</a:t>
            </a:fld>
            <a:endParaRPr lang="ko-KR" altLang="en-US"/>
          </a:p>
        </p:txBody>
      </p:sp>
    </p:spTree>
    <p:extLst>
      <p:ext uri="{BB962C8B-B14F-4D97-AF65-F5344CB8AC3E}">
        <p14:creationId xmlns:p14="http://schemas.microsoft.com/office/powerpoint/2010/main" val="33036928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DDC58F2A-A7E3-48D0-8F45-C70D82B9924E}" type="datetimeFigureOut">
              <a:rPr lang="ko-KR" altLang="en-US" smtClean="0"/>
              <a:t>2025-03-26</a:t>
            </a:fld>
            <a:endParaRPr lang="ko-KR" altLang="en-US"/>
          </a:p>
        </p:txBody>
      </p:sp>
      <p:sp>
        <p:nvSpPr>
          <p:cNvPr id="4" name="슬라이드 이미지 개체 틀 3"/>
          <p:cNvSpPr>
            <a:spLocks noGrp="1" noRot="1" noChangeAspect="1"/>
          </p:cNvSpPr>
          <p:nvPr>
            <p:ph type="sldImg" idx="2"/>
          </p:nvPr>
        </p:nvSpPr>
        <p:spPr>
          <a:xfrm>
            <a:off x="1050925" y="1243013"/>
            <a:ext cx="4703763"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06A46BEA-6CB7-43AE-8DD2-E849C3095475}" type="slidenum">
              <a:rPr lang="ko-KR" altLang="en-US" smtClean="0"/>
              <a:t>‹#›</a:t>
            </a:fld>
            <a:endParaRPr lang="ko-KR" altLang="en-US"/>
          </a:p>
        </p:txBody>
      </p:sp>
    </p:spTree>
    <p:extLst>
      <p:ext uri="{BB962C8B-B14F-4D97-AF65-F5344CB8AC3E}">
        <p14:creationId xmlns:p14="http://schemas.microsoft.com/office/powerpoint/2010/main" val="303207243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30" userDrawn="1">
          <p15:clr>
            <a:srgbClr val="F26B43"/>
          </p15:clr>
        </p15:guide>
        <p15:guide id="2" pos="2143"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kpmg.com/socialmedia" TargetMode="External"/><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hyperlink" Target="http://kpmg.com/socialmedia" TargetMode="External"/><Relationship Id="rId5" Type="http://schemas.openxmlformats.org/officeDocument/2006/relationships/image" Target="../media/image1.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4장">
    <p:spTree>
      <p:nvGrpSpPr>
        <p:cNvPr id="1" name=""/>
        <p:cNvGrpSpPr/>
        <p:nvPr/>
      </p:nvGrpSpPr>
      <p:grpSpPr>
        <a:xfrm>
          <a:off x="0" y="0"/>
          <a:ext cx="0" cy="0"/>
          <a:chOff x="0" y="0"/>
          <a:chExt cx="0" cy="0"/>
        </a:xfrm>
      </p:grpSpPr>
      <p:sp>
        <p:nvSpPr>
          <p:cNvPr id="46" name="Slide Number Placeholder 5"/>
          <p:cNvSpPr txBox="1">
            <a:spLocks/>
          </p:cNvSpPr>
          <p:nvPr userDrawn="1"/>
        </p:nvSpPr>
        <p:spPr>
          <a:xfrm>
            <a:off x="8421081" y="7243065"/>
            <a:ext cx="1824644" cy="413977"/>
          </a:xfrm>
          <a:prstGeom prst="rect">
            <a:avLst/>
          </a:prstGeom>
        </p:spPr>
        <p:txBody>
          <a:bodyPr vert="horz" lIns="91440" tIns="45720" rIns="0" bIns="45720" rtlCol="0" anchor="ctr"/>
          <a:lstStyle>
            <a:defPPr>
              <a:defRPr lang="ko-KR"/>
            </a:defPPr>
            <a:lvl1pPr marL="0" algn="ctr" defTabSz="914400" rtl="0" eaLnBrk="1" latinLnBrk="1" hangingPunct="1">
              <a:defRPr sz="1300" kern="1200">
                <a:solidFill>
                  <a:schemeClr val="tx2"/>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fld id="{613A2E33-43BC-4FF3-8A8F-87555EDF625C}" type="slidenum">
              <a:rPr lang="ko-KR" altLang="en-US" smtClean="0">
                <a:ln>
                  <a:solidFill>
                    <a:schemeClr val="accent1">
                      <a:alpha val="0"/>
                    </a:schemeClr>
                  </a:solidFill>
                </a:ln>
                <a:solidFill>
                  <a:schemeClr val="tx1">
                    <a:lumMod val="85000"/>
                    <a:lumOff val="15000"/>
                  </a:schemeClr>
                </a:solidFill>
                <a:latin typeface="맑은 고딕" panose="020B0503020000020004" pitchFamily="50" charset="-127"/>
              </a:rPr>
              <a:pPr algn="r"/>
              <a:t>‹#›</a:t>
            </a:fld>
            <a:endParaRPr lang="ko-KR" altLang="en-US" dirty="0">
              <a:ln>
                <a:solidFill>
                  <a:schemeClr val="accent1">
                    <a:alpha val="0"/>
                  </a:schemeClr>
                </a:solidFill>
              </a:ln>
              <a:solidFill>
                <a:schemeClr val="tx1">
                  <a:lumMod val="85000"/>
                  <a:lumOff val="15000"/>
                </a:schemeClr>
              </a:solidFill>
              <a:latin typeface="맑은 고딕" panose="020B0503020000020004" pitchFamily="50" charset="-127"/>
            </a:endParaRPr>
          </a:p>
        </p:txBody>
      </p:sp>
      <p:pic>
        <p:nvPicPr>
          <p:cNvPr id="47" name="그림 4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9288" y="7337662"/>
            <a:ext cx="811795" cy="198595"/>
          </a:xfrm>
          <a:prstGeom prst="rect">
            <a:avLst/>
          </a:prstGeom>
        </p:spPr>
      </p:pic>
      <p:sp>
        <p:nvSpPr>
          <p:cNvPr id="48" name="TextBox 47"/>
          <p:cNvSpPr txBox="1"/>
          <p:nvPr userDrawn="1"/>
        </p:nvSpPr>
        <p:spPr>
          <a:xfrm>
            <a:off x="1844168" y="7346038"/>
            <a:ext cx="5080507" cy="370800"/>
          </a:xfrm>
          <a:prstGeom prst="rect">
            <a:avLst/>
          </a:prstGeom>
          <a:noFill/>
        </p:spPr>
        <p:txBody>
          <a:bodyPr wrap="square" lIns="0" tIns="0" rIns="0" bIns="0" rtlCol="0">
            <a:noAutofit/>
          </a:bodyPr>
          <a:lstStyle/>
          <a:p>
            <a:pPr>
              <a:defRPr/>
            </a:pPr>
            <a:r>
              <a:rPr lang="en-US" altLang="ko-KR" sz="600" u="none"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 2025 </a:t>
            </a:r>
            <a:r>
              <a:rPr kumimoji="1" lang="en-US" altLang="ko-KR" sz="600"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KPMG </a:t>
            </a:r>
            <a:r>
              <a:rPr kumimoji="1" lang="en-US" altLang="ko-KR" sz="600" dirty="0" err="1">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Samjong</a:t>
            </a:r>
            <a:r>
              <a:rPr kumimoji="1" lang="en-US" altLang="ko-KR" sz="600"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 Accounting Corp., </a:t>
            </a:r>
            <a:r>
              <a:rPr lang="en-US" altLang="ko-KR" sz="600" u="none"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
        <p:nvSpPr>
          <p:cNvPr id="25" name="직사각형 24">
            <a:extLst>
              <a:ext uri="{FF2B5EF4-FFF2-40B4-BE49-F238E27FC236}">
                <a16:creationId xmlns:a16="http://schemas.microsoft.com/office/drawing/2014/main" id="{E95629C1-58E4-49DE-8114-DAFA5053E707}"/>
              </a:ext>
            </a:extLst>
          </p:cNvPr>
          <p:cNvSpPr/>
          <p:nvPr userDrawn="1"/>
        </p:nvSpPr>
        <p:spPr>
          <a:xfrm>
            <a:off x="0" y="1049636"/>
            <a:ext cx="10907713" cy="785513"/>
          </a:xfrm>
          <a:prstGeom prst="rect">
            <a:avLst/>
          </a:prstGeom>
          <a:pattFill prst="dk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2" name="그룹 11">
            <a:extLst>
              <a:ext uri="{FF2B5EF4-FFF2-40B4-BE49-F238E27FC236}">
                <a16:creationId xmlns:a16="http://schemas.microsoft.com/office/drawing/2014/main" id="{11E65581-EABC-4D03-94B0-BEDA3D3CFB16}"/>
              </a:ext>
            </a:extLst>
          </p:cNvPr>
          <p:cNvGrpSpPr/>
          <p:nvPr userDrawn="1"/>
        </p:nvGrpSpPr>
        <p:grpSpPr>
          <a:xfrm>
            <a:off x="-533194" y="1145259"/>
            <a:ext cx="468000" cy="4334843"/>
            <a:chOff x="-586534" y="1096645"/>
            <a:chExt cx="468000" cy="4334843"/>
          </a:xfrm>
        </p:grpSpPr>
        <p:sp>
          <p:nvSpPr>
            <p:cNvPr id="13" name="Rectangle 34">
              <a:extLst>
                <a:ext uri="{FF2B5EF4-FFF2-40B4-BE49-F238E27FC236}">
                  <a16:creationId xmlns:a16="http://schemas.microsoft.com/office/drawing/2014/main" id="{B5D1D4B5-99C6-422A-8EC7-CFAF31B67913}"/>
                </a:ext>
              </a:extLst>
            </p:cNvPr>
            <p:cNvSpPr/>
            <p:nvPr userDrawn="1"/>
          </p:nvSpPr>
          <p:spPr>
            <a:xfrm>
              <a:off x="-334534" y="1226184"/>
              <a:ext cx="216000" cy="216002"/>
            </a:xfrm>
            <a:prstGeom prst="rect">
              <a:avLst/>
            </a:prstGeom>
            <a:solidFill>
              <a:srgbClr val="00338D"/>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4" name="Rectangle 35">
              <a:extLst>
                <a:ext uri="{FF2B5EF4-FFF2-40B4-BE49-F238E27FC236}">
                  <a16:creationId xmlns:a16="http://schemas.microsoft.com/office/drawing/2014/main" id="{AA8B1339-70E9-4060-B240-CF35CC0A239D}"/>
                </a:ext>
              </a:extLst>
            </p:cNvPr>
            <p:cNvSpPr/>
            <p:nvPr userDrawn="1"/>
          </p:nvSpPr>
          <p:spPr>
            <a:xfrm>
              <a:off x="-334534" y="1546561"/>
              <a:ext cx="216000" cy="216002"/>
            </a:xfrm>
            <a:prstGeom prst="rect">
              <a:avLst/>
            </a:prstGeom>
            <a:solidFill>
              <a:srgbClr val="005EB8"/>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5" name="Rectangle 36">
              <a:extLst>
                <a:ext uri="{FF2B5EF4-FFF2-40B4-BE49-F238E27FC236}">
                  <a16:creationId xmlns:a16="http://schemas.microsoft.com/office/drawing/2014/main" id="{6CDC9478-4813-4321-A340-0A561182D43A}"/>
                </a:ext>
              </a:extLst>
            </p:cNvPr>
            <p:cNvSpPr/>
            <p:nvPr userDrawn="1"/>
          </p:nvSpPr>
          <p:spPr>
            <a:xfrm>
              <a:off x="-334534" y="1866938"/>
              <a:ext cx="216000" cy="216002"/>
            </a:xfrm>
            <a:prstGeom prst="rect">
              <a:avLst/>
            </a:prstGeom>
            <a:solidFill>
              <a:srgbClr val="0091DA"/>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6" name="Rectangle 37">
              <a:extLst>
                <a:ext uri="{FF2B5EF4-FFF2-40B4-BE49-F238E27FC236}">
                  <a16:creationId xmlns:a16="http://schemas.microsoft.com/office/drawing/2014/main" id="{3845B00E-292E-4E3A-8406-D4AD04B4E876}"/>
                </a:ext>
              </a:extLst>
            </p:cNvPr>
            <p:cNvSpPr/>
            <p:nvPr userDrawn="1"/>
          </p:nvSpPr>
          <p:spPr>
            <a:xfrm>
              <a:off x="-334534" y="2255895"/>
              <a:ext cx="216000" cy="216002"/>
            </a:xfrm>
            <a:prstGeom prst="rect">
              <a:avLst/>
            </a:prstGeom>
            <a:solidFill>
              <a:srgbClr val="483698"/>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7" name="Rectangle 38">
              <a:extLst>
                <a:ext uri="{FF2B5EF4-FFF2-40B4-BE49-F238E27FC236}">
                  <a16:creationId xmlns:a16="http://schemas.microsoft.com/office/drawing/2014/main" id="{66337E29-955A-4304-A955-D2597C3DE9D2}"/>
                </a:ext>
              </a:extLst>
            </p:cNvPr>
            <p:cNvSpPr/>
            <p:nvPr userDrawn="1"/>
          </p:nvSpPr>
          <p:spPr>
            <a:xfrm>
              <a:off x="-334534" y="2576272"/>
              <a:ext cx="216000" cy="216002"/>
            </a:xfrm>
            <a:prstGeom prst="rect">
              <a:avLst/>
            </a:prstGeom>
            <a:solidFill>
              <a:srgbClr val="470A68"/>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8" name="Rectangle 39">
              <a:extLst>
                <a:ext uri="{FF2B5EF4-FFF2-40B4-BE49-F238E27FC236}">
                  <a16:creationId xmlns:a16="http://schemas.microsoft.com/office/drawing/2014/main" id="{A334D8EE-03F7-4C1E-8F0E-FE3869FB6590}"/>
                </a:ext>
              </a:extLst>
            </p:cNvPr>
            <p:cNvSpPr/>
            <p:nvPr userDrawn="1"/>
          </p:nvSpPr>
          <p:spPr>
            <a:xfrm>
              <a:off x="-334534" y="2896649"/>
              <a:ext cx="216000" cy="216002"/>
            </a:xfrm>
            <a:prstGeom prst="rect">
              <a:avLst/>
            </a:prstGeom>
            <a:solidFill>
              <a:srgbClr val="6D2077"/>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9" name="Rectangle 40">
              <a:extLst>
                <a:ext uri="{FF2B5EF4-FFF2-40B4-BE49-F238E27FC236}">
                  <a16:creationId xmlns:a16="http://schemas.microsoft.com/office/drawing/2014/main" id="{E0CBA872-995B-4156-B28D-B1B54578CEBC}"/>
                </a:ext>
              </a:extLst>
            </p:cNvPr>
            <p:cNvSpPr/>
            <p:nvPr userDrawn="1"/>
          </p:nvSpPr>
          <p:spPr>
            <a:xfrm>
              <a:off x="-334534" y="3217026"/>
              <a:ext cx="216000" cy="216002"/>
            </a:xfrm>
            <a:prstGeom prst="rect">
              <a:avLst/>
            </a:prstGeom>
            <a:solidFill>
              <a:srgbClr val="00A3A1"/>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0" name="Rectangle 41">
              <a:extLst>
                <a:ext uri="{FF2B5EF4-FFF2-40B4-BE49-F238E27FC236}">
                  <a16:creationId xmlns:a16="http://schemas.microsoft.com/office/drawing/2014/main" id="{2D459CDE-B033-4C96-B7DF-CE14EF8FCC21}"/>
                </a:ext>
              </a:extLst>
            </p:cNvPr>
            <p:cNvSpPr/>
            <p:nvPr userDrawn="1"/>
          </p:nvSpPr>
          <p:spPr>
            <a:xfrm>
              <a:off x="-334534" y="3613603"/>
              <a:ext cx="216000" cy="216002"/>
            </a:xfrm>
            <a:prstGeom prst="rect">
              <a:avLst/>
            </a:prstGeom>
            <a:solidFill>
              <a:srgbClr val="009A44"/>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1" name="Rectangle 42">
              <a:extLst>
                <a:ext uri="{FF2B5EF4-FFF2-40B4-BE49-F238E27FC236}">
                  <a16:creationId xmlns:a16="http://schemas.microsoft.com/office/drawing/2014/main" id="{EA34FBB7-AC64-4606-BA82-9E75A8A3DBAC}"/>
                </a:ext>
              </a:extLst>
            </p:cNvPr>
            <p:cNvSpPr/>
            <p:nvPr userDrawn="1"/>
          </p:nvSpPr>
          <p:spPr>
            <a:xfrm>
              <a:off x="-334534" y="3933980"/>
              <a:ext cx="216000" cy="216002"/>
            </a:xfrm>
            <a:prstGeom prst="rect">
              <a:avLst/>
            </a:prstGeom>
            <a:solidFill>
              <a:srgbClr val="43B02A"/>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2" name="Rectangle 43">
              <a:extLst>
                <a:ext uri="{FF2B5EF4-FFF2-40B4-BE49-F238E27FC236}">
                  <a16:creationId xmlns:a16="http://schemas.microsoft.com/office/drawing/2014/main" id="{64F8FF1E-BC03-407C-85BC-4424F6B0DED6}"/>
                </a:ext>
              </a:extLst>
            </p:cNvPr>
            <p:cNvSpPr/>
            <p:nvPr userDrawn="1"/>
          </p:nvSpPr>
          <p:spPr>
            <a:xfrm>
              <a:off x="-334534" y="4254357"/>
              <a:ext cx="216000" cy="216002"/>
            </a:xfrm>
            <a:prstGeom prst="rect">
              <a:avLst/>
            </a:prstGeom>
            <a:solidFill>
              <a:srgbClr val="EAAA00"/>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3" name="Rectangle 44">
              <a:extLst>
                <a:ext uri="{FF2B5EF4-FFF2-40B4-BE49-F238E27FC236}">
                  <a16:creationId xmlns:a16="http://schemas.microsoft.com/office/drawing/2014/main" id="{C8280265-95E7-4154-9866-5F926D66ABDD}"/>
                </a:ext>
              </a:extLst>
            </p:cNvPr>
            <p:cNvSpPr/>
            <p:nvPr userDrawn="1"/>
          </p:nvSpPr>
          <p:spPr>
            <a:xfrm>
              <a:off x="-334534" y="4574734"/>
              <a:ext cx="216000" cy="216002"/>
            </a:xfrm>
            <a:prstGeom prst="rect">
              <a:avLst/>
            </a:prstGeom>
            <a:solidFill>
              <a:srgbClr val="F68D2E"/>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4" name="Rectangle 45">
              <a:extLst>
                <a:ext uri="{FF2B5EF4-FFF2-40B4-BE49-F238E27FC236}">
                  <a16:creationId xmlns:a16="http://schemas.microsoft.com/office/drawing/2014/main" id="{7B8734F2-6FF7-4A11-9FA9-423A6C181AAC}"/>
                </a:ext>
              </a:extLst>
            </p:cNvPr>
            <p:cNvSpPr/>
            <p:nvPr userDrawn="1"/>
          </p:nvSpPr>
          <p:spPr>
            <a:xfrm>
              <a:off x="-334534" y="4895111"/>
              <a:ext cx="216000" cy="216002"/>
            </a:xfrm>
            <a:prstGeom prst="rect">
              <a:avLst/>
            </a:prstGeom>
            <a:solidFill>
              <a:srgbClr val="BC204B"/>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6" name="Rectangle 46">
              <a:extLst>
                <a:ext uri="{FF2B5EF4-FFF2-40B4-BE49-F238E27FC236}">
                  <a16:creationId xmlns:a16="http://schemas.microsoft.com/office/drawing/2014/main" id="{366F3104-0EB7-42E5-B356-4E04B2160B50}"/>
                </a:ext>
              </a:extLst>
            </p:cNvPr>
            <p:cNvSpPr/>
            <p:nvPr userDrawn="1"/>
          </p:nvSpPr>
          <p:spPr>
            <a:xfrm>
              <a:off x="-334534" y="5215486"/>
              <a:ext cx="216000" cy="216002"/>
            </a:xfrm>
            <a:prstGeom prst="rect">
              <a:avLst/>
            </a:prstGeom>
            <a:solidFill>
              <a:srgbClr val="C6007E"/>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7" name="Rectangle 47">
              <a:extLst>
                <a:ext uri="{FF2B5EF4-FFF2-40B4-BE49-F238E27FC236}">
                  <a16:creationId xmlns:a16="http://schemas.microsoft.com/office/drawing/2014/main" id="{3CE4AE32-9AD0-41B9-B1CD-1B4B82F6DFC7}"/>
                </a:ext>
              </a:extLst>
            </p:cNvPr>
            <p:cNvSpPr/>
            <p:nvPr userDrawn="1"/>
          </p:nvSpPr>
          <p:spPr>
            <a:xfrm>
              <a:off x="-586534" y="1096645"/>
              <a:ext cx="468000" cy="92333"/>
            </a:xfrm>
            <a:prstGeom prst="rect">
              <a:avLst/>
            </a:prstGeom>
            <a:noFill/>
            <a:ln w="9525" cap="flat" cmpd="sng" algn="ctr">
              <a:noFill/>
              <a:prstDash val="solid"/>
            </a:ln>
            <a:effectLst/>
          </p:spPr>
          <p:txBody>
            <a:bodyPr wrap="square" lIns="0" tIns="0" rIns="36000" bIns="0" rtlCol="0" anchor="t" anchorCtr="0">
              <a:spAutoFit/>
            </a:bodyPr>
            <a:lstStyle/>
            <a:p>
              <a:pPr marL="0" marR="0" lvl="0" indent="0" algn="r" defTabSz="410291"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KPMG Extralight"/>
                </a:rPr>
                <a:t>Primary</a:t>
              </a:r>
              <a:endPar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Univers for KPMG Cond"/>
              </a:endParaRPr>
            </a:p>
          </p:txBody>
        </p:sp>
        <p:sp>
          <p:nvSpPr>
            <p:cNvPr id="28" name="Rectangle 47">
              <a:extLst>
                <a:ext uri="{FF2B5EF4-FFF2-40B4-BE49-F238E27FC236}">
                  <a16:creationId xmlns:a16="http://schemas.microsoft.com/office/drawing/2014/main" id="{A450D32D-45F5-483E-86F0-F73F54E299F8}"/>
                </a:ext>
              </a:extLst>
            </p:cNvPr>
            <p:cNvSpPr/>
            <p:nvPr userDrawn="1"/>
          </p:nvSpPr>
          <p:spPr>
            <a:xfrm>
              <a:off x="-586534" y="2127240"/>
              <a:ext cx="468000" cy="92333"/>
            </a:xfrm>
            <a:prstGeom prst="rect">
              <a:avLst/>
            </a:prstGeom>
            <a:noFill/>
            <a:ln w="9525" cap="flat" cmpd="sng" algn="ctr">
              <a:noFill/>
              <a:prstDash val="solid"/>
            </a:ln>
            <a:effectLst/>
          </p:spPr>
          <p:txBody>
            <a:bodyPr wrap="square" lIns="0" tIns="0" rIns="36000" bIns="0" rtlCol="0" anchor="t" anchorCtr="0">
              <a:spAutoFit/>
            </a:bodyPr>
            <a:lstStyle/>
            <a:p>
              <a:pPr marL="0" marR="0" lvl="0" indent="0" algn="r" defTabSz="410291"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KPMG Extralight"/>
                </a:rPr>
                <a:t>Secondary</a:t>
              </a:r>
            </a:p>
          </p:txBody>
        </p:sp>
        <p:sp>
          <p:nvSpPr>
            <p:cNvPr id="29" name="Rectangle 47">
              <a:extLst>
                <a:ext uri="{FF2B5EF4-FFF2-40B4-BE49-F238E27FC236}">
                  <a16:creationId xmlns:a16="http://schemas.microsoft.com/office/drawing/2014/main" id="{89F3A747-3E79-43DF-89EA-C8F5972E4A7A}"/>
                </a:ext>
              </a:extLst>
            </p:cNvPr>
            <p:cNvSpPr/>
            <p:nvPr userDrawn="1"/>
          </p:nvSpPr>
          <p:spPr>
            <a:xfrm>
              <a:off x="-586534" y="3484064"/>
              <a:ext cx="468000" cy="92333"/>
            </a:xfrm>
            <a:prstGeom prst="rect">
              <a:avLst/>
            </a:prstGeom>
            <a:noFill/>
            <a:ln w="9525" cap="flat" cmpd="sng" algn="ctr">
              <a:noFill/>
              <a:prstDash val="solid"/>
            </a:ln>
            <a:effectLst/>
          </p:spPr>
          <p:txBody>
            <a:bodyPr wrap="square" lIns="0" tIns="0" rIns="36000" bIns="0" rtlCol="0" anchor="t" anchorCtr="0">
              <a:spAutoFit/>
            </a:bodyPr>
            <a:lstStyle/>
            <a:p>
              <a:pPr marL="0" marR="0" lvl="0" indent="0" algn="r" defTabSz="410291"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KPMG Extralight"/>
                </a:rPr>
                <a:t>Tertiary</a:t>
              </a:r>
            </a:p>
          </p:txBody>
        </p:sp>
      </p:grpSp>
    </p:spTree>
    <p:extLst>
      <p:ext uri="{BB962C8B-B14F-4D97-AF65-F5344CB8AC3E}">
        <p14:creationId xmlns:p14="http://schemas.microsoft.com/office/powerpoint/2010/main" val="4145316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4장">
    <p:spTree>
      <p:nvGrpSpPr>
        <p:cNvPr id="1" name=""/>
        <p:cNvGrpSpPr/>
        <p:nvPr/>
      </p:nvGrpSpPr>
      <p:grpSpPr>
        <a:xfrm>
          <a:off x="0" y="0"/>
          <a:ext cx="0" cy="0"/>
          <a:chOff x="0" y="0"/>
          <a:chExt cx="0" cy="0"/>
        </a:xfrm>
      </p:grpSpPr>
      <p:sp>
        <p:nvSpPr>
          <p:cNvPr id="46" name="Slide Number Placeholder 5"/>
          <p:cNvSpPr txBox="1">
            <a:spLocks/>
          </p:cNvSpPr>
          <p:nvPr userDrawn="1"/>
        </p:nvSpPr>
        <p:spPr>
          <a:xfrm>
            <a:off x="8421081" y="7243065"/>
            <a:ext cx="1824644" cy="413977"/>
          </a:xfrm>
          <a:prstGeom prst="rect">
            <a:avLst/>
          </a:prstGeom>
        </p:spPr>
        <p:txBody>
          <a:bodyPr vert="horz" lIns="91440" tIns="45720" rIns="0" bIns="45720" rtlCol="0" anchor="ctr"/>
          <a:lstStyle>
            <a:defPPr>
              <a:defRPr lang="ko-KR"/>
            </a:defPPr>
            <a:lvl1pPr marL="0" algn="ctr" defTabSz="914400" rtl="0" eaLnBrk="1" latinLnBrk="1" hangingPunct="1">
              <a:defRPr sz="1300" kern="1200">
                <a:solidFill>
                  <a:schemeClr val="tx2"/>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fld id="{613A2E33-43BC-4FF3-8A8F-87555EDF625C}" type="slidenum">
              <a:rPr lang="ko-KR" altLang="en-US" smtClean="0">
                <a:ln>
                  <a:solidFill>
                    <a:schemeClr val="accent1">
                      <a:alpha val="0"/>
                    </a:schemeClr>
                  </a:solidFill>
                </a:ln>
                <a:solidFill>
                  <a:schemeClr val="tx1">
                    <a:lumMod val="85000"/>
                    <a:lumOff val="15000"/>
                  </a:schemeClr>
                </a:solidFill>
                <a:latin typeface="맑은 고딕" panose="020B0503020000020004" pitchFamily="50" charset="-127"/>
              </a:rPr>
              <a:pPr algn="r"/>
              <a:t>‹#›</a:t>
            </a:fld>
            <a:endParaRPr lang="ko-KR" altLang="en-US" dirty="0">
              <a:ln>
                <a:solidFill>
                  <a:schemeClr val="accent1">
                    <a:alpha val="0"/>
                  </a:schemeClr>
                </a:solidFill>
              </a:ln>
              <a:solidFill>
                <a:schemeClr val="tx1">
                  <a:lumMod val="85000"/>
                  <a:lumOff val="15000"/>
                </a:schemeClr>
              </a:solidFill>
              <a:latin typeface="맑은 고딕" panose="020B0503020000020004" pitchFamily="50" charset="-127"/>
            </a:endParaRPr>
          </a:p>
        </p:txBody>
      </p:sp>
      <p:pic>
        <p:nvPicPr>
          <p:cNvPr id="47" name="그림 4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9288" y="7337662"/>
            <a:ext cx="811795" cy="198595"/>
          </a:xfrm>
          <a:prstGeom prst="rect">
            <a:avLst/>
          </a:prstGeom>
        </p:spPr>
      </p:pic>
      <p:grpSp>
        <p:nvGrpSpPr>
          <p:cNvPr id="12" name="그룹 11">
            <a:extLst>
              <a:ext uri="{FF2B5EF4-FFF2-40B4-BE49-F238E27FC236}">
                <a16:creationId xmlns:a16="http://schemas.microsoft.com/office/drawing/2014/main" id="{11E65581-EABC-4D03-94B0-BEDA3D3CFB16}"/>
              </a:ext>
            </a:extLst>
          </p:cNvPr>
          <p:cNvGrpSpPr/>
          <p:nvPr userDrawn="1"/>
        </p:nvGrpSpPr>
        <p:grpSpPr>
          <a:xfrm>
            <a:off x="-533194" y="1145259"/>
            <a:ext cx="468000" cy="4334843"/>
            <a:chOff x="-586534" y="1096645"/>
            <a:chExt cx="468000" cy="4334843"/>
          </a:xfrm>
        </p:grpSpPr>
        <p:sp>
          <p:nvSpPr>
            <p:cNvPr id="13" name="Rectangle 34">
              <a:extLst>
                <a:ext uri="{FF2B5EF4-FFF2-40B4-BE49-F238E27FC236}">
                  <a16:creationId xmlns:a16="http://schemas.microsoft.com/office/drawing/2014/main" id="{B5D1D4B5-99C6-422A-8EC7-CFAF31B67913}"/>
                </a:ext>
              </a:extLst>
            </p:cNvPr>
            <p:cNvSpPr/>
            <p:nvPr userDrawn="1"/>
          </p:nvSpPr>
          <p:spPr>
            <a:xfrm>
              <a:off x="-334534" y="1226184"/>
              <a:ext cx="216000" cy="216002"/>
            </a:xfrm>
            <a:prstGeom prst="rect">
              <a:avLst/>
            </a:prstGeom>
            <a:solidFill>
              <a:srgbClr val="00338D"/>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4" name="Rectangle 35">
              <a:extLst>
                <a:ext uri="{FF2B5EF4-FFF2-40B4-BE49-F238E27FC236}">
                  <a16:creationId xmlns:a16="http://schemas.microsoft.com/office/drawing/2014/main" id="{AA8B1339-70E9-4060-B240-CF35CC0A239D}"/>
                </a:ext>
              </a:extLst>
            </p:cNvPr>
            <p:cNvSpPr/>
            <p:nvPr userDrawn="1"/>
          </p:nvSpPr>
          <p:spPr>
            <a:xfrm>
              <a:off x="-334534" y="1546561"/>
              <a:ext cx="216000" cy="216002"/>
            </a:xfrm>
            <a:prstGeom prst="rect">
              <a:avLst/>
            </a:prstGeom>
            <a:solidFill>
              <a:srgbClr val="005EB8"/>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5" name="Rectangle 36">
              <a:extLst>
                <a:ext uri="{FF2B5EF4-FFF2-40B4-BE49-F238E27FC236}">
                  <a16:creationId xmlns:a16="http://schemas.microsoft.com/office/drawing/2014/main" id="{6CDC9478-4813-4321-A340-0A561182D43A}"/>
                </a:ext>
              </a:extLst>
            </p:cNvPr>
            <p:cNvSpPr/>
            <p:nvPr userDrawn="1"/>
          </p:nvSpPr>
          <p:spPr>
            <a:xfrm>
              <a:off x="-334534" y="1866938"/>
              <a:ext cx="216000" cy="216002"/>
            </a:xfrm>
            <a:prstGeom prst="rect">
              <a:avLst/>
            </a:prstGeom>
            <a:solidFill>
              <a:srgbClr val="0091DA"/>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6" name="Rectangle 37">
              <a:extLst>
                <a:ext uri="{FF2B5EF4-FFF2-40B4-BE49-F238E27FC236}">
                  <a16:creationId xmlns:a16="http://schemas.microsoft.com/office/drawing/2014/main" id="{3845B00E-292E-4E3A-8406-D4AD04B4E876}"/>
                </a:ext>
              </a:extLst>
            </p:cNvPr>
            <p:cNvSpPr/>
            <p:nvPr userDrawn="1"/>
          </p:nvSpPr>
          <p:spPr>
            <a:xfrm>
              <a:off x="-334534" y="2255895"/>
              <a:ext cx="216000" cy="216002"/>
            </a:xfrm>
            <a:prstGeom prst="rect">
              <a:avLst/>
            </a:prstGeom>
            <a:solidFill>
              <a:srgbClr val="483698"/>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7" name="Rectangle 38">
              <a:extLst>
                <a:ext uri="{FF2B5EF4-FFF2-40B4-BE49-F238E27FC236}">
                  <a16:creationId xmlns:a16="http://schemas.microsoft.com/office/drawing/2014/main" id="{66337E29-955A-4304-A955-D2597C3DE9D2}"/>
                </a:ext>
              </a:extLst>
            </p:cNvPr>
            <p:cNvSpPr/>
            <p:nvPr userDrawn="1"/>
          </p:nvSpPr>
          <p:spPr>
            <a:xfrm>
              <a:off x="-334534" y="2576272"/>
              <a:ext cx="216000" cy="216002"/>
            </a:xfrm>
            <a:prstGeom prst="rect">
              <a:avLst/>
            </a:prstGeom>
            <a:solidFill>
              <a:srgbClr val="470A68"/>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8" name="Rectangle 39">
              <a:extLst>
                <a:ext uri="{FF2B5EF4-FFF2-40B4-BE49-F238E27FC236}">
                  <a16:creationId xmlns:a16="http://schemas.microsoft.com/office/drawing/2014/main" id="{A334D8EE-03F7-4C1E-8F0E-FE3869FB6590}"/>
                </a:ext>
              </a:extLst>
            </p:cNvPr>
            <p:cNvSpPr/>
            <p:nvPr userDrawn="1"/>
          </p:nvSpPr>
          <p:spPr>
            <a:xfrm>
              <a:off x="-334534" y="2896649"/>
              <a:ext cx="216000" cy="216002"/>
            </a:xfrm>
            <a:prstGeom prst="rect">
              <a:avLst/>
            </a:prstGeom>
            <a:solidFill>
              <a:srgbClr val="6D2077"/>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9" name="Rectangle 40">
              <a:extLst>
                <a:ext uri="{FF2B5EF4-FFF2-40B4-BE49-F238E27FC236}">
                  <a16:creationId xmlns:a16="http://schemas.microsoft.com/office/drawing/2014/main" id="{E0CBA872-995B-4156-B28D-B1B54578CEBC}"/>
                </a:ext>
              </a:extLst>
            </p:cNvPr>
            <p:cNvSpPr/>
            <p:nvPr userDrawn="1"/>
          </p:nvSpPr>
          <p:spPr>
            <a:xfrm>
              <a:off x="-334534" y="3217026"/>
              <a:ext cx="216000" cy="216002"/>
            </a:xfrm>
            <a:prstGeom prst="rect">
              <a:avLst/>
            </a:prstGeom>
            <a:solidFill>
              <a:srgbClr val="00A3A1"/>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0" name="Rectangle 41">
              <a:extLst>
                <a:ext uri="{FF2B5EF4-FFF2-40B4-BE49-F238E27FC236}">
                  <a16:creationId xmlns:a16="http://schemas.microsoft.com/office/drawing/2014/main" id="{2D459CDE-B033-4C96-B7DF-CE14EF8FCC21}"/>
                </a:ext>
              </a:extLst>
            </p:cNvPr>
            <p:cNvSpPr/>
            <p:nvPr userDrawn="1"/>
          </p:nvSpPr>
          <p:spPr>
            <a:xfrm>
              <a:off x="-334534" y="3613603"/>
              <a:ext cx="216000" cy="216002"/>
            </a:xfrm>
            <a:prstGeom prst="rect">
              <a:avLst/>
            </a:prstGeom>
            <a:solidFill>
              <a:srgbClr val="009A44"/>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1" name="Rectangle 42">
              <a:extLst>
                <a:ext uri="{FF2B5EF4-FFF2-40B4-BE49-F238E27FC236}">
                  <a16:creationId xmlns:a16="http://schemas.microsoft.com/office/drawing/2014/main" id="{EA34FBB7-AC64-4606-BA82-9E75A8A3DBAC}"/>
                </a:ext>
              </a:extLst>
            </p:cNvPr>
            <p:cNvSpPr/>
            <p:nvPr userDrawn="1"/>
          </p:nvSpPr>
          <p:spPr>
            <a:xfrm>
              <a:off x="-334534" y="3933980"/>
              <a:ext cx="216000" cy="216002"/>
            </a:xfrm>
            <a:prstGeom prst="rect">
              <a:avLst/>
            </a:prstGeom>
            <a:solidFill>
              <a:srgbClr val="43B02A"/>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2" name="Rectangle 43">
              <a:extLst>
                <a:ext uri="{FF2B5EF4-FFF2-40B4-BE49-F238E27FC236}">
                  <a16:creationId xmlns:a16="http://schemas.microsoft.com/office/drawing/2014/main" id="{64F8FF1E-BC03-407C-85BC-4424F6B0DED6}"/>
                </a:ext>
              </a:extLst>
            </p:cNvPr>
            <p:cNvSpPr/>
            <p:nvPr userDrawn="1"/>
          </p:nvSpPr>
          <p:spPr>
            <a:xfrm>
              <a:off x="-334534" y="4254357"/>
              <a:ext cx="216000" cy="216002"/>
            </a:xfrm>
            <a:prstGeom prst="rect">
              <a:avLst/>
            </a:prstGeom>
            <a:solidFill>
              <a:srgbClr val="EAAA00"/>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3" name="Rectangle 44">
              <a:extLst>
                <a:ext uri="{FF2B5EF4-FFF2-40B4-BE49-F238E27FC236}">
                  <a16:creationId xmlns:a16="http://schemas.microsoft.com/office/drawing/2014/main" id="{C8280265-95E7-4154-9866-5F926D66ABDD}"/>
                </a:ext>
              </a:extLst>
            </p:cNvPr>
            <p:cNvSpPr/>
            <p:nvPr userDrawn="1"/>
          </p:nvSpPr>
          <p:spPr>
            <a:xfrm>
              <a:off x="-334534" y="4574734"/>
              <a:ext cx="216000" cy="216002"/>
            </a:xfrm>
            <a:prstGeom prst="rect">
              <a:avLst/>
            </a:prstGeom>
            <a:solidFill>
              <a:srgbClr val="F68D2E"/>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4" name="Rectangle 45">
              <a:extLst>
                <a:ext uri="{FF2B5EF4-FFF2-40B4-BE49-F238E27FC236}">
                  <a16:creationId xmlns:a16="http://schemas.microsoft.com/office/drawing/2014/main" id="{7B8734F2-6FF7-4A11-9FA9-423A6C181AAC}"/>
                </a:ext>
              </a:extLst>
            </p:cNvPr>
            <p:cNvSpPr/>
            <p:nvPr userDrawn="1"/>
          </p:nvSpPr>
          <p:spPr>
            <a:xfrm>
              <a:off x="-334534" y="4895111"/>
              <a:ext cx="216000" cy="216002"/>
            </a:xfrm>
            <a:prstGeom prst="rect">
              <a:avLst/>
            </a:prstGeom>
            <a:solidFill>
              <a:srgbClr val="BC204B"/>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6" name="Rectangle 46">
              <a:extLst>
                <a:ext uri="{FF2B5EF4-FFF2-40B4-BE49-F238E27FC236}">
                  <a16:creationId xmlns:a16="http://schemas.microsoft.com/office/drawing/2014/main" id="{366F3104-0EB7-42E5-B356-4E04B2160B50}"/>
                </a:ext>
              </a:extLst>
            </p:cNvPr>
            <p:cNvSpPr/>
            <p:nvPr userDrawn="1"/>
          </p:nvSpPr>
          <p:spPr>
            <a:xfrm>
              <a:off x="-334534" y="5215486"/>
              <a:ext cx="216000" cy="216002"/>
            </a:xfrm>
            <a:prstGeom prst="rect">
              <a:avLst/>
            </a:prstGeom>
            <a:solidFill>
              <a:srgbClr val="C6007E"/>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7" name="Rectangle 47">
              <a:extLst>
                <a:ext uri="{FF2B5EF4-FFF2-40B4-BE49-F238E27FC236}">
                  <a16:creationId xmlns:a16="http://schemas.microsoft.com/office/drawing/2014/main" id="{3CE4AE32-9AD0-41B9-B1CD-1B4B82F6DFC7}"/>
                </a:ext>
              </a:extLst>
            </p:cNvPr>
            <p:cNvSpPr/>
            <p:nvPr userDrawn="1"/>
          </p:nvSpPr>
          <p:spPr>
            <a:xfrm>
              <a:off x="-586534" y="1096645"/>
              <a:ext cx="468000" cy="92333"/>
            </a:xfrm>
            <a:prstGeom prst="rect">
              <a:avLst/>
            </a:prstGeom>
            <a:noFill/>
            <a:ln w="9525" cap="flat" cmpd="sng" algn="ctr">
              <a:noFill/>
              <a:prstDash val="solid"/>
            </a:ln>
            <a:effectLst/>
          </p:spPr>
          <p:txBody>
            <a:bodyPr wrap="square" lIns="0" tIns="0" rIns="36000" bIns="0" rtlCol="0" anchor="t" anchorCtr="0">
              <a:spAutoFit/>
            </a:bodyPr>
            <a:lstStyle/>
            <a:p>
              <a:pPr marL="0" marR="0" lvl="0" indent="0" algn="r" defTabSz="410291"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KPMG Extralight"/>
                </a:rPr>
                <a:t>Primary</a:t>
              </a:r>
              <a:endPar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Univers for KPMG Cond"/>
              </a:endParaRPr>
            </a:p>
          </p:txBody>
        </p:sp>
        <p:sp>
          <p:nvSpPr>
            <p:cNvPr id="28" name="Rectangle 47">
              <a:extLst>
                <a:ext uri="{FF2B5EF4-FFF2-40B4-BE49-F238E27FC236}">
                  <a16:creationId xmlns:a16="http://schemas.microsoft.com/office/drawing/2014/main" id="{A450D32D-45F5-483E-86F0-F73F54E299F8}"/>
                </a:ext>
              </a:extLst>
            </p:cNvPr>
            <p:cNvSpPr/>
            <p:nvPr userDrawn="1"/>
          </p:nvSpPr>
          <p:spPr>
            <a:xfrm>
              <a:off x="-586534" y="2127240"/>
              <a:ext cx="468000" cy="92333"/>
            </a:xfrm>
            <a:prstGeom prst="rect">
              <a:avLst/>
            </a:prstGeom>
            <a:noFill/>
            <a:ln w="9525" cap="flat" cmpd="sng" algn="ctr">
              <a:noFill/>
              <a:prstDash val="solid"/>
            </a:ln>
            <a:effectLst/>
          </p:spPr>
          <p:txBody>
            <a:bodyPr wrap="square" lIns="0" tIns="0" rIns="36000" bIns="0" rtlCol="0" anchor="t" anchorCtr="0">
              <a:spAutoFit/>
            </a:bodyPr>
            <a:lstStyle/>
            <a:p>
              <a:pPr marL="0" marR="0" lvl="0" indent="0" algn="r" defTabSz="410291"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KPMG Extralight"/>
                </a:rPr>
                <a:t>Secondary</a:t>
              </a:r>
            </a:p>
          </p:txBody>
        </p:sp>
        <p:sp>
          <p:nvSpPr>
            <p:cNvPr id="29" name="Rectangle 47">
              <a:extLst>
                <a:ext uri="{FF2B5EF4-FFF2-40B4-BE49-F238E27FC236}">
                  <a16:creationId xmlns:a16="http://schemas.microsoft.com/office/drawing/2014/main" id="{89F3A747-3E79-43DF-89EA-C8F5972E4A7A}"/>
                </a:ext>
              </a:extLst>
            </p:cNvPr>
            <p:cNvSpPr/>
            <p:nvPr userDrawn="1"/>
          </p:nvSpPr>
          <p:spPr>
            <a:xfrm>
              <a:off x="-586534" y="3484064"/>
              <a:ext cx="468000" cy="92333"/>
            </a:xfrm>
            <a:prstGeom prst="rect">
              <a:avLst/>
            </a:prstGeom>
            <a:noFill/>
            <a:ln w="9525" cap="flat" cmpd="sng" algn="ctr">
              <a:noFill/>
              <a:prstDash val="solid"/>
            </a:ln>
            <a:effectLst/>
          </p:spPr>
          <p:txBody>
            <a:bodyPr wrap="square" lIns="0" tIns="0" rIns="36000" bIns="0" rtlCol="0" anchor="t" anchorCtr="0">
              <a:spAutoFit/>
            </a:bodyPr>
            <a:lstStyle/>
            <a:p>
              <a:pPr marL="0" marR="0" lvl="0" indent="0" algn="r" defTabSz="410291"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KPMG Extralight"/>
                </a:rPr>
                <a:t>Tertiary</a:t>
              </a:r>
            </a:p>
          </p:txBody>
        </p:sp>
      </p:grpSp>
      <p:sp>
        <p:nvSpPr>
          <p:cNvPr id="30" name="직사각형 29">
            <a:extLst>
              <a:ext uri="{FF2B5EF4-FFF2-40B4-BE49-F238E27FC236}">
                <a16:creationId xmlns:a16="http://schemas.microsoft.com/office/drawing/2014/main" id="{05191A15-A0E6-4DFD-B082-A8CF80851EB0}"/>
              </a:ext>
            </a:extLst>
          </p:cNvPr>
          <p:cNvSpPr/>
          <p:nvPr userDrawn="1"/>
        </p:nvSpPr>
        <p:spPr>
          <a:xfrm>
            <a:off x="0" y="1049636"/>
            <a:ext cx="10907713" cy="180000"/>
          </a:xfrm>
          <a:prstGeom prst="rect">
            <a:avLst/>
          </a:prstGeom>
          <a:pattFill prst="dkUpDiag">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2B279D7-0ED7-D8C5-811A-A5F54B081EF5}"/>
              </a:ext>
            </a:extLst>
          </p:cNvPr>
          <p:cNvSpPr txBox="1"/>
          <p:nvPr userDrawn="1"/>
        </p:nvSpPr>
        <p:spPr>
          <a:xfrm>
            <a:off x="1844168" y="7346038"/>
            <a:ext cx="5080507" cy="370800"/>
          </a:xfrm>
          <a:prstGeom prst="rect">
            <a:avLst/>
          </a:prstGeom>
          <a:noFill/>
        </p:spPr>
        <p:txBody>
          <a:bodyPr wrap="square" lIns="0" tIns="0" rIns="0" bIns="0" rtlCol="0">
            <a:noAutofit/>
          </a:bodyPr>
          <a:lstStyle/>
          <a:p>
            <a:pPr>
              <a:defRPr/>
            </a:pPr>
            <a:r>
              <a:rPr lang="en-US" altLang="ko-KR" sz="600" u="none"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 2025 </a:t>
            </a:r>
            <a:r>
              <a:rPr kumimoji="1" lang="en-US" altLang="ko-KR" sz="600"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KPMG </a:t>
            </a:r>
            <a:r>
              <a:rPr kumimoji="1" lang="en-US" altLang="ko-KR" sz="600" dirty="0" err="1">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Samjong</a:t>
            </a:r>
            <a:r>
              <a:rPr kumimoji="1" lang="en-US" altLang="ko-KR" sz="600"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 Accounting Corp., </a:t>
            </a:r>
            <a:r>
              <a:rPr lang="en-US" altLang="ko-KR" sz="600" u="none"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Tree>
    <p:extLst>
      <p:ext uri="{BB962C8B-B14F-4D97-AF65-F5344CB8AC3E}">
        <p14:creationId xmlns:p14="http://schemas.microsoft.com/office/powerpoint/2010/main" val="1401944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4장">
    <p:spTree>
      <p:nvGrpSpPr>
        <p:cNvPr id="1" name=""/>
        <p:cNvGrpSpPr/>
        <p:nvPr/>
      </p:nvGrpSpPr>
      <p:grpSpPr>
        <a:xfrm>
          <a:off x="0" y="0"/>
          <a:ext cx="0" cy="0"/>
          <a:chOff x="0" y="0"/>
          <a:chExt cx="0" cy="0"/>
        </a:xfrm>
      </p:grpSpPr>
      <p:sp>
        <p:nvSpPr>
          <p:cNvPr id="46" name="Slide Number Placeholder 5"/>
          <p:cNvSpPr txBox="1">
            <a:spLocks/>
          </p:cNvSpPr>
          <p:nvPr userDrawn="1"/>
        </p:nvSpPr>
        <p:spPr>
          <a:xfrm>
            <a:off x="8421081" y="7243065"/>
            <a:ext cx="1824644" cy="413977"/>
          </a:xfrm>
          <a:prstGeom prst="rect">
            <a:avLst/>
          </a:prstGeom>
        </p:spPr>
        <p:txBody>
          <a:bodyPr vert="horz" lIns="91440" tIns="45720" rIns="0" bIns="45720" rtlCol="0" anchor="ctr"/>
          <a:lstStyle>
            <a:defPPr>
              <a:defRPr lang="ko-KR"/>
            </a:defPPr>
            <a:lvl1pPr marL="0" algn="ctr" defTabSz="914400" rtl="0" eaLnBrk="1" latinLnBrk="1" hangingPunct="1">
              <a:defRPr sz="1300" kern="1200">
                <a:solidFill>
                  <a:schemeClr val="tx2"/>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fld id="{613A2E33-43BC-4FF3-8A8F-87555EDF625C}" type="slidenum">
              <a:rPr lang="ko-KR" altLang="en-US" smtClean="0">
                <a:ln>
                  <a:solidFill>
                    <a:schemeClr val="accent1">
                      <a:alpha val="0"/>
                    </a:schemeClr>
                  </a:solidFill>
                </a:ln>
                <a:solidFill>
                  <a:schemeClr val="tx1">
                    <a:lumMod val="85000"/>
                    <a:lumOff val="15000"/>
                  </a:schemeClr>
                </a:solidFill>
                <a:latin typeface="맑은 고딕" panose="020B0503020000020004" pitchFamily="50" charset="-127"/>
              </a:rPr>
              <a:pPr algn="r"/>
              <a:t>‹#›</a:t>
            </a:fld>
            <a:endParaRPr lang="ko-KR" altLang="en-US" dirty="0">
              <a:ln>
                <a:solidFill>
                  <a:schemeClr val="accent1">
                    <a:alpha val="0"/>
                  </a:schemeClr>
                </a:solidFill>
              </a:ln>
              <a:solidFill>
                <a:schemeClr val="tx1">
                  <a:lumMod val="85000"/>
                  <a:lumOff val="15000"/>
                </a:schemeClr>
              </a:solidFill>
              <a:latin typeface="맑은 고딕" panose="020B0503020000020004" pitchFamily="50" charset="-127"/>
            </a:endParaRPr>
          </a:p>
        </p:txBody>
      </p:sp>
      <p:pic>
        <p:nvPicPr>
          <p:cNvPr id="47" name="그림 4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9288" y="7337662"/>
            <a:ext cx="811795" cy="198595"/>
          </a:xfrm>
          <a:prstGeom prst="rect">
            <a:avLst/>
          </a:prstGeom>
        </p:spPr>
      </p:pic>
      <p:grpSp>
        <p:nvGrpSpPr>
          <p:cNvPr id="12" name="그룹 11">
            <a:extLst>
              <a:ext uri="{FF2B5EF4-FFF2-40B4-BE49-F238E27FC236}">
                <a16:creationId xmlns:a16="http://schemas.microsoft.com/office/drawing/2014/main" id="{11E65581-EABC-4D03-94B0-BEDA3D3CFB16}"/>
              </a:ext>
            </a:extLst>
          </p:cNvPr>
          <p:cNvGrpSpPr/>
          <p:nvPr userDrawn="1"/>
        </p:nvGrpSpPr>
        <p:grpSpPr>
          <a:xfrm>
            <a:off x="-533194" y="1145259"/>
            <a:ext cx="468000" cy="4334843"/>
            <a:chOff x="-586534" y="1096645"/>
            <a:chExt cx="468000" cy="4334843"/>
          </a:xfrm>
        </p:grpSpPr>
        <p:sp>
          <p:nvSpPr>
            <p:cNvPr id="13" name="Rectangle 34">
              <a:extLst>
                <a:ext uri="{FF2B5EF4-FFF2-40B4-BE49-F238E27FC236}">
                  <a16:creationId xmlns:a16="http://schemas.microsoft.com/office/drawing/2014/main" id="{B5D1D4B5-99C6-422A-8EC7-CFAF31B67913}"/>
                </a:ext>
              </a:extLst>
            </p:cNvPr>
            <p:cNvSpPr/>
            <p:nvPr userDrawn="1"/>
          </p:nvSpPr>
          <p:spPr>
            <a:xfrm>
              <a:off x="-334534" y="1226184"/>
              <a:ext cx="216000" cy="216002"/>
            </a:xfrm>
            <a:prstGeom prst="rect">
              <a:avLst/>
            </a:prstGeom>
            <a:solidFill>
              <a:srgbClr val="00338D"/>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4" name="Rectangle 35">
              <a:extLst>
                <a:ext uri="{FF2B5EF4-FFF2-40B4-BE49-F238E27FC236}">
                  <a16:creationId xmlns:a16="http://schemas.microsoft.com/office/drawing/2014/main" id="{AA8B1339-70E9-4060-B240-CF35CC0A239D}"/>
                </a:ext>
              </a:extLst>
            </p:cNvPr>
            <p:cNvSpPr/>
            <p:nvPr userDrawn="1"/>
          </p:nvSpPr>
          <p:spPr>
            <a:xfrm>
              <a:off x="-334534" y="1546561"/>
              <a:ext cx="216000" cy="216002"/>
            </a:xfrm>
            <a:prstGeom prst="rect">
              <a:avLst/>
            </a:prstGeom>
            <a:solidFill>
              <a:srgbClr val="005EB8"/>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5" name="Rectangle 36">
              <a:extLst>
                <a:ext uri="{FF2B5EF4-FFF2-40B4-BE49-F238E27FC236}">
                  <a16:creationId xmlns:a16="http://schemas.microsoft.com/office/drawing/2014/main" id="{6CDC9478-4813-4321-A340-0A561182D43A}"/>
                </a:ext>
              </a:extLst>
            </p:cNvPr>
            <p:cNvSpPr/>
            <p:nvPr userDrawn="1"/>
          </p:nvSpPr>
          <p:spPr>
            <a:xfrm>
              <a:off x="-334534" y="1866938"/>
              <a:ext cx="216000" cy="216002"/>
            </a:xfrm>
            <a:prstGeom prst="rect">
              <a:avLst/>
            </a:prstGeom>
            <a:solidFill>
              <a:srgbClr val="0091DA"/>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6" name="Rectangle 37">
              <a:extLst>
                <a:ext uri="{FF2B5EF4-FFF2-40B4-BE49-F238E27FC236}">
                  <a16:creationId xmlns:a16="http://schemas.microsoft.com/office/drawing/2014/main" id="{3845B00E-292E-4E3A-8406-D4AD04B4E876}"/>
                </a:ext>
              </a:extLst>
            </p:cNvPr>
            <p:cNvSpPr/>
            <p:nvPr userDrawn="1"/>
          </p:nvSpPr>
          <p:spPr>
            <a:xfrm>
              <a:off x="-334534" y="2255895"/>
              <a:ext cx="216000" cy="216002"/>
            </a:xfrm>
            <a:prstGeom prst="rect">
              <a:avLst/>
            </a:prstGeom>
            <a:solidFill>
              <a:srgbClr val="483698"/>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7" name="Rectangle 38">
              <a:extLst>
                <a:ext uri="{FF2B5EF4-FFF2-40B4-BE49-F238E27FC236}">
                  <a16:creationId xmlns:a16="http://schemas.microsoft.com/office/drawing/2014/main" id="{66337E29-955A-4304-A955-D2597C3DE9D2}"/>
                </a:ext>
              </a:extLst>
            </p:cNvPr>
            <p:cNvSpPr/>
            <p:nvPr userDrawn="1"/>
          </p:nvSpPr>
          <p:spPr>
            <a:xfrm>
              <a:off x="-334534" y="2576272"/>
              <a:ext cx="216000" cy="216002"/>
            </a:xfrm>
            <a:prstGeom prst="rect">
              <a:avLst/>
            </a:prstGeom>
            <a:solidFill>
              <a:srgbClr val="470A68"/>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8" name="Rectangle 39">
              <a:extLst>
                <a:ext uri="{FF2B5EF4-FFF2-40B4-BE49-F238E27FC236}">
                  <a16:creationId xmlns:a16="http://schemas.microsoft.com/office/drawing/2014/main" id="{A334D8EE-03F7-4C1E-8F0E-FE3869FB6590}"/>
                </a:ext>
              </a:extLst>
            </p:cNvPr>
            <p:cNvSpPr/>
            <p:nvPr userDrawn="1"/>
          </p:nvSpPr>
          <p:spPr>
            <a:xfrm>
              <a:off x="-334534" y="2896649"/>
              <a:ext cx="216000" cy="216002"/>
            </a:xfrm>
            <a:prstGeom prst="rect">
              <a:avLst/>
            </a:prstGeom>
            <a:solidFill>
              <a:srgbClr val="6D2077"/>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19" name="Rectangle 40">
              <a:extLst>
                <a:ext uri="{FF2B5EF4-FFF2-40B4-BE49-F238E27FC236}">
                  <a16:creationId xmlns:a16="http://schemas.microsoft.com/office/drawing/2014/main" id="{E0CBA872-995B-4156-B28D-B1B54578CEBC}"/>
                </a:ext>
              </a:extLst>
            </p:cNvPr>
            <p:cNvSpPr/>
            <p:nvPr userDrawn="1"/>
          </p:nvSpPr>
          <p:spPr>
            <a:xfrm>
              <a:off x="-334534" y="3217026"/>
              <a:ext cx="216000" cy="216002"/>
            </a:xfrm>
            <a:prstGeom prst="rect">
              <a:avLst/>
            </a:prstGeom>
            <a:solidFill>
              <a:srgbClr val="00A3A1"/>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0" name="Rectangle 41">
              <a:extLst>
                <a:ext uri="{FF2B5EF4-FFF2-40B4-BE49-F238E27FC236}">
                  <a16:creationId xmlns:a16="http://schemas.microsoft.com/office/drawing/2014/main" id="{2D459CDE-B033-4C96-B7DF-CE14EF8FCC21}"/>
                </a:ext>
              </a:extLst>
            </p:cNvPr>
            <p:cNvSpPr/>
            <p:nvPr userDrawn="1"/>
          </p:nvSpPr>
          <p:spPr>
            <a:xfrm>
              <a:off x="-334534" y="3613603"/>
              <a:ext cx="216000" cy="216002"/>
            </a:xfrm>
            <a:prstGeom prst="rect">
              <a:avLst/>
            </a:prstGeom>
            <a:solidFill>
              <a:srgbClr val="009A44"/>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1" name="Rectangle 42">
              <a:extLst>
                <a:ext uri="{FF2B5EF4-FFF2-40B4-BE49-F238E27FC236}">
                  <a16:creationId xmlns:a16="http://schemas.microsoft.com/office/drawing/2014/main" id="{EA34FBB7-AC64-4606-BA82-9E75A8A3DBAC}"/>
                </a:ext>
              </a:extLst>
            </p:cNvPr>
            <p:cNvSpPr/>
            <p:nvPr userDrawn="1"/>
          </p:nvSpPr>
          <p:spPr>
            <a:xfrm>
              <a:off x="-334534" y="3933980"/>
              <a:ext cx="216000" cy="216002"/>
            </a:xfrm>
            <a:prstGeom prst="rect">
              <a:avLst/>
            </a:prstGeom>
            <a:solidFill>
              <a:srgbClr val="43B02A"/>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2" name="Rectangle 43">
              <a:extLst>
                <a:ext uri="{FF2B5EF4-FFF2-40B4-BE49-F238E27FC236}">
                  <a16:creationId xmlns:a16="http://schemas.microsoft.com/office/drawing/2014/main" id="{64F8FF1E-BC03-407C-85BC-4424F6B0DED6}"/>
                </a:ext>
              </a:extLst>
            </p:cNvPr>
            <p:cNvSpPr/>
            <p:nvPr userDrawn="1"/>
          </p:nvSpPr>
          <p:spPr>
            <a:xfrm>
              <a:off x="-334534" y="4254357"/>
              <a:ext cx="216000" cy="216002"/>
            </a:xfrm>
            <a:prstGeom prst="rect">
              <a:avLst/>
            </a:prstGeom>
            <a:solidFill>
              <a:srgbClr val="EAAA00"/>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3" name="Rectangle 44">
              <a:extLst>
                <a:ext uri="{FF2B5EF4-FFF2-40B4-BE49-F238E27FC236}">
                  <a16:creationId xmlns:a16="http://schemas.microsoft.com/office/drawing/2014/main" id="{C8280265-95E7-4154-9866-5F926D66ABDD}"/>
                </a:ext>
              </a:extLst>
            </p:cNvPr>
            <p:cNvSpPr/>
            <p:nvPr userDrawn="1"/>
          </p:nvSpPr>
          <p:spPr>
            <a:xfrm>
              <a:off x="-334534" y="4574734"/>
              <a:ext cx="216000" cy="216002"/>
            </a:xfrm>
            <a:prstGeom prst="rect">
              <a:avLst/>
            </a:prstGeom>
            <a:solidFill>
              <a:srgbClr val="F68D2E"/>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4" name="Rectangle 45">
              <a:extLst>
                <a:ext uri="{FF2B5EF4-FFF2-40B4-BE49-F238E27FC236}">
                  <a16:creationId xmlns:a16="http://schemas.microsoft.com/office/drawing/2014/main" id="{7B8734F2-6FF7-4A11-9FA9-423A6C181AAC}"/>
                </a:ext>
              </a:extLst>
            </p:cNvPr>
            <p:cNvSpPr/>
            <p:nvPr userDrawn="1"/>
          </p:nvSpPr>
          <p:spPr>
            <a:xfrm>
              <a:off x="-334534" y="4895111"/>
              <a:ext cx="216000" cy="216002"/>
            </a:xfrm>
            <a:prstGeom prst="rect">
              <a:avLst/>
            </a:prstGeom>
            <a:solidFill>
              <a:srgbClr val="BC204B"/>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6" name="Rectangle 46">
              <a:extLst>
                <a:ext uri="{FF2B5EF4-FFF2-40B4-BE49-F238E27FC236}">
                  <a16:creationId xmlns:a16="http://schemas.microsoft.com/office/drawing/2014/main" id="{366F3104-0EB7-42E5-B356-4E04B2160B50}"/>
                </a:ext>
              </a:extLst>
            </p:cNvPr>
            <p:cNvSpPr/>
            <p:nvPr userDrawn="1"/>
          </p:nvSpPr>
          <p:spPr>
            <a:xfrm>
              <a:off x="-334534" y="5215486"/>
              <a:ext cx="216000" cy="216002"/>
            </a:xfrm>
            <a:prstGeom prst="rect">
              <a:avLst/>
            </a:prstGeom>
            <a:solidFill>
              <a:srgbClr val="C6007E"/>
            </a:solidFill>
            <a:ln w="9525" cap="flat" cmpd="sng" algn="ctr">
              <a:noFill/>
              <a:prstDash val="solid"/>
            </a:ln>
            <a:effectLst/>
          </p:spPr>
          <p:txBody>
            <a:bodyPr lIns="88896" tIns="44448" rIns="88896" bIns="44448" rtlCol="0" anchor="ctr"/>
            <a:lstStyle/>
            <a:p>
              <a:pPr marL="0" marR="0" lvl="0" indent="0" algn="ctr" defTabSz="410291"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dirty="0">
                <a:ln>
                  <a:noFill/>
                </a:ln>
                <a:solidFill>
                  <a:srgbClr val="FFFFFF"/>
                </a:solidFill>
                <a:effectLst/>
                <a:uLnTx/>
                <a:uFillTx/>
                <a:latin typeface="Univers for KPMG" panose="020B0603020202020204" pitchFamily="34" charset="0"/>
                <a:ea typeface="+mn-ea"/>
                <a:cs typeface="Univers for KPMG Cond"/>
              </a:endParaRPr>
            </a:p>
          </p:txBody>
        </p:sp>
        <p:sp>
          <p:nvSpPr>
            <p:cNvPr id="27" name="Rectangle 47">
              <a:extLst>
                <a:ext uri="{FF2B5EF4-FFF2-40B4-BE49-F238E27FC236}">
                  <a16:creationId xmlns:a16="http://schemas.microsoft.com/office/drawing/2014/main" id="{3CE4AE32-9AD0-41B9-B1CD-1B4B82F6DFC7}"/>
                </a:ext>
              </a:extLst>
            </p:cNvPr>
            <p:cNvSpPr/>
            <p:nvPr userDrawn="1"/>
          </p:nvSpPr>
          <p:spPr>
            <a:xfrm>
              <a:off x="-586534" y="1096645"/>
              <a:ext cx="468000" cy="92333"/>
            </a:xfrm>
            <a:prstGeom prst="rect">
              <a:avLst/>
            </a:prstGeom>
            <a:noFill/>
            <a:ln w="9525" cap="flat" cmpd="sng" algn="ctr">
              <a:noFill/>
              <a:prstDash val="solid"/>
            </a:ln>
            <a:effectLst/>
          </p:spPr>
          <p:txBody>
            <a:bodyPr wrap="square" lIns="0" tIns="0" rIns="36000" bIns="0" rtlCol="0" anchor="t" anchorCtr="0">
              <a:spAutoFit/>
            </a:bodyPr>
            <a:lstStyle/>
            <a:p>
              <a:pPr marL="0" marR="0" lvl="0" indent="0" algn="r" defTabSz="410291"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KPMG Extralight"/>
                </a:rPr>
                <a:t>Primary</a:t>
              </a:r>
              <a:endPar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Univers for KPMG Cond"/>
              </a:endParaRPr>
            </a:p>
          </p:txBody>
        </p:sp>
        <p:sp>
          <p:nvSpPr>
            <p:cNvPr id="28" name="Rectangle 47">
              <a:extLst>
                <a:ext uri="{FF2B5EF4-FFF2-40B4-BE49-F238E27FC236}">
                  <a16:creationId xmlns:a16="http://schemas.microsoft.com/office/drawing/2014/main" id="{A450D32D-45F5-483E-86F0-F73F54E299F8}"/>
                </a:ext>
              </a:extLst>
            </p:cNvPr>
            <p:cNvSpPr/>
            <p:nvPr userDrawn="1"/>
          </p:nvSpPr>
          <p:spPr>
            <a:xfrm>
              <a:off x="-586534" y="2127240"/>
              <a:ext cx="468000" cy="92333"/>
            </a:xfrm>
            <a:prstGeom prst="rect">
              <a:avLst/>
            </a:prstGeom>
            <a:noFill/>
            <a:ln w="9525" cap="flat" cmpd="sng" algn="ctr">
              <a:noFill/>
              <a:prstDash val="solid"/>
            </a:ln>
            <a:effectLst/>
          </p:spPr>
          <p:txBody>
            <a:bodyPr wrap="square" lIns="0" tIns="0" rIns="36000" bIns="0" rtlCol="0" anchor="t" anchorCtr="0">
              <a:spAutoFit/>
            </a:bodyPr>
            <a:lstStyle/>
            <a:p>
              <a:pPr marL="0" marR="0" lvl="0" indent="0" algn="r" defTabSz="410291"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KPMG Extralight"/>
                </a:rPr>
                <a:t>Secondary</a:t>
              </a:r>
            </a:p>
          </p:txBody>
        </p:sp>
        <p:sp>
          <p:nvSpPr>
            <p:cNvPr id="29" name="Rectangle 47">
              <a:extLst>
                <a:ext uri="{FF2B5EF4-FFF2-40B4-BE49-F238E27FC236}">
                  <a16:creationId xmlns:a16="http://schemas.microsoft.com/office/drawing/2014/main" id="{89F3A747-3E79-43DF-89EA-C8F5972E4A7A}"/>
                </a:ext>
              </a:extLst>
            </p:cNvPr>
            <p:cNvSpPr/>
            <p:nvPr userDrawn="1"/>
          </p:nvSpPr>
          <p:spPr>
            <a:xfrm>
              <a:off x="-586534" y="3484064"/>
              <a:ext cx="468000" cy="92333"/>
            </a:xfrm>
            <a:prstGeom prst="rect">
              <a:avLst/>
            </a:prstGeom>
            <a:noFill/>
            <a:ln w="9525" cap="flat" cmpd="sng" algn="ctr">
              <a:noFill/>
              <a:prstDash val="solid"/>
            </a:ln>
            <a:effectLst/>
          </p:spPr>
          <p:txBody>
            <a:bodyPr wrap="square" lIns="0" tIns="0" rIns="36000" bIns="0" rtlCol="0" anchor="t" anchorCtr="0">
              <a:spAutoFit/>
            </a:bodyPr>
            <a:lstStyle/>
            <a:p>
              <a:pPr marL="0" marR="0" lvl="0" indent="0" algn="r" defTabSz="410291"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003087"/>
                  </a:solidFill>
                  <a:effectLst/>
                  <a:uLnTx/>
                  <a:uFillTx/>
                  <a:latin typeface="Univers for KPMG" panose="020B0603020202020204" pitchFamily="34" charset="0"/>
                  <a:ea typeface="+mn-ea"/>
                  <a:cs typeface="KPMG Extralight"/>
                </a:rPr>
                <a:t>Tertiary</a:t>
              </a:r>
            </a:p>
          </p:txBody>
        </p:sp>
      </p:grpSp>
      <p:sp>
        <p:nvSpPr>
          <p:cNvPr id="2" name="TextBox 1">
            <a:extLst>
              <a:ext uri="{FF2B5EF4-FFF2-40B4-BE49-F238E27FC236}">
                <a16:creationId xmlns:a16="http://schemas.microsoft.com/office/drawing/2014/main" id="{04203D8C-830C-F2CD-B5C5-7C5921E0EB2B}"/>
              </a:ext>
            </a:extLst>
          </p:cNvPr>
          <p:cNvSpPr txBox="1"/>
          <p:nvPr userDrawn="1"/>
        </p:nvSpPr>
        <p:spPr>
          <a:xfrm>
            <a:off x="1844168" y="7346038"/>
            <a:ext cx="5080507" cy="370800"/>
          </a:xfrm>
          <a:prstGeom prst="rect">
            <a:avLst/>
          </a:prstGeom>
          <a:noFill/>
        </p:spPr>
        <p:txBody>
          <a:bodyPr wrap="square" lIns="0" tIns="0" rIns="0" bIns="0" rtlCol="0">
            <a:noAutofit/>
          </a:bodyPr>
          <a:lstStyle/>
          <a:p>
            <a:pPr>
              <a:defRPr/>
            </a:pPr>
            <a:r>
              <a:rPr lang="en-US" altLang="ko-KR" sz="600" u="none"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 2025 </a:t>
            </a:r>
            <a:r>
              <a:rPr kumimoji="1" lang="en-US" altLang="ko-KR" sz="600"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KPMG </a:t>
            </a:r>
            <a:r>
              <a:rPr kumimoji="1" lang="en-US" altLang="ko-KR" sz="600" dirty="0" err="1">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Samjong</a:t>
            </a:r>
            <a:r>
              <a:rPr kumimoji="1" lang="en-US" altLang="ko-KR" sz="600"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 Accounting Corp., </a:t>
            </a:r>
            <a:r>
              <a:rPr lang="en-US" altLang="ko-KR" sz="600" u="none"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Tree>
    <p:extLst>
      <p:ext uri="{BB962C8B-B14F-4D97-AF65-F5344CB8AC3E}">
        <p14:creationId xmlns:p14="http://schemas.microsoft.com/office/powerpoint/2010/main" val="2906465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제목 슬라이드">
    <p:spTree>
      <p:nvGrpSpPr>
        <p:cNvPr id="1" name=""/>
        <p:cNvGrpSpPr/>
        <p:nvPr/>
      </p:nvGrpSpPr>
      <p:grpSpPr>
        <a:xfrm>
          <a:off x="0" y="0"/>
          <a:ext cx="0" cy="0"/>
          <a:chOff x="0" y="0"/>
          <a:chExt cx="0" cy="0"/>
        </a:xfrm>
      </p:grpSpPr>
      <p:sp>
        <p:nvSpPr>
          <p:cNvPr id="4" name="object 3"/>
          <p:cNvSpPr/>
          <p:nvPr userDrawn="1"/>
        </p:nvSpPr>
        <p:spPr>
          <a:xfrm>
            <a:off x="0" y="0"/>
            <a:ext cx="828672" cy="7775575"/>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Arial" panose="020B0604020202020204" pitchFamily="34" charset="0"/>
              <a:sym typeface="Arial" panose="020B0604020202020204" pitchFamily="34" charset="0"/>
            </a:endParaRPr>
          </a:p>
        </p:txBody>
      </p:sp>
      <p:sp>
        <p:nvSpPr>
          <p:cNvPr id="5" name="Text Placeholder 2"/>
          <p:cNvSpPr>
            <a:spLocks noGrp="1"/>
          </p:cNvSpPr>
          <p:nvPr>
            <p:ph type="body" sz="quarter" idx="11"/>
          </p:nvPr>
        </p:nvSpPr>
        <p:spPr>
          <a:xfrm>
            <a:off x="1715999" y="6272158"/>
            <a:ext cx="7999501" cy="628165"/>
          </a:xfrm>
          <a:prstGeom prst="rect">
            <a:avLst/>
          </a:prstGeom>
        </p:spPr>
        <p:txBody>
          <a:bodyPr lIns="0"/>
          <a:lstStyle>
            <a:lvl1pPr>
              <a:buFontTx/>
              <a:buNone/>
              <a:defRPr sz="900" b="0">
                <a:solidFill>
                  <a:schemeClr val="bg1">
                    <a:lumMod val="65000"/>
                  </a:schemeClr>
                </a:solidFill>
                <a:latin typeface="맑은 고딕" panose="020B0503020000020004" pitchFamily="50" charset="-127"/>
              </a:defRPr>
            </a:lvl1pPr>
            <a:lvl2pPr>
              <a:buFontTx/>
              <a:buNone/>
              <a:defRPr sz="900" b="0">
                <a:solidFill>
                  <a:schemeClr val="bg1">
                    <a:lumMod val="65000"/>
                  </a:schemeClr>
                </a:solidFill>
                <a:latin typeface="맑은 고딕" panose="020B0503020000020004" pitchFamily="50" charset="-127"/>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ko-KR" altLang="en-US" dirty="0"/>
              <a:t>마스터 텍스트 스타일을 편집합니다</a:t>
            </a:r>
          </a:p>
          <a:p>
            <a:pPr lvl="1"/>
            <a:r>
              <a:rPr lang="ko-KR" altLang="en-US" dirty="0"/>
              <a:t>둘째 수준</a:t>
            </a:r>
          </a:p>
        </p:txBody>
      </p:sp>
      <p:sp>
        <p:nvSpPr>
          <p:cNvPr id="6" name="Text Placeholder 2"/>
          <p:cNvSpPr>
            <a:spLocks noGrp="1"/>
          </p:cNvSpPr>
          <p:nvPr>
            <p:ph type="body" sz="quarter" idx="12"/>
          </p:nvPr>
        </p:nvSpPr>
        <p:spPr>
          <a:xfrm>
            <a:off x="1715999" y="7061144"/>
            <a:ext cx="7999501" cy="134994"/>
          </a:xfrm>
          <a:prstGeom prst="rect">
            <a:avLst/>
          </a:prstGeom>
        </p:spPr>
        <p:txBody>
          <a:bodyPr lIns="0"/>
          <a:lstStyle>
            <a:lvl1pPr>
              <a:buFontTx/>
              <a:buNone/>
              <a:defRPr sz="900" b="0">
                <a:solidFill>
                  <a:schemeClr val="bg1">
                    <a:lumMod val="65000"/>
                  </a:schemeClr>
                </a:solidFill>
                <a:latin typeface="맑은 고딕" panose="020B0503020000020004" pitchFamily="50" charset="-127"/>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ko-KR" altLang="en-US" dirty="0"/>
              <a:t>마스터 텍스트 스타일을 편집합니다</a:t>
            </a:r>
          </a:p>
        </p:txBody>
      </p:sp>
      <p:sp>
        <p:nvSpPr>
          <p:cNvPr id="7" name="Text Placeholder 2"/>
          <p:cNvSpPr>
            <a:spLocks noGrp="1"/>
          </p:cNvSpPr>
          <p:nvPr>
            <p:ph type="body" sz="quarter" idx="13"/>
          </p:nvPr>
        </p:nvSpPr>
        <p:spPr>
          <a:xfrm>
            <a:off x="1715999" y="5472058"/>
            <a:ext cx="7999501" cy="628165"/>
          </a:xfrm>
          <a:prstGeom prst="rect">
            <a:avLst/>
          </a:prstGeom>
        </p:spPr>
        <p:txBody>
          <a:bodyPr lIns="0"/>
          <a:lstStyle>
            <a:lvl1pPr>
              <a:buFontTx/>
              <a:buNone/>
              <a:defRPr sz="900" b="0">
                <a:solidFill>
                  <a:schemeClr val="bg1">
                    <a:lumMod val="65000"/>
                  </a:schemeClr>
                </a:solidFill>
                <a:latin typeface="맑은 고딕" panose="020B0503020000020004" pitchFamily="50" charset="-127"/>
              </a:defRPr>
            </a:lvl1pPr>
            <a:lvl2pPr>
              <a:buFontTx/>
              <a:buNone/>
              <a:defRPr sz="900" b="0">
                <a:solidFill>
                  <a:schemeClr val="bg1">
                    <a:lumMod val="65000"/>
                  </a:schemeClr>
                </a:solidFill>
                <a:latin typeface="맑은 고딕" panose="020B0503020000020004" pitchFamily="50" charset="-127"/>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ko-KR" altLang="en-US" dirty="0"/>
              <a:t>마스터 텍스트 스타일을 편집합니다</a:t>
            </a:r>
          </a:p>
          <a:p>
            <a:pPr lvl="1"/>
            <a:r>
              <a:rPr lang="ko-KR" altLang="en-US" dirty="0"/>
              <a:t>둘째 수준</a:t>
            </a:r>
          </a:p>
        </p:txBody>
      </p:sp>
      <p:sp>
        <p:nvSpPr>
          <p:cNvPr id="8" name="Text Placeholder 2"/>
          <p:cNvSpPr>
            <a:spLocks noGrp="1"/>
          </p:cNvSpPr>
          <p:nvPr>
            <p:ph type="body" sz="quarter" idx="14"/>
          </p:nvPr>
        </p:nvSpPr>
        <p:spPr>
          <a:xfrm>
            <a:off x="1715999" y="5106931"/>
            <a:ext cx="2052000" cy="134994"/>
          </a:xfrm>
          <a:prstGeom prst="rect">
            <a:avLst/>
          </a:prstGeom>
        </p:spPr>
        <p:txBody>
          <a:bodyPr lIns="0"/>
          <a:lstStyle>
            <a:lvl1pPr>
              <a:buFontTx/>
              <a:buNone/>
              <a:defRPr sz="1100" b="1">
                <a:solidFill>
                  <a:schemeClr val="tx2"/>
                </a:solidFill>
                <a:latin typeface="맑은 고딕" panose="020B0503020000020004" pitchFamily="50" charset="-127"/>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ko-KR" altLang="en-US" dirty="0"/>
              <a:t>마스터 텍스트 스타일을 편집합니다</a:t>
            </a:r>
          </a:p>
        </p:txBody>
      </p:sp>
      <p:sp>
        <p:nvSpPr>
          <p:cNvPr id="9" name="Text Placeholder 2"/>
          <p:cNvSpPr>
            <a:spLocks noGrp="1"/>
          </p:cNvSpPr>
          <p:nvPr>
            <p:ph type="body" sz="quarter" idx="15"/>
          </p:nvPr>
        </p:nvSpPr>
        <p:spPr>
          <a:xfrm>
            <a:off x="4775338" y="5106931"/>
            <a:ext cx="2052000" cy="134994"/>
          </a:xfrm>
          <a:prstGeom prst="rect">
            <a:avLst/>
          </a:prstGeom>
        </p:spPr>
        <p:txBody>
          <a:bodyPr lIns="0"/>
          <a:lstStyle>
            <a:lvl1pPr>
              <a:buFontTx/>
              <a:buNone/>
              <a:defRPr sz="1100" b="1">
                <a:solidFill>
                  <a:schemeClr val="tx2"/>
                </a:solidFill>
                <a:latin typeface="맑은 고딕" panose="020B0503020000020004" pitchFamily="50" charset="-127"/>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ko-KR" altLang="en-US" dirty="0"/>
              <a:t>마스터 텍스트 스타일을 편집합니다</a:t>
            </a:r>
          </a:p>
        </p:txBody>
      </p:sp>
      <p:sp>
        <p:nvSpPr>
          <p:cNvPr id="10" name="Rectangle 11">
            <a:hlinkClick r:id="rId2"/>
          </p:cNvPr>
          <p:cNvSpPr>
            <a:spLocks noChangeArrowheads="1"/>
          </p:cNvSpPr>
          <p:nvPr userDrawn="1"/>
        </p:nvSpPr>
        <p:spPr bwMode="auto">
          <a:xfrm>
            <a:off x="1715999" y="3888657"/>
            <a:ext cx="1898317" cy="200055"/>
          </a:xfrm>
          <a:prstGeom prst="rect">
            <a:avLst/>
          </a:prstGeom>
          <a:noFill/>
          <a:ln w="9525">
            <a:noFill/>
            <a:miter lim="800000"/>
            <a:headEnd/>
            <a:tailEnd/>
          </a:ln>
          <a:effectLst/>
        </p:spPr>
        <p:txBody>
          <a:bodyPr wrap="square" lIns="0" tIns="0" rIns="0" bIns="0" anchor="ctr">
            <a:spAutoFit/>
          </a:bodyPr>
          <a:lstStyle/>
          <a:p>
            <a:pPr>
              <a:defRPr/>
            </a:pPr>
            <a:r>
              <a:rPr lang="en-GB" sz="1300" b="1" i="0" kern="0" dirty="0">
                <a:ln>
                  <a:solidFill>
                    <a:srgbClr val="483698">
                      <a:alpha val="0"/>
                    </a:srgbClr>
                  </a:solidFill>
                </a:ln>
                <a:solidFill>
                  <a:schemeClr val="tx2"/>
                </a:solidFill>
                <a:latin typeface="Univers for KPMG" panose="020B0603020202020204" pitchFamily="34" charset="0"/>
                <a:ea typeface="Times New Roman" pitchFamily="18" charset="0"/>
                <a:cs typeface="Univers for KPMG"/>
              </a:rPr>
              <a:t>kpmg.com/</a:t>
            </a:r>
            <a:r>
              <a:rPr lang="en-GB" sz="1300" b="1" i="0" kern="0" dirty="0" err="1">
                <a:ln>
                  <a:solidFill>
                    <a:srgbClr val="483698">
                      <a:alpha val="0"/>
                    </a:srgbClr>
                  </a:solidFill>
                </a:ln>
                <a:solidFill>
                  <a:schemeClr val="tx2"/>
                </a:solidFill>
                <a:latin typeface="Univers for KPMG" panose="020B0603020202020204" pitchFamily="34" charset="0"/>
                <a:ea typeface="Times New Roman" pitchFamily="18" charset="0"/>
                <a:cs typeface="Univers for KPMG"/>
              </a:rPr>
              <a:t>kr</a:t>
            </a:r>
            <a:endParaRPr lang="en-GB" sz="1300" b="1" i="0" kern="0" dirty="0">
              <a:ln>
                <a:solidFill>
                  <a:srgbClr val="483698">
                    <a:alpha val="0"/>
                  </a:srgbClr>
                </a:solidFill>
              </a:ln>
              <a:solidFill>
                <a:schemeClr val="tx2"/>
              </a:solidFill>
              <a:latin typeface="Univers for KPMG" panose="020B0603020202020204" pitchFamily="34" charset="0"/>
              <a:cs typeface="Univers for KPMG"/>
            </a:endParaRPr>
          </a:p>
        </p:txBody>
      </p:sp>
      <p:pic>
        <p:nvPicPr>
          <p:cNvPr id="11" name="그림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82133" y="784800"/>
            <a:ext cx="1454229" cy="355758"/>
          </a:xfrm>
          <a:prstGeom prst="rect">
            <a:avLst/>
          </a:prstGeom>
        </p:spPr>
      </p:pic>
      <p:pic>
        <p:nvPicPr>
          <p:cNvPr id="12"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75338" y="4516182"/>
            <a:ext cx="1325883" cy="381001"/>
          </a:xfrm>
          <a:prstGeom prst="rect">
            <a:avLst/>
          </a:prstGeom>
        </p:spPr>
      </p:pic>
      <p:pic>
        <p:nvPicPr>
          <p:cNvPr id="13"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715999" y="4516182"/>
            <a:ext cx="2523749" cy="384049"/>
          </a:xfrm>
          <a:prstGeom prst="rect">
            <a:avLst/>
          </a:prstGeom>
        </p:spPr>
      </p:pic>
    </p:spTree>
    <p:extLst>
      <p:ext uri="{BB962C8B-B14F-4D97-AF65-F5344CB8AC3E}">
        <p14:creationId xmlns:p14="http://schemas.microsoft.com/office/powerpoint/2010/main" val="2550196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마지막장">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E7D8101F-49C6-4D67-8AFA-894D3CB429B4}"/>
              </a:ext>
            </a:extLst>
          </p:cNvPr>
          <p:cNvPicPr>
            <a:picLocks noChangeAspect="1"/>
          </p:cNvPicPr>
          <p:nvPr userDrawn="1"/>
        </p:nvPicPr>
        <p:blipFill>
          <a:blip r:embed="rId2"/>
          <a:stretch>
            <a:fillRect/>
          </a:stretch>
        </p:blipFill>
        <p:spPr>
          <a:xfrm>
            <a:off x="0" y="1914"/>
            <a:ext cx="10907713" cy="7771746"/>
          </a:xfrm>
          <a:prstGeom prst="rect">
            <a:avLst/>
          </a:prstGeom>
        </p:spPr>
      </p:pic>
      <p:pic>
        <p:nvPicPr>
          <p:cNvPr id="10"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77546" y="5081533"/>
            <a:ext cx="1325883" cy="381001"/>
          </a:xfrm>
          <a:prstGeom prst="rect">
            <a:avLst/>
          </a:prstGeom>
        </p:spPr>
      </p:pic>
      <p:pic>
        <p:nvPicPr>
          <p:cNvPr id="11"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18207" y="5081533"/>
            <a:ext cx="2523749" cy="384049"/>
          </a:xfrm>
          <a:prstGeom prst="rect">
            <a:avLst/>
          </a:prstGeom>
        </p:spPr>
      </p:pic>
      <p:pic>
        <p:nvPicPr>
          <p:cNvPr id="12" name="그림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4816" y="1164439"/>
            <a:ext cx="1454229" cy="355758"/>
          </a:xfrm>
          <a:prstGeom prst="rect">
            <a:avLst/>
          </a:prstGeom>
        </p:spPr>
      </p:pic>
      <p:sp>
        <p:nvSpPr>
          <p:cNvPr id="13" name="Rectangle 11">
            <a:hlinkClick r:id="rId6"/>
          </p:cNvPr>
          <p:cNvSpPr>
            <a:spLocks noChangeArrowheads="1"/>
          </p:cNvSpPr>
          <p:nvPr userDrawn="1"/>
        </p:nvSpPr>
        <p:spPr bwMode="auto">
          <a:xfrm>
            <a:off x="918207" y="4608773"/>
            <a:ext cx="1898317" cy="215444"/>
          </a:xfrm>
          <a:prstGeom prst="rect">
            <a:avLst/>
          </a:prstGeom>
          <a:noFill/>
          <a:ln w="9525">
            <a:noFill/>
            <a:miter lim="800000"/>
            <a:headEnd/>
            <a:tailEnd/>
          </a:ln>
          <a:effectLst/>
        </p:spPr>
        <p:txBody>
          <a:bodyPr wrap="square" lIns="0" tIns="0" rIns="0" bIns="0" anchor="ctr">
            <a:spAutoFit/>
          </a:bodyPr>
          <a:lstStyle/>
          <a:p>
            <a:pPr latinLnBrk="0"/>
            <a:r>
              <a:rPr lang="en-GB" sz="1400" b="1" dirty="0">
                <a:solidFill>
                  <a:srgbClr val="00338D"/>
                </a:solidFill>
                <a:latin typeface="Arial" panose="020B0604020202020204" pitchFamily="34" charset="0"/>
                <a:cs typeface="Arial" panose="020B0604020202020204" pitchFamily="34" charset="0"/>
              </a:rPr>
              <a:t>kpmg.com/</a:t>
            </a:r>
            <a:r>
              <a:rPr lang="en-GB" sz="1400" b="1" dirty="0" err="1">
                <a:solidFill>
                  <a:srgbClr val="00338D"/>
                </a:solidFill>
                <a:latin typeface="Arial" panose="020B0604020202020204" pitchFamily="34" charset="0"/>
                <a:cs typeface="Arial" panose="020B0604020202020204" pitchFamily="34" charset="0"/>
              </a:rPr>
              <a:t>kr</a:t>
            </a:r>
            <a:endParaRPr lang="en-GB" sz="1400" b="1" dirty="0">
              <a:solidFill>
                <a:srgbClr val="00338D"/>
              </a:solidFill>
              <a:latin typeface="Arial" panose="020B0604020202020204" pitchFamily="34" charset="0"/>
              <a:cs typeface="Arial" panose="020B0604020202020204" pitchFamily="34" charset="0"/>
            </a:endParaRPr>
          </a:p>
        </p:txBody>
      </p:sp>
      <p:sp>
        <p:nvSpPr>
          <p:cNvPr id="2" name="TextBox 1"/>
          <p:cNvSpPr txBox="1"/>
          <p:nvPr userDrawn="1"/>
        </p:nvSpPr>
        <p:spPr>
          <a:xfrm>
            <a:off x="827336" y="6064626"/>
            <a:ext cx="8220547" cy="1397819"/>
          </a:xfrm>
          <a:prstGeom prst="rect">
            <a:avLst/>
          </a:prstGeom>
          <a:noFill/>
        </p:spPr>
        <p:txBody>
          <a:bodyPr wrap="square" rtlCol="0">
            <a:spAutoFit/>
          </a:bodyPr>
          <a:lstStyle/>
          <a:p>
            <a:pPr marL="0" lvl="1" defTabSz="1036747">
              <a:spcBef>
                <a:spcPts val="100"/>
              </a:spcBef>
              <a:spcAft>
                <a:spcPts val="100"/>
              </a:spcAft>
              <a:defRPr/>
            </a:pPr>
            <a:r>
              <a:rPr lang="en-GB" altLang="ko-KR" sz="850" dirty="0">
                <a:solidFill>
                  <a:prstClr val="white">
                    <a:lumMod val="50000"/>
                  </a:prstClr>
                </a:solidFill>
                <a:latin typeface="Arial" panose="020B0604020202020204" pitchFamily="34" charset="0"/>
                <a:cs typeface="Arial" panose="020B0604020202020204" pitchFamily="34" charset="0"/>
              </a:rPr>
              <a:t>The information contained herein is of a general nature and is not intended to address the circumstances of any particular individual or entity. Although we </a:t>
            </a:r>
            <a:r>
              <a:rPr lang="en-GB" altLang="ko-KR" sz="850" dirty="0" err="1">
                <a:solidFill>
                  <a:prstClr val="white">
                    <a:lumMod val="50000"/>
                  </a:prstClr>
                </a:solidFill>
                <a:latin typeface="Arial" panose="020B0604020202020204" pitchFamily="34" charset="0"/>
                <a:cs typeface="Arial" panose="020B0604020202020204" pitchFamily="34" charset="0"/>
              </a:rPr>
              <a:t>endeavor</a:t>
            </a:r>
            <a:r>
              <a:rPr lang="en-GB" altLang="ko-KR" sz="850" dirty="0">
                <a:solidFill>
                  <a:prstClr val="white">
                    <a:lumMod val="50000"/>
                  </a:prstClr>
                </a:solidFill>
                <a:latin typeface="Arial" panose="020B0604020202020204" pitchFamily="34" charset="0"/>
                <a:cs typeface="Arial" panose="020B0604020202020204" pitchFamily="34" charset="0"/>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marL="0" lvl="1" defTabSz="1036747">
              <a:spcBef>
                <a:spcPts val="100"/>
              </a:spcBef>
              <a:spcAft>
                <a:spcPts val="100"/>
              </a:spcAft>
              <a:defRPr/>
            </a:pPr>
            <a:endParaRPr lang="en-US" altLang="ko-KR" sz="850" kern="0" dirty="0">
              <a:solidFill>
                <a:prstClr val="white">
                  <a:lumMod val="50000"/>
                </a:prstClr>
              </a:solidFill>
              <a:latin typeface="Arial" panose="020B0604020202020204" pitchFamily="34" charset="0"/>
              <a:cs typeface="Arial" panose="020B0604020202020204" pitchFamily="34" charset="0"/>
            </a:endParaRPr>
          </a:p>
          <a:p>
            <a:pPr marL="0" lvl="1" defTabSz="1036747">
              <a:spcBef>
                <a:spcPts val="100"/>
              </a:spcBef>
              <a:spcAft>
                <a:spcPts val="100"/>
              </a:spcAft>
            </a:pPr>
            <a:r>
              <a:rPr lang="en-US" altLang="ko-KR" sz="850" kern="0" dirty="0">
                <a:solidFill>
                  <a:prstClr val="white">
                    <a:lumMod val="50000"/>
                  </a:prstClr>
                </a:solidFill>
                <a:latin typeface="Arial" panose="020B0604020202020204" pitchFamily="34" charset="0"/>
                <a:cs typeface="Arial" panose="020B0604020202020204" pitchFamily="34" charset="0"/>
              </a:rPr>
              <a:t>© 2025 KPMG </a:t>
            </a:r>
            <a:r>
              <a:rPr lang="en-US" altLang="ko-KR" sz="850" kern="0" dirty="0" err="1">
                <a:solidFill>
                  <a:prstClr val="white">
                    <a:lumMod val="50000"/>
                  </a:prstClr>
                </a:solidFill>
                <a:latin typeface="Arial" panose="020B0604020202020204" pitchFamily="34" charset="0"/>
                <a:cs typeface="Arial" panose="020B0604020202020204" pitchFamily="34" charset="0"/>
              </a:rPr>
              <a:t>Samjong</a:t>
            </a:r>
            <a:r>
              <a:rPr lang="en-US" altLang="ko-KR" sz="850" kern="0" dirty="0">
                <a:solidFill>
                  <a:prstClr val="white">
                    <a:lumMod val="50000"/>
                  </a:prstClr>
                </a:solidFill>
                <a:latin typeface="Arial" panose="020B0604020202020204" pitchFamily="34" charset="0"/>
                <a:cs typeface="Arial" panose="020B0604020202020204" pitchFamily="34" charset="0"/>
              </a:rPr>
              <a:t> Accounting Corp., the Korean member firm of the KPMG network of independent member firms affiliated with KPMG International Cooperative (“KPMG International”), a Swiss entity. All rights reserved. Printed in Korea.</a:t>
            </a:r>
          </a:p>
          <a:p>
            <a:pPr marL="0" lvl="1" defTabSz="1036747">
              <a:spcBef>
                <a:spcPts val="100"/>
              </a:spcBef>
              <a:spcAft>
                <a:spcPts val="100"/>
              </a:spcAft>
            </a:pPr>
            <a:endParaRPr lang="en-US" altLang="ko-KR" sz="850" kern="0" dirty="0">
              <a:solidFill>
                <a:prstClr val="white">
                  <a:lumMod val="50000"/>
                </a:prstClr>
              </a:solidFill>
              <a:latin typeface="Arial" panose="020B0604020202020204" pitchFamily="34" charset="0"/>
              <a:cs typeface="Arial" panose="020B0604020202020204" pitchFamily="34" charset="0"/>
            </a:endParaRPr>
          </a:p>
          <a:p>
            <a:pPr marL="0" lvl="1" defTabSz="1036747">
              <a:spcBef>
                <a:spcPts val="100"/>
              </a:spcBef>
              <a:spcAft>
                <a:spcPts val="100"/>
              </a:spcAft>
            </a:pPr>
            <a:r>
              <a:rPr lang="en-GB" altLang="ko-KR" sz="850" dirty="0">
                <a:solidFill>
                  <a:prstClr val="white">
                    <a:lumMod val="50000"/>
                  </a:prstClr>
                </a:solidFill>
                <a:latin typeface="Arial" panose="020B0604020202020204" pitchFamily="34" charset="0"/>
                <a:cs typeface="Arial" panose="020B0604020202020204" pitchFamily="34" charset="0"/>
              </a:rPr>
              <a:t>The KPMG name and logo are registered trademarks or trademarks of KPMG International.</a:t>
            </a:r>
            <a:endParaRPr lang="en-US" altLang="ko-KR" sz="850" kern="0" dirty="0">
              <a:solidFill>
                <a:prstClr val="white">
                  <a:lumMod val="50000"/>
                </a:prstClr>
              </a:solidFill>
              <a:latin typeface="Arial" panose="020B0604020202020204" pitchFamily="34" charset="0"/>
              <a:cs typeface="Arial" panose="020B0604020202020204" pitchFamily="34" charset="0"/>
            </a:endParaRPr>
          </a:p>
          <a:p>
            <a:pPr>
              <a:spcBef>
                <a:spcPts val="100"/>
              </a:spcBef>
              <a:spcAft>
                <a:spcPts val="100"/>
              </a:spcAft>
            </a:pPr>
            <a:endParaRPr lang="ko-KR" altLang="en-US" sz="850" dirty="0">
              <a:solidFill>
                <a:prstClr val="white">
                  <a:lumMod val="50000"/>
                </a:prstClr>
              </a:solidFill>
              <a:latin typeface="Arial" panose="020B0604020202020204" pitchFamily="34" charset="0"/>
              <a:cs typeface="Arial" panose="020B0604020202020204" pitchFamily="34" charset="0"/>
            </a:endParaRPr>
          </a:p>
        </p:txBody>
      </p:sp>
      <p:sp>
        <p:nvSpPr>
          <p:cNvPr id="19" name="Rectangle 11">
            <a:hlinkClick r:id="rId6"/>
          </p:cNvPr>
          <p:cNvSpPr>
            <a:spLocks noChangeArrowheads="1"/>
          </p:cNvSpPr>
          <p:nvPr userDrawn="1"/>
        </p:nvSpPr>
        <p:spPr bwMode="auto">
          <a:xfrm>
            <a:off x="918207" y="5584993"/>
            <a:ext cx="1898317" cy="169277"/>
          </a:xfrm>
          <a:prstGeom prst="rect">
            <a:avLst/>
          </a:prstGeom>
          <a:noFill/>
          <a:ln w="9525">
            <a:noFill/>
            <a:miter lim="800000"/>
            <a:headEnd/>
            <a:tailEnd/>
          </a:ln>
          <a:effectLst/>
        </p:spPr>
        <p:txBody>
          <a:bodyPr wrap="square" lIns="0" tIns="0" rIns="0" bIns="0" anchor="ctr">
            <a:spAutoFit/>
          </a:bodyPr>
          <a:lstStyle/>
          <a:p>
            <a:pPr latinLnBrk="0"/>
            <a:r>
              <a:rPr lang="en-GB" altLang="ko-KR" sz="1100" b="1" dirty="0">
                <a:solidFill>
                  <a:srgbClr val="00338D"/>
                </a:solidFill>
                <a:latin typeface="Arial" panose="020B0604020202020204" pitchFamily="34" charset="0"/>
                <a:cs typeface="Arial" panose="020B0604020202020204" pitchFamily="34" charset="0"/>
              </a:rPr>
              <a:t>kpmg.com/</a:t>
            </a:r>
            <a:r>
              <a:rPr lang="en-GB" altLang="ko-KR" sz="1100" b="1" dirty="0" err="1">
                <a:solidFill>
                  <a:srgbClr val="00338D"/>
                </a:solidFill>
                <a:latin typeface="Arial" panose="020B0604020202020204" pitchFamily="34" charset="0"/>
                <a:cs typeface="Arial" panose="020B0604020202020204" pitchFamily="34" charset="0"/>
              </a:rPr>
              <a:t>socialmedia</a:t>
            </a:r>
            <a:endParaRPr lang="ko-KR" altLang="en-US" sz="1100" b="1" dirty="0">
              <a:solidFill>
                <a:srgbClr val="00338D"/>
              </a:solidFill>
              <a:latin typeface="Arial" panose="020B0604020202020204" pitchFamily="34" charset="0"/>
              <a:cs typeface="Arial" panose="020B0604020202020204" pitchFamily="34" charset="0"/>
            </a:endParaRPr>
          </a:p>
        </p:txBody>
      </p:sp>
      <p:sp>
        <p:nvSpPr>
          <p:cNvPr id="20" name="Rectangle 11">
            <a:hlinkClick r:id="rId6"/>
          </p:cNvPr>
          <p:cNvSpPr>
            <a:spLocks noChangeArrowheads="1"/>
          </p:cNvSpPr>
          <p:nvPr userDrawn="1"/>
        </p:nvSpPr>
        <p:spPr bwMode="auto">
          <a:xfrm>
            <a:off x="3976118" y="5584993"/>
            <a:ext cx="1898317" cy="169277"/>
          </a:xfrm>
          <a:prstGeom prst="rect">
            <a:avLst/>
          </a:prstGeom>
          <a:noFill/>
          <a:ln w="9525">
            <a:noFill/>
            <a:miter lim="800000"/>
            <a:headEnd/>
            <a:tailEnd/>
          </a:ln>
          <a:effectLst/>
        </p:spPr>
        <p:txBody>
          <a:bodyPr wrap="square" lIns="0" tIns="0" rIns="0" bIns="0" anchor="ctr">
            <a:spAutoFit/>
          </a:bodyPr>
          <a:lstStyle/>
          <a:p>
            <a:pPr latinLnBrk="0"/>
            <a:r>
              <a:rPr lang="en-GB" altLang="ko-KR" sz="1100" b="1" dirty="0">
                <a:solidFill>
                  <a:srgbClr val="00338D"/>
                </a:solidFill>
                <a:latin typeface="Arial" panose="020B0604020202020204" pitchFamily="34" charset="0"/>
                <a:cs typeface="Arial" panose="020B0604020202020204" pitchFamily="34" charset="0"/>
              </a:rPr>
              <a:t>kpmg.com/app</a:t>
            </a:r>
            <a:endParaRPr lang="ko-KR" altLang="en-US" sz="1100" b="1" dirty="0">
              <a:solidFill>
                <a:srgbClr val="00338D"/>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7680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
        <p:nvSpPr>
          <p:cNvPr id="16" name="Shape 36"/>
          <p:cNvSpPr/>
          <p:nvPr userDrawn="1"/>
        </p:nvSpPr>
        <p:spPr>
          <a:xfrm>
            <a:off x="1506147" y="7242709"/>
            <a:ext cx="5174053" cy="21544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nchorCtr="0">
            <a:spAutoFit/>
          </a:bodyPr>
          <a:lstStyle>
            <a:lvl1pPr defTabSz="914400">
              <a:defRPr sz="800">
                <a:solidFill>
                  <a:srgbClr val="004C97"/>
                </a:solidFill>
                <a:latin typeface="Univers for KPMG"/>
                <a:ea typeface="Univers for KPMG"/>
                <a:cs typeface="Univers for KPMG"/>
                <a:sym typeface="Univers for KPMG"/>
              </a:defRPr>
            </a:lvl1pPr>
          </a:lstStyle>
          <a:p>
            <a:pPr>
              <a:defRPr/>
            </a:pPr>
            <a:r>
              <a:rPr lang="en-US" altLang="ko-KR" sz="700" dirty="0">
                <a:gradFill>
                  <a:gsLst>
                    <a:gs pos="99363">
                      <a:schemeClr val="tx1">
                        <a:lumMod val="85000"/>
                        <a:lumOff val="15000"/>
                      </a:schemeClr>
                    </a:gs>
                    <a:gs pos="89908">
                      <a:schemeClr val="tx1">
                        <a:lumMod val="85000"/>
                        <a:lumOff val="15000"/>
                      </a:schemeClr>
                    </a:gs>
                  </a:gsLst>
                  <a:lin ang="5400000" scaled="1"/>
                </a:gradFill>
                <a:latin typeface="+mj-ea"/>
                <a:ea typeface="+mj-ea"/>
                <a:cs typeface="+mn-cs"/>
              </a:rPr>
              <a:t>© 2022 KPMG </a:t>
            </a:r>
            <a:r>
              <a:rPr lang="en-US" altLang="ko-KR" sz="700" dirty="0" err="1">
                <a:gradFill>
                  <a:gsLst>
                    <a:gs pos="99363">
                      <a:schemeClr val="tx1">
                        <a:lumMod val="85000"/>
                        <a:lumOff val="15000"/>
                      </a:schemeClr>
                    </a:gs>
                    <a:gs pos="89908">
                      <a:schemeClr val="tx1">
                        <a:lumMod val="85000"/>
                        <a:lumOff val="15000"/>
                      </a:schemeClr>
                    </a:gs>
                  </a:gsLst>
                  <a:lin ang="5400000" scaled="1"/>
                </a:gradFill>
                <a:latin typeface="+mj-ea"/>
                <a:ea typeface="+mj-ea"/>
                <a:cs typeface="+mn-cs"/>
              </a:rPr>
              <a:t>Samjong</a:t>
            </a:r>
            <a:r>
              <a:rPr lang="en-US" altLang="ko-KR" sz="700" dirty="0">
                <a:gradFill>
                  <a:gsLst>
                    <a:gs pos="99363">
                      <a:schemeClr val="tx1">
                        <a:lumMod val="85000"/>
                        <a:lumOff val="15000"/>
                      </a:schemeClr>
                    </a:gs>
                    <a:gs pos="89908">
                      <a:schemeClr val="tx1">
                        <a:lumMod val="85000"/>
                        <a:lumOff val="15000"/>
                      </a:schemeClr>
                    </a:gs>
                  </a:gsLst>
                  <a:lin ang="5400000" scaled="1"/>
                </a:gradFill>
                <a:latin typeface="+mj-ea"/>
                <a:ea typeface="+mj-ea"/>
                <a:cs typeface="+mn-cs"/>
              </a:rPr>
              <a:t> Accounting Corp., the Korean member firm of the KPMG network of independent member firms affiliated with KPMG International Cooperative (“KPMG International”), a Swiss entity. All rights reserved. Printed in Korea.</a:t>
            </a:r>
          </a:p>
        </p:txBody>
      </p:sp>
      <p:cxnSp>
        <p:nvCxnSpPr>
          <p:cNvPr id="27" name="직선 연결선 26"/>
          <p:cNvCxnSpPr/>
          <p:nvPr/>
        </p:nvCxnSpPr>
        <p:spPr>
          <a:xfrm>
            <a:off x="636104" y="0"/>
            <a:ext cx="0" cy="28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Slide Number Placeholder 5"/>
          <p:cNvSpPr>
            <a:spLocks noGrp="1"/>
          </p:cNvSpPr>
          <p:nvPr>
            <p:ph type="sldNum" sz="quarter" idx="4"/>
          </p:nvPr>
        </p:nvSpPr>
        <p:spPr>
          <a:xfrm>
            <a:off x="6671186" y="7147815"/>
            <a:ext cx="2454235" cy="413977"/>
          </a:xfrm>
          <a:prstGeom prst="rect">
            <a:avLst/>
          </a:prstGeom>
        </p:spPr>
        <p:txBody>
          <a:bodyPr vert="horz" lIns="91440" tIns="45720" rIns="91440" bIns="45720" rtlCol="0" anchor="ctr"/>
          <a:lstStyle>
            <a:lvl1pPr algn="r">
              <a:defRPr sz="1400">
                <a:solidFill>
                  <a:schemeClr val="tx1">
                    <a:tint val="75000"/>
                  </a:schemeClr>
                </a:solidFill>
              </a:defRPr>
            </a:lvl1pPr>
          </a:lstStyle>
          <a:p>
            <a:fld id="{613A2E33-43BC-4FF3-8A8F-87555EDF625C}" type="slidenum">
              <a:rPr lang="ko-KR" altLang="en-US" smtClean="0"/>
              <a:pPr/>
              <a:t>‹#›</a:t>
            </a:fld>
            <a:endParaRPr lang="ko-KR" altLang="en-US"/>
          </a:p>
        </p:txBody>
      </p:sp>
      <p:pic>
        <p:nvPicPr>
          <p:cNvPr id="14" name="그림 13"/>
          <p:cNvPicPr/>
          <p:nvPr userDrawn="1"/>
        </p:nvPicPr>
        <p:blipFill>
          <a:blip r:embed="rId2">
            <a:extLst>
              <a:ext uri="{28A0092B-C50C-407E-A947-70E740481C1C}">
                <a14:useLocalDpi xmlns:a14="http://schemas.microsoft.com/office/drawing/2010/main" val="0"/>
              </a:ext>
            </a:extLst>
          </a:blip>
          <a:stretch>
            <a:fillRect/>
          </a:stretch>
        </p:blipFill>
        <p:spPr>
          <a:xfrm>
            <a:off x="445767" y="7261349"/>
            <a:ext cx="769030" cy="178163"/>
          </a:xfrm>
          <a:prstGeom prst="rect">
            <a:avLst/>
          </a:prstGeom>
        </p:spPr>
      </p:pic>
      <p:pic>
        <p:nvPicPr>
          <p:cNvPr id="15" name="그림 14"/>
          <p:cNvPicPr>
            <a:picLocks noChangeAspect="1"/>
          </p:cNvPicPr>
          <p:nvPr userDrawn="1"/>
        </p:nvPicPr>
        <p:blipFill>
          <a:blip r:embed="rId3"/>
          <a:stretch>
            <a:fillRect/>
          </a:stretch>
        </p:blipFill>
        <p:spPr>
          <a:xfrm>
            <a:off x="9414296" y="7261349"/>
            <a:ext cx="1008112" cy="249063"/>
          </a:xfrm>
          <a:prstGeom prst="rect">
            <a:avLst/>
          </a:prstGeom>
        </p:spPr>
      </p:pic>
      <p:sp>
        <p:nvSpPr>
          <p:cNvPr id="19" name="TextBox 18"/>
          <p:cNvSpPr txBox="1"/>
          <p:nvPr userDrawn="1"/>
        </p:nvSpPr>
        <p:spPr>
          <a:xfrm>
            <a:off x="2116454" y="45229"/>
            <a:ext cx="134652" cy="200055"/>
          </a:xfrm>
          <a:prstGeom prst="rect">
            <a:avLst/>
          </a:prstGeom>
          <a:noFill/>
        </p:spPr>
        <p:txBody>
          <a:bodyPr wrap="none" lIns="0" tIns="0" rIns="0" bIns="0" rtlCol="0">
            <a:spAutoFit/>
          </a:bodyPr>
          <a:lstStyle/>
          <a:p>
            <a:pPr latinLnBrk="0">
              <a:spcAft>
                <a:spcPts val="600"/>
              </a:spcAft>
            </a:pPr>
            <a:r>
              <a:rPr lang="en-US" altLang="ko-KR" sz="1300" dirty="0">
                <a:gradFill>
                  <a:gsLst>
                    <a:gs pos="54128">
                      <a:schemeClr val="bg1">
                        <a:lumMod val="75000"/>
                      </a:schemeClr>
                    </a:gs>
                    <a:gs pos="28000">
                      <a:schemeClr val="bg1">
                        <a:lumMod val="75000"/>
                      </a:schemeClr>
                    </a:gs>
                  </a:gsLst>
                  <a:lin ang="5400000" scaled="1"/>
                </a:gradFill>
                <a:latin typeface="+mj-ea"/>
                <a:ea typeface="+mj-ea"/>
              </a:rPr>
              <a:t>III</a:t>
            </a:r>
            <a:endParaRPr lang="ko-KR" altLang="en-US" sz="1300" dirty="0">
              <a:gradFill>
                <a:gsLst>
                  <a:gs pos="54128">
                    <a:schemeClr val="bg1">
                      <a:lumMod val="75000"/>
                    </a:schemeClr>
                  </a:gs>
                  <a:gs pos="28000">
                    <a:schemeClr val="bg1">
                      <a:lumMod val="75000"/>
                    </a:schemeClr>
                  </a:gs>
                </a:gsLst>
                <a:lin ang="5400000" scaled="1"/>
              </a:gradFill>
              <a:latin typeface="+mj-ea"/>
              <a:ea typeface="+mj-ea"/>
            </a:endParaRPr>
          </a:p>
        </p:txBody>
      </p:sp>
      <p:sp>
        <p:nvSpPr>
          <p:cNvPr id="20" name="TextBox 19"/>
          <p:cNvSpPr txBox="1"/>
          <p:nvPr userDrawn="1"/>
        </p:nvSpPr>
        <p:spPr>
          <a:xfrm>
            <a:off x="671584" y="45229"/>
            <a:ext cx="1173398" cy="20005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ko-KR" sz="1300" dirty="0">
                <a:gradFill>
                  <a:gsLst>
                    <a:gs pos="54128">
                      <a:schemeClr val="bg1">
                        <a:lumMod val="75000"/>
                      </a:schemeClr>
                    </a:gs>
                    <a:gs pos="28000">
                      <a:schemeClr val="bg1">
                        <a:lumMod val="75000"/>
                      </a:schemeClr>
                    </a:gs>
                  </a:gsLst>
                  <a:lin ang="5400000" scaled="1"/>
                </a:gradFill>
                <a:latin typeface="+mj-ea"/>
                <a:ea typeface="+mj-ea"/>
              </a:rPr>
              <a:t>Ⅰ</a:t>
            </a:r>
            <a:r>
              <a:rPr lang="en-US" altLang="ko-KR" sz="1300" kern="1200" dirty="0">
                <a:gradFill>
                  <a:gsLst>
                    <a:gs pos="89908">
                      <a:schemeClr val="tx1">
                        <a:lumMod val="50000"/>
                        <a:lumOff val="50000"/>
                      </a:schemeClr>
                    </a:gs>
                    <a:gs pos="56000">
                      <a:schemeClr val="tx1">
                        <a:lumMod val="50000"/>
                        <a:lumOff val="50000"/>
                      </a:schemeClr>
                    </a:gs>
                  </a:gsLst>
                  <a:lin ang="5400000" scaled="1"/>
                </a:gradFill>
                <a:latin typeface="+mj-ea"/>
                <a:ea typeface="+mn-ea"/>
                <a:cs typeface="+mn-cs"/>
              </a:rPr>
              <a:t>. </a:t>
            </a:r>
            <a:r>
              <a:rPr lang="ko-KR" altLang="en-US" sz="1300" kern="1200">
                <a:gradFill>
                  <a:gsLst>
                    <a:gs pos="89908">
                      <a:schemeClr val="tx1">
                        <a:lumMod val="50000"/>
                        <a:lumOff val="50000"/>
                      </a:schemeClr>
                    </a:gs>
                    <a:gs pos="56000">
                      <a:schemeClr val="tx1">
                        <a:lumMod val="50000"/>
                        <a:lumOff val="50000"/>
                      </a:schemeClr>
                    </a:gs>
                  </a:gsLst>
                  <a:lin ang="5400000" scaled="1"/>
                </a:gradFill>
                <a:latin typeface="+mj-ea"/>
                <a:ea typeface="+mn-ea"/>
                <a:cs typeface="+mn-cs"/>
              </a:rPr>
              <a:t>관세환급 개요</a:t>
            </a:r>
          </a:p>
        </p:txBody>
      </p:sp>
      <p:cxnSp>
        <p:nvCxnSpPr>
          <p:cNvPr id="21" name="직선 연결선 20"/>
          <p:cNvCxnSpPr/>
          <p:nvPr userDrawn="1"/>
        </p:nvCxnSpPr>
        <p:spPr>
          <a:xfrm>
            <a:off x="636104" y="0"/>
            <a:ext cx="0" cy="28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직선 연결선 21"/>
          <p:cNvCxnSpPr/>
          <p:nvPr userDrawn="1"/>
        </p:nvCxnSpPr>
        <p:spPr>
          <a:xfrm>
            <a:off x="2069480" y="0"/>
            <a:ext cx="0" cy="28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직선 연결선 22"/>
          <p:cNvCxnSpPr/>
          <p:nvPr userDrawn="1"/>
        </p:nvCxnSpPr>
        <p:spPr>
          <a:xfrm>
            <a:off x="2298080" y="0"/>
            <a:ext cx="0" cy="28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userDrawn="1"/>
        </p:nvSpPr>
        <p:spPr>
          <a:xfrm>
            <a:off x="1893699" y="45229"/>
            <a:ext cx="145874" cy="200055"/>
          </a:xfrm>
          <a:prstGeom prst="rect">
            <a:avLst/>
          </a:prstGeom>
          <a:noFill/>
        </p:spPr>
        <p:txBody>
          <a:bodyPr wrap="none" lIns="0" tIns="0" rIns="0" bIns="0" rtlCol="0">
            <a:spAutoFit/>
          </a:bodyPr>
          <a:lstStyle/>
          <a:p>
            <a:pPr latinLnBrk="0">
              <a:spcAft>
                <a:spcPts val="600"/>
              </a:spcAft>
            </a:pPr>
            <a:r>
              <a:rPr lang="en-US" altLang="ko-KR" sz="1300" dirty="0">
                <a:gradFill>
                  <a:gsLst>
                    <a:gs pos="89908">
                      <a:schemeClr val="tx1">
                        <a:lumMod val="50000"/>
                        <a:lumOff val="50000"/>
                      </a:schemeClr>
                    </a:gs>
                    <a:gs pos="56000">
                      <a:schemeClr val="tx1">
                        <a:lumMod val="50000"/>
                        <a:lumOff val="50000"/>
                      </a:schemeClr>
                    </a:gs>
                  </a:gsLst>
                  <a:lin ang="5400000" scaled="1"/>
                </a:gradFill>
                <a:latin typeface="+mj-ea"/>
                <a:ea typeface="+mj-ea"/>
              </a:rPr>
              <a:t>Ⅱ</a:t>
            </a:r>
            <a:endParaRPr lang="ko-KR" altLang="en-US" sz="1300" dirty="0">
              <a:gradFill>
                <a:gsLst>
                  <a:gs pos="89908">
                    <a:schemeClr val="tx1">
                      <a:lumMod val="50000"/>
                      <a:lumOff val="50000"/>
                    </a:schemeClr>
                  </a:gs>
                  <a:gs pos="56000">
                    <a:schemeClr val="tx1">
                      <a:lumMod val="50000"/>
                      <a:lumOff val="50000"/>
                    </a:schemeClr>
                  </a:gs>
                </a:gsLst>
                <a:lin ang="5400000" scaled="1"/>
              </a:gradFill>
              <a:latin typeface="+mj-ea"/>
              <a:ea typeface="+mj-ea"/>
            </a:endParaRPr>
          </a:p>
        </p:txBody>
      </p:sp>
      <p:cxnSp>
        <p:nvCxnSpPr>
          <p:cNvPr id="31" name="직선 연결선 30"/>
          <p:cNvCxnSpPr/>
          <p:nvPr userDrawn="1"/>
        </p:nvCxnSpPr>
        <p:spPr>
          <a:xfrm>
            <a:off x="1853456" y="0"/>
            <a:ext cx="0" cy="28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userDrawn="1"/>
        </p:nvSpPr>
        <p:spPr>
          <a:xfrm>
            <a:off x="2341574" y="45229"/>
            <a:ext cx="145874" cy="200055"/>
          </a:xfrm>
          <a:prstGeom prst="rect">
            <a:avLst/>
          </a:prstGeom>
          <a:noFill/>
        </p:spPr>
        <p:txBody>
          <a:bodyPr wrap="none" lIns="0" tIns="0" rIns="0" bIns="0" rtlCol="0">
            <a:spAutoFit/>
          </a:bodyPr>
          <a:lstStyle/>
          <a:p>
            <a:pPr latinLnBrk="0">
              <a:spcAft>
                <a:spcPts val="600"/>
              </a:spcAft>
            </a:pPr>
            <a:r>
              <a:rPr lang="en-US" altLang="ko-KR" sz="1300" dirty="0">
                <a:gradFill>
                  <a:gsLst>
                    <a:gs pos="54128">
                      <a:schemeClr val="bg1">
                        <a:lumMod val="75000"/>
                      </a:schemeClr>
                    </a:gs>
                    <a:gs pos="28000">
                      <a:schemeClr val="bg1">
                        <a:lumMod val="75000"/>
                      </a:schemeClr>
                    </a:gs>
                  </a:gsLst>
                  <a:lin ang="5400000" scaled="1"/>
                </a:gradFill>
                <a:latin typeface="+mj-ea"/>
                <a:ea typeface="+mj-ea"/>
              </a:rPr>
              <a:t>ⅳ</a:t>
            </a:r>
            <a:endParaRPr lang="ko-KR" altLang="en-US" sz="1300" dirty="0">
              <a:gradFill>
                <a:gsLst>
                  <a:gs pos="54128">
                    <a:schemeClr val="bg1">
                      <a:lumMod val="75000"/>
                    </a:schemeClr>
                  </a:gs>
                  <a:gs pos="28000">
                    <a:schemeClr val="bg1">
                      <a:lumMod val="75000"/>
                    </a:schemeClr>
                  </a:gs>
                </a:gsLst>
                <a:lin ang="5400000" scaled="1"/>
              </a:gradFill>
              <a:latin typeface="+mj-ea"/>
              <a:ea typeface="+mj-ea"/>
            </a:endParaRPr>
          </a:p>
        </p:txBody>
      </p:sp>
      <p:cxnSp>
        <p:nvCxnSpPr>
          <p:cNvPr id="34" name="직선 연결선 33"/>
          <p:cNvCxnSpPr/>
          <p:nvPr userDrawn="1"/>
        </p:nvCxnSpPr>
        <p:spPr>
          <a:xfrm>
            <a:off x="2527660" y="-4"/>
            <a:ext cx="0" cy="288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098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1장">
    <p:spTree>
      <p:nvGrpSpPr>
        <p:cNvPr id="1" name=""/>
        <p:cNvGrpSpPr/>
        <p:nvPr/>
      </p:nvGrpSpPr>
      <p:grpSpPr>
        <a:xfrm>
          <a:off x="0" y="0"/>
          <a:ext cx="0" cy="0"/>
          <a:chOff x="0" y="0"/>
          <a:chExt cx="0" cy="0"/>
        </a:xfrm>
      </p:grpSpPr>
      <p:sp>
        <p:nvSpPr>
          <p:cNvPr id="46" name="Slide Number Placeholder 5"/>
          <p:cNvSpPr txBox="1">
            <a:spLocks/>
          </p:cNvSpPr>
          <p:nvPr userDrawn="1"/>
        </p:nvSpPr>
        <p:spPr>
          <a:xfrm>
            <a:off x="8421081" y="7243065"/>
            <a:ext cx="1824644" cy="413977"/>
          </a:xfrm>
          <a:prstGeom prst="rect">
            <a:avLst/>
          </a:prstGeom>
        </p:spPr>
        <p:txBody>
          <a:bodyPr vert="horz" lIns="91440" tIns="45720" rIns="0" bIns="45720" rtlCol="0" anchor="ctr"/>
          <a:lstStyle>
            <a:defPPr>
              <a:defRPr lang="ko-KR"/>
            </a:defPPr>
            <a:lvl1pPr marL="0" algn="ctr" defTabSz="914400" rtl="0" eaLnBrk="1" latinLnBrk="1" hangingPunct="1">
              <a:defRPr sz="1300" kern="1200">
                <a:solidFill>
                  <a:schemeClr val="tx2"/>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r"/>
            <a:fld id="{613A2E33-43BC-4FF3-8A8F-87555EDF625C}" type="slidenum">
              <a:rPr lang="ko-KR" altLang="en-US" smtClean="0">
                <a:ln>
                  <a:solidFill>
                    <a:schemeClr val="accent1">
                      <a:alpha val="0"/>
                    </a:schemeClr>
                  </a:solidFill>
                </a:ln>
                <a:solidFill>
                  <a:schemeClr val="tx1">
                    <a:lumMod val="85000"/>
                    <a:lumOff val="15000"/>
                  </a:schemeClr>
                </a:solidFill>
                <a:latin typeface="맑은 고딕" panose="020B0503020000020004" pitchFamily="50" charset="-127"/>
              </a:rPr>
              <a:pPr algn="r"/>
              <a:t>‹#›</a:t>
            </a:fld>
            <a:endParaRPr lang="ko-KR" altLang="en-US" dirty="0">
              <a:ln>
                <a:solidFill>
                  <a:schemeClr val="accent1">
                    <a:alpha val="0"/>
                  </a:schemeClr>
                </a:solidFill>
              </a:ln>
              <a:solidFill>
                <a:schemeClr val="tx1">
                  <a:lumMod val="85000"/>
                  <a:lumOff val="15000"/>
                </a:schemeClr>
              </a:solidFill>
              <a:latin typeface="맑은 고딕" panose="020B0503020000020004" pitchFamily="50" charset="-127"/>
            </a:endParaRPr>
          </a:p>
        </p:txBody>
      </p:sp>
      <p:pic>
        <p:nvPicPr>
          <p:cNvPr id="47" name="그림 4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9288" y="7337662"/>
            <a:ext cx="811795" cy="198595"/>
          </a:xfrm>
          <a:prstGeom prst="rect">
            <a:avLst/>
          </a:prstGeom>
        </p:spPr>
      </p:pic>
      <p:sp>
        <p:nvSpPr>
          <p:cNvPr id="48" name="TextBox 47"/>
          <p:cNvSpPr txBox="1"/>
          <p:nvPr userDrawn="1"/>
        </p:nvSpPr>
        <p:spPr>
          <a:xfrm>
            <a:off x="1844168" y="7346038"/>
            <a:ext cx="5080507" cy="370800"/>
          </a:xfrm>
          <a:prstGeom prst="rect">
            <a:avLst/>
          </a:prstGeom>
          <a:noFill/>
        </p:spPr>
        <p:txBody>
          <a:bodyPr wrap="square" lIns="0" tIns="0" rIns="0" bIns="0" rtlCol="0">
            <a:noAutofit/>
          </a:bodyPr>
          <a:lstStyle/>
          <a:p>
            <a:pPr>
              <a:defRPr/>
            </a:pPr>
            <a:r>
              <a:rPr lang="en-US" altLang="ko-KR" sz="600" u="none"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 </a:t>
            </a:r>
            <a:r>
              <a:rPr lang="en-US" altLang="ko-KR" sz="600" u="none" dirty="0" smtClean="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2025 </a:t>
            </a:r>
            <a:r>
              <a:rPr kumimoji="1" lang="en-US" altLang="ko-KR" sz="600"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KPMG </a:t>
            </a:r>
            <a:r>
              <a:rPr kumimoji="1" lang="en-US" altLang="ko-KR" sz="600" dirty="0" err="1">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Samjong</a:t>
            </a:r>
            <a:r>
              <a:rPr kumimoji="1" lang="en-US" altLang="ko-KR" sz="600"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 Accounting Corp., </a:t>
            </a:r>
            <a:r>
              <a:rPr lang="en-US" altLang="ko-KR" sz="600" u="none" dirty="0">
                <a:ln>
                  <a:solidFill>
                    <a:schemeClr val="accent1">
                      <a:alpha val="0"/>
                    </a:schemeClr>
                  </a:solidFill>
                </a:ln>
                <a:solidFill>
                  <a:schemeClr val="bg1">
                    <a:lumMod val="65000"/>
                  </a:schemeClr>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Tree>
    <p:extLst>
      <p:ext uri="{BB962C8B-B14F-4D97-AF65-F5344CB8AC3E}">
        <p14:creationId xmlns:p14="http://schemas.microsoft.com/office/powerpoint/2010/main" val="2250220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986731C-1C5F-43D5-84C7-27C4D27587C6}"/>
              </a:ext>
            </a:extLst>
          </p:cNvPr>
          <p:cNvSpPr>
            <a:spLocks noGrp="1"/>
          </p:cNvSpPr>
          <p:nvPr>
            <p:ph type="sldNum" sz="quarter" idx="4"/>
          </p:nvPr>
        </p:nvSpPr>
        <p:spPr>
          <a:xfrm>
            <a:off x="7109807" y="7243065"/>
            <a:ext cx="1824644" cy="413977"/>
          </a:xfrm>
          <a:prstGeom prst="rect">
            <a:avLst/>
          </a:prstGeom>
        </p:spPr>
        <p:txBody>
          <a:bodyPr vert="horz" lIns="91440" tIns="45720" rIns="91440" bIns="45720" rtlCol="0" anchor="ctr"/>
          <a:lstStyle>
            <a:lvl1pPr algn="ctr">
              <a:defRPr sz="1300">
                <a:solidFill>
                  <a:schemeClr val="tx1">
                    <a:lumMod val="85000"/>
                    <a:lumOff val="15000"/>
                  </a:schemeClr>
                </a:solidFill>
                <a:latin typeface="맑은 고딕" panose="020B0503020000020004" pitchFamily="50" charset="-127"/>
              </a:defRPr>
            </a:lvl1pPr>
          </a:lstStyle>
          <a:p>
            <a:fld id="{613A2E33-43BC-4FF3-8A8F-87555EDF625C}" type="slidenum">
              <a:rPr lang="ko-KR" altLang="en-US" smtClean="0"/>
              <a:pPr/>
              <a:t>‹#›</a:t>
            </a:fld>
            <a:endParaRPr lang="ko-KR" altLang="en-US" dirty="0"/>
          </a:p>
        </p:txBody>
      </p:sp>
    </p:spTree>
    <p:extLst>
      <p:ext uri="{BB962C8B-B14F-4D97-AF65-F5344CB8AC3E}">
        <p14:creationId xmlns:p14="http://schemas.microsoft.com/office/powerpoint/2010/main" val="260318200"/>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8" r:id="rId3"/>
    <p:sldLayoutId id="2147483671" r:id="rId4"/>
    <p:sldLayoutId id="2147483736" r:id="rId5"/>
    <p:sldLayoutId id="2147483741" r:id="rId6"/>
    <p:sldLayoutId id="2147483742" r:id="rId7"/>
  </p:sldLayoutIdLst>
  <p:hf hdr="0" ftr="0" dt="0"/>
  <p:txStyles>
    <p:titleStyle>
      <a:lvl1pPr algn="l" defTabSz="1036747" rtl="0" eaLnBrk="1" latinLnBrk="1" hangingPunct="1">
        <a:lnSpc>
          <a:spcPct val="90000"/>
        </a:lnSpc>
        <a:spcBef>
          <a:spcPct val="0"/>
        </a:spcBef>
        <a:buNone/>
        <a:defRPr sz="4989" kern="1200">
          <a:solidFill>
            <a:schemeClr val="tx1"/>
          </a:solidFill>
          <a:latin typeface="+mj-lt"/>
          <a:ea typeface="+mj-ea"/>
          <a:cs typeface="+mj-cs"/>
        </a:defRPr>
      </a:lvl1pPr>
    </p:titleStyle>
    <p:bodyStyle>
      <a:lvl1pPr marL="259187" indent="-259187" algn="l" defTabSz="1036747" rtl="0" eaLnBrk="1" latinLnBrk="1" hangingPunct="1">
        <a:lnSpc>
          <a:spcPct val="90000"/>
        </a:lnSpc>
        <a:spcBef>
          <a:spcPts val="1134"/>
        </a:spcBef>
        <a:buFont typeface="Arial" panose="020B0604020202020204" pitchFamily="34" charset="0"/>
        <a:buChar char="•"/>
        <a:defRPr sz="3175" kern="1200">
          <a:solidFill>
            <a:schemeClr val="tx1"/>
          </a:solidFill>
          <a:latin typeface="+mn-lt"/>
          <a:ea typeface="+mn-ea"/>
          <a:cs typeface="+mn-cs"/>
        </a:defRPr>
      </a:lvl1pPr>
      <a:lvl2pPr marL="777560" indent="-259187" algn="l" defTabSz="1036747" rtl="0" eaLnBrk="1" latinLnBrk="1" hangingPunct="1">
        <a:lnSpc>
          <a:spcPct val="90000"/>
        </a:lnSpc>
        <a:spcBef>
          <a:spcPts val="567"/>
        </a:spcBef>
        <a:buFont typeface="Arial" panose="020B0604020202020204" pitchFamily="34" charset="0"/>
        <a:buChar char="•"/>
        <a:defRPr sz="2721" kern="1200">
          <a:solidFill>
            <a:schemeClr val="tx1"/>
          </a:solidFill>
          <a:latin typeface="+mn-lt"/>
          <a:ea typeface="+mn-ea"/>
          <a:cs typeface="+mn-cs"/>
        </a:defRPr>
      </a:lvl2pPr>
      <a:lvl3pPr marL="1295933" indent="-259187" algn="l" defTabSz="1036747" rtl="0" eaLnBrk="1" latinLnBrk="1" hangingPunct="1">
        <a:lnSpc>
          <a:spcPct val="90000"/>
        </a:lnSpc>
        <a:spcBef>
          <a:spcPts val="567"/>
        </a:spcBef>
        <a:buFont typeface="Arial" panose="020B0604020202020204" pitchFamily="34" charset="0"/>
        <a:buChar char="•"/>
        <a:defRPr sz="2268" kern="1200">
          <a:solidFill>
            <a:schemeClr val="tx1"/>
          </a:solidFill>
          <a:latin typeface="+mn-lt"/>
          <a:ea typeface="+mn-ea"/>
          <a:cs typeface="+mn-cs"/>
        </a:defRPr>
      </a:lvl3pPr>
      <a:lvl4pPr marL="1814307" indent="-259187" algn="l" defTabSz="1036747" rtl="0" eaLnBrk="1" latinLnBrk="1" hangingPunct="1">
        <a:lnSpc>
          <a:spcPct val="90000"/>
        </a:lnSpc>
        <a:spcBef>
          <a:spcPts val="567"/>
        </a:spcBef>
        <a:buFont typeface="Arial" panose="020B0604020202020204" pitchFamily="34" charset="0"/>
        <a:buChar char="•"/>
        <a:defRPr sz="2041" kern="1200">
          <a:solidFill>
            <a:schemeClr val="tx1"/>
          </a:solidFill>
          <a:latin typeface="+mn-lt"/>
          <a:ea typeface="+mn-ea"/>
          <a:cs typeface="+mn-cs"/>
        </a:defRPr>
      </a:lvl4pPr>
      <a:lvl5pPr marL="2332680" indent="-259187" algn="l" defTabSz="1036747" rtl="0" eaLnBrk="1" latinLnBrk="1" hangingPunct="1">
        <a:lnSpc>
          <a:spcPct val="90000"/>
        </a:lnSpc>
        <a:spcBef>
          <a:spcPts val="567"/>
        </a:spcBef>
        <a:buFont typeface="Arial" panose="020B0604020202020204" pitchFamily="34" charset="0"/>
        <a:buChar char="•"/>
        <a:defRPr sz="2041" kern="1200">
          <a:solidFill>
            <a:schemeClr val="tx1"/>
          </a:solidFill>
          <a:latin typeface="+mn-lt"/>
          <a:ea typeface="+mn-ea"/>
          <a:cs typeface="+mn-cs"/>
        </a:defRPr>
      </a:lvl5pPr>
      <a:lvl6pPr marL="2851053" indent="-259187" algn="l" defTabSz="1036747" rtl="0" eaLnBrk="1" latinLnBrk="1" hangingPunct="1">
        <a:lnSpc>
          <a:spcPct val="90000"/>
        </a:lnSpc>
        <a:spcBef>
          <a:spcPts val="567"/>
        </a:spcBef>
        <a:buFont typeface="Arial" panose="020B0604020202020204" pitchFamily="34" charset="0"/>
        <a:buChar char="•"/>
        <a:defRPr sz="2041" kern="1200">
          <a:solidFill>
            <a:schemeClr val="tx1"/>
          </a:solidFill>
          <a:latin typeface="+mn-lt"/>
          <a:ea typeface="+mn-ea"/>
          <a:cs typeface="+mn-cs"/>
        </a:defRPr>
      </a:lvl6pPr>
      <a:lvl7pPr marL="3369427" indent="-259187" algn="l" defTabSz="1036747" rtl="0" eaLnBrk="1" latinLnBrk="1" hangingPunct="1">
        <a:lnSpc>
          <a:spcPct val="90000"/>
        </a:lnSpc>
        <a:spcBef>
          <a:spcPts val="567"/>
        </a:spcBef>
        <a:buFont typeface="Arial" panose="020B0604020202020204" pitchFamily="34" charset="0"/>
        <a:buChar char="•"/>
        <a:defRPr sz="2041" kern="1200">
          <a:solidFill>
            <a:schemeClr val="tx1"/>
          </a:solidFill>
          <a:latin typeface="+mn-lt"/>
          <a:ea typeface="+mn-ea"/>
          <a:cs typeface="+mn-cs"/>
        </a:defRPr>
      </a:lvl7pPr>
      <a:lvl8pPr marL="3887800" indent="-259187" algn="l" defTabSz="1036747" rtl="0" eaLnBrk="1" latinLnBrk="1" hangingPunct="1">
        <a:lnSpc>
          <a:spcPct val="90000"/>
        </a:lnSpc>
        <a:spcBef>
          <a:spcPts val="567"/>
        </a:spcBef>
        <a:buFont typeface="Arial" panose="020B0604020202020204" pitchFamily="34" charset="0"/>
        <a:buChar char="•"/>
        <a:defRPr sz="2041" kern="1200">
          <a:solidFill>
            <a:schemeClr val="tx1"/>
          </a:solidFill>
          <a:latin typeface="+mn-lt"/>
          <a:ea typeface="+mn-ea"/>
          <a:cs typeface="+mn-cs"/>
        </a:defRPr>
      </a:lvl8pPr>
      <a:lvl9pPr marL="4406174" indent="-259187" algn="l" defTabSz="1036747" rtl="0" eaLnBrk="1" latinLnBrk="1" hangingPunct="1">
        <a:lnSpc>
          <a:spcPct val="90000"/>
        </a:lnSpc>
        <a:spcBef>
          <a:spcPts val="567"/>
        </a:spcBef>
        <a:buFont typeface="Arial" panose="020B0604020202020204" pitchFamily="34" charset="0"/>
        <a:buChar char="•"/>
        <a:defRPr sz="2041" kern="1200">
          <a:solidFill>
            <a:schemeClr val="tx1"/>
          </a:solidFill>
          <a:latin typeface="+mn-lt"/>
          <a:ea typeface="+mn-ea"/>
          <a:cs typeface="+mn-cs"/>
        </a:defRPr>
      </a:lvl9pPr>
    </p:bodyStyle>
    <p:otherStyle>
      <a:defPPr>
        <a:defRPr lang="en-US"/>
      </a:defPPr>
      <a:lvl1pPr marL="0" algn="l" defTabSz="1036747" rtl="0" eaLnBrk="1" latinLnBrk="1" hangingPunct="1">
        <a:defRPr sz="2041" kern="1200">
          <a:solidFill>
            <a:schemeClr val="tx1"/>
          </a:solidFill>
          <a:latin typeface="+mn-lt"/>
          <a:ea typeface="+mn-ea"/>
          <a:cs typeface="+mn-cs"/>
        </a:defRPr>
      </a:lvl1pPr>
      <a:lvl2pPr marL="518373" algn="l" defTabSz="1036747" rtl="0" eaLnBrk="1" latinLnBrk="1" hangingPunct="1">
        <a:defRPr sz="2041" kern="1200">
          <a:solidFill>
            <a:schemeClr val="tx1"/>
          </a:solidFill>
          <a:latin typeface="+mn-lt"/>
          <a:ea typeface="+mn-ea"/>
          <a:cs typeface="+mn-cs"/>
        </a:defRPr>
      </a:lvl2pPr>
      <a:lvl3pPr marL="1036747" algn="l" defTabSz="1036747" rtl="0" eaLnBrk="1" latinLnBrk="1" hangingPunct="1">
        <a:defRPr sz="2041" kern="1200">
          <a:solidFill>
            <a:schemeClr val="tx1"/>
          </a:solidFill>
          <a:latin typeface="+mn-lt"/>
          <a:ea typeface="+mn-ea"/>
          <a:cs typeface="+mn-cs"/>
        </a:defRPr>
      </a:lvl3pPr>
      <a:lvl4pPr marL="1555120" algn="l" defTabSz="1036747" rtl="0" eaLnBrk="1" latinLnBrk="1" hangingPunct="1">
        <a:defRPr sz="2041" kern="1200">
          <a:solidFill>
            <a:schemeClr val="tx1"/>
          </a:solidFill>
          <a:latin typeface="+mn-lt"/>
          <a:ea typeface="+mn-ea"/>
          <a:cs typeface="+mn-cs"/>
        </a:defRPr>
      </a:lvl4pPr>
      <a:lvl5pPr marL="2073493" algn="l" defTabSz="1036747" rtl="0" eaLnBrk="1" latinLnBrk="1" hangingPunct="1">
        <a:defRPr sz="2041" kern="1200">
          <a:solidFill>
            <a:schemeClr val="tx1"/>
          </a:solidFill>
          <a:latin typeface="+mn-lt"/>
          <a:ea typeface="+mn-ea"/>
          <a:cs typeface="+mn-cs"/>
        </a:defRPr>
      </a:lvl5pPr>
      <a:lvl6pPr marL="2591867" algn="l" defTabSz="1036747" rtl="0" eaLnBrk="1" latinLnBrk="1" hangingPunct="1">
        <a:defRPr sz="2041" kern="1200">
          <a:solidFill>
            <a:schemeClr val="tx1"/>
          </a:solidFill>
          <a:latin typeface="+mn-lt"/>
          <a:ea typeface="+mn-ea"/>
          <a:cs typeface="+mn-cs"/>
        </a:defRPr>
      </a:lvl6pPr>
      <a:lvl7pPr marL="3110240" algn="l" defTabSz="1036747" rtl="0" eaLnBrk="1" latinLnBrk="1" hangingPunct="1">
        <a:defRPr sz="2041" kern="1200">
          <a:solidFill>
            <a:schemeClr val="tx1"/>
          </a:solidFill>
          <a:latin typeface="+mn-lt"/>
          <a:ea typeface="+mn-ea"/>
          <a:cs typeface="+mn-cs"/>
        </a:defRPr>
      </a:lvl7pPr>
      <a:lvl8pPr marL="3628614" algn="l" defTabSz="1036747" rtl="0" eaLnBrk="1" latinLnBrk="1" hangingPunct="1">
        <a:defRPr sz="2041" kern="1200">
          <a:solidFill>
            <a:schemeClr val="tx1"/>
          </a:solidFill>
          <a:latin typeface="+mn-lt"/>
          <a:ea typeface="+mn-ea"/>
          <a:cs typeface="+mn-cs"/>
        </a:defRPr>
      </a:lvl8pPr>
      <a:lvl9pPr marL="4146987" algn="l" defTabSz="1036747" rtl="0" eaLnBrk="1" latinLnBrk="1" hangingPunct="1">
        <a:defRPr sz="204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13" userDrawn="1">
          <p15:clr>
            <a:srgbClr val="F26B43"/>
          </p15:clr>
        </p15:guide>
        <p15:guide id="3" pos="79" userDrawn="1">
          <p15:clr>
            <a:srgbClr val="F26B43"/>
          </p15:clr>
        </p15:guide>
        <p15:guide id="4" pos="6792" userDrawn="1">
          <p15:clr>
            <a:srgbClr val="F26B43"/>
          </p15:clr>
        </p15:guide>
        <p15:guide id="5" orient="horz" pos="4830" userDrawn="1">
          <p15:clr>
            <a:srgbClr val="F26B43"/>
          </p15:clr>
        </p15:guide>
        <p15:guide id="6" orient="horz" pos="90" userDrawn="1">
          <p15:clr>
            <a:srgbClr val="F26B43"/>
          </p15:clr>
        </p15:guide>
        <p15:guide id="9" pos="396" userDrawn="1">
          <p15:clr>
            <a:srgbClr val="F26B43"/>
          </p15:clr>
        </p15:guide>
        <p15:guide id="10" pos="6475" userDrawn="1">
          <p15:clr>
            <a:srgbClr val="F26B43"/>
          </p15:clr>
        </p15:guide>
        <p15:guide id="11" orient="horz" pos="2948" userDrawn="1">
          <p15:clr>
            <a:srgbClr val="F26B43"/>
          </p15:clr>
        </p15:guide>
        <p15:guide id="12" orient="horz" pos="1156" userDrawn="1">
          <p15:clr>
            <a:srgbClr val="F26B43"/>
          </p15:clr>
        </p15:guide>
        <p15:guide id="13" pos="3436" userDrawn="1">
          <p15:clr>
            <a:srgbClr val="F26B43"/>
          </p15:clr>
        </p15:guide>
        <p15:guide id="14" orient="horz" pos="657" userDrawn="1">
          <p15:clr>
            <a:srgbClr val="F26B43"/>
          </p15:clr>
        </p15:guide>
        <p15:guide id="15" orient="horz" pos="138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4.png"/><Relationship Id="rId7" Type="http://schemas.openxmlformats.org/officeDocument/2006/relationships/image" Target="../media/image2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5.png"/><Relationship Id="rId5" Type="http://schemas.openxmlformats.org/officeDocument/2006/relationships/image" Target="../media/image26.png"/><Relationship Id="rId10" Type="http://schemas.openxmlformats.org/officeDocument/2006/relationships/image" Target="../media/image34.png"/><Relationship Id="rId4" Type="http://schemas.openxmlformats.org/officeDocument/2006/relationships/image" Target="../media/image25.png"/><Relationship Id="rId9"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58.png"/><Relationship Id="rId3" Type="http://schemas.openxmlformats.org/officeDocument/2006/relationships/image" Target="../media/image25.png"/><Relationship Id="rId7" Type="http://schemas.openxmlformats.org/officeDocument/2006/relationships/image" Target="../media/image30.png"/><Relationship Id="rId12" Type="http://schemas.openxmlformats.org/officeDocument/2006/relationships/image" Target="../media/image57.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56.png"/><Relationship Id="rId5" Type="http://schemas.openxmlformats.org/officeDocument/2006/relationships/image" Target="../media/image28.png"/><Relationship Id="rId10" Type="http://schemas.openxmlformats.org/officeDocument/2006/relationships/image" Target="../media/image55.png"/><Relationship Id="rId4" Type="http://schemas.openxmlformats.org/officeDocument/2006/relationships/image" Target="../media/image26.png"/><Relationship Id="rId9"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3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30.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3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5.png"/><Relationship Id="rId7" Type="http://schemas.openxmlformats.org/officeDocument/2006/relationships/image" Target="../media/image30.png"/><Relationship Id="rId12" Type="http://schemas.openxmlformats.org/officeDocument/2006/relationships/image" Target="../media/image58.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57.png"/><Relationship Id="rId5" Type="http://schemas.openxmlformats.org/officeDocument/2006/relationships/image" Target="../media/image28.png"/><Relationship Id="rId10" Type="http://schemas.openxmlformats.org/officeDocument/2006/relationships/image" Target="../media/image56.png"/><Relationship Id="rId4" Type="http://schemas.openxmlformats.org/officeDocument/2006/relationships/image" Target="../media/image26.png"/><Relationship Id="rId9" Type="http://schemas.openxmlformats.org/officeDocument/2006/relationships/image" Target="../media/image55.png"/></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s://unipass.customs.go.kr(unipass/" TargetMode="External"/><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7.xml"/><Relationship Id="rId4" Type="http://schemas.openxmlformats.org/officeDocument/2006/relationships/image" Target="../media/image87.png"/></Relationships>
</file>

<file path=ppt/slides/_rels/slide4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4.png"/><Relationship Id="rId7" Type="http://schemas.openxmlformats.org/officeDocument/2006/relationships/hyperlink" Target="https://drwb.amorepacific.com/" TargetMode="External"/><Relationship Id="rId2"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 Id="rId9" Type="http://schemas.openxmlformats.org/officeDocument/2006/relationships/image" Target="../media/image99.png"/></Relationships>
</file>

<file path=ppt/slides/_rels/slide5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hyperlink" Target="https://unipass.customs.go.kr/" TargetMode="External"/><Relationship Id="rId7" Type="http://schemas.openxmlformats.org/officeDocument/2006/relationships/image" Target="../media/image105.png"/><Relationship Id="rId2" Type="http://schemas.openxmlformats.org/officeDocument/2006/relationships/image" Target="../media/image101.png"/><Relationship Id="rId1" Type="http://schemas.openxmlformats.org/officeDocument/2006/relationships/slideLayout" Target="../slideLayouts/slideLayout1.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 Id="rId9" Type="http://schemas.openxmlformats.org/officeDocument/2006/relationships/image" Target="../media/image10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78B5778-D2C9-87E2-F0A4-7E29261811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1"/>
            <a:ext cx="10907713" cy="7775575"/>
          </a:xfrm>
          <a:prstGeom prst="rect">
            <a:avLst/>
          </a:prstGeom>
          <a:noFill/>
          <a:extLst>
            <a:ext uri="{909E8E84-426E-40DD-AFC4-6F175D3DCCD1}">
              <a14:hiddenFill xmlns:a14="http://schemas.microsoft.com/office/drawing/2010/main">
                <a:solidFill>
                  <a:srgbClr val="FFFFFF"/>
                </a:solidFill>
              </a14:hiddenFill>
            </a:ext>
          </a:extLst>
        </p:spPr>
      </p:pic>
      <p:sp>
        <p:nvSpPr>
          <p:cNvPr id="22" name="직사각형 21">
            <a:extLst>
              <a:ext uri="{FF2B5EF4-FFF2-40B4-BE49-F238E27FC236}">
                <a16:creationId xmlns:a16="http://schemas.microsoft.com/office/drawing/2014/main" id="{08DDFC6C-A156-4E90-D234-C305E47B030C}"/>
              </a:ext>
            </a:extLst>
          </p:cNvPr>
          <p:cNvSpPr/>
          <p:nvPr/>
        </p:nvSpPr>
        <p:spPr>
          <a:xfrm>
            <a:off x="-2" y="0"/>
            <a:ext cx="10907713" cy="4679950"/>
          </a:xfrm>
          <a:prstGeom prst="rect">
            <a:avLst/>
          </a:prstGeom>
          <a:solidFill>
            <a:schemeClr val="bg2">
              <a:lumMod val="25000"/>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9" name="그림 18">
            <a:extLst>
              <a:ext uri="{FF2B5EF4-FFF2-40B4-BE49-F238E27FC236}">
                <a16:creationId xmlns:a16="http://schemas.microsoft.com/office/drawing/2014/main" id="{2301D086-568E-487A-A173-413E4EA588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811585"/>
            <a:ext cx="1863485" cy="446400"/>
          </a:xfrm>
          <a:prstGeom prst="rect">
            <a:avLst/>
          </a:prstGeom>
        </p:spPr>
      </p:pic>
      <p:sp>
        <p:nvSpPr>
          <p:cNvPr id="12" name="직사각형 11">
            <a:extLst>
              <a:ext uri="{FF2B5EF4-FFF2-40B4-BE49-F238E27FC236}">
                <a16:creationId xmlns:a16="http://schemas.microsoft.com/office/drawing/2014/main" id="{ABE8D5F3-4E5B-4187-95AF-5B86EE98EB3C}"/>
              </a:ext>
            </a:extLst>
          </p:cNvPr>
          <p:cNvSpPr/>
          <p:nvPr/>
        </p:nvSpPr>
        <p:spPr>
          <a:xfrm>
            <a:off x="457200" y="7164388"/>
            <a:ext cx="9821863" cy="512396"/>
          </a:xfrm>
          <a:prstGeom prst="rect">
            <a:avLst/>
          </a:prstGeom>
        </p:spPr>
        <p:txBody>
          <a:bodyPr wrap="square" lIns="288000" tIns="0" rIns="468000" bIns="0">
            <a:noAutofit/>
          </a:bodyPr>
          <a:lstStyle/>
          <a:p>
            <a:pPr algn="just"/>
            <a:r>
              <a:rPr lang="en-US" altLang="ko-KR" sz="1000" dirty="0">
                <a:solidFill>
                  <a:schemeClr val="bg1"/>
                </a:solidFill>
                <a:latin typeface="KPMG Light" panose="020B0403030202040204" pitchFamily="34" charset="0"/>
              </a:rPr>
              <a:t>This report is prepared solely for the use of Amore, Innisfree, Etude  and should not be used, quoted, referred to or relied upon, in whole or in part, without  KPMG’s prior written permission, by any third party or for any other purposes. We do not assume responsibility for loss and expressly disclaim any liability to any party whatsoever, however arising, out of the use of this report contrary to the purpose of this engagement as set out above. The contents of this presentation do not represent our conclusive findings, which will only be contained in our written report issued under that engagement.</a:t>
            </a:r>
          </a:p>
        </p:txBody>
      </p:sp>
      <p:sp>
        <p:nvSpPr>
          <p:cNvPr id="17" name="직사각형 16">
            <a:extLst>
              <a:ext uri="{FF2B5EF4-FFF2-40B4-BE49-F238E27FC236}">
                <a16:creationId xmlns:a16="http://schemas.microsoft.com/office/drawing/2014/main" id="{93EB01EE-2DCE-4189-8C88-5CC77306E702}"/>
              </a:ext>
            </a:extLst>
          </p:cNvPr>
          <p:cNvSpPr/>
          <p:nvPr/>
        </p:nvSpPr>
        <p:spPr>
          <a:xfrm>
            <a:off x="555234" y="1257985"/>
            <a:ext cx="7763576" cy="769441"/>
          </a:xfrm>
          <a:prstGeom prst="rect">
            <a:avLst/>
          </a:prstGeom>
        </p:spPr>
        <p:txBody>
          <a:bodyPr wrap="square">
            <a:spAutoFit/>
          </a:bodyPr>
          <a:lstStyle/>
          <a:p>
            <a:pPr defTabSz="1036747" fontAlgn="b">
              <a:spcBef>
                <a:spcPct val="50000"/>
              </a:spcBef>
              <a:buClr>
                <a:srgbClr val="1F497D"/>
              </a:buClr>
            </a:pPr>
            <a:r>
              <a:rPr lang="ko-KR" altLang="en-US" sz="4400" b="1" dirty="0" smtClean="0">
                <a:solidFill>
                  <a:schemeClr val="bg1"/>
                </a:solidFill>
                <a:latin typeface="Arita Dotum KR Medium" panose="02020603020101020101" pitchFamily="18" charset="-127"/>
                <a:ea typeface="Arita Dotum KR Medium" panose="02020603020101020101" pitchFamily="18" charset="-127"/>
                <a:cs typeface="Arial" panose="020B0604020202020204" pitchFamily="34" charset="0"/>
              </a:rPr>
              <a:t>관세환급 </a:t>
            </a:r>
            <a:r>
              <a:rPr lang="ko-KR" altLang="en-US" sz="4400" b="1" dirty="0">
                <a:solidFill>
                  <a:schemeClr val="bg1"/>
                </a:solidFill>
                <a:latin typeface="Arita Dotum KR Medium" panose="02020603020101020101" pitchFamily="18" charset="-127"/>
                <a:ea typeface="Arita Dotum KR Medium" panose="02020603020101020101" pitchFamily="18" charset="-127"/>
                <a:cs typeface="Arial" panose="020B0604020202020204" pitchFamily="34" charset="0"/>
              </a:rPr>
              <a:t>시스템 </a:t>
            </a:r>
            <a:r>
              <a:rPr lang="ko-KR" altLang="en-US" sz="4400" b="1" dirty="0" smtClean="0">
                <a:solidFill>
                  <a:schemeClr val="bg1"/>
                </a:solidFill>
                <a:latin typeface="Arita Dotum KR Medium" panose="02020603020101020101" pitchFamily="18" charset="-127"/>
                <a:ea typeface="Arita Dotum KR Medium" panose="02020603020101020101" pitchFamily="18" charset="-127"/>
                <a:cs typeface="Arial" panose="020B0604020202020204" pitchFamily="34" charset="0"/>
              </a:rPr>
              <a:t>사용자 가이드</a:t>
            </a:r>
            <a:endParaRPr lang="en-US" altLang="ko-KR" sz="4400" b="1" dirty="0">
              <a:solidFill>
                <a:schemeClr val="bg1"/>
              </a:solidFill>
              <a:latin typeface="Arita Dotum KR Medium" panose="02020603020101020101" pitchFamily="18" charset="-127"/>
              <a:ea typeface="Arita Dotum KR Medium" panose="02020603020101020101" pitchFamily="18" charset="-127"/>
              <a:cs typeface="Arial" panose="020B0604020202020204" pitchFamily="34" charset="0"/>
            </a:endParaRPr>
          </a:p>
        </p:txBody>
      </p:sp>
      <p:sp>
        <p:nvSpPr>
          <p:cNvPr id="2" name="직사각형 1"/>
          <p:cNvSpPr/>
          <p:nvPr/>
        </p:nvSpPr>
        <p:spPr>
          <a:xfrm>
            <a:off x="-2" y="5805715"/>
            <a:ext cx="10907713" cy="1196413"/>
          </a:xfrm>
          <a:prstGeom prst="rect">
            <a:avLst/>
          </a:prstGeom>
          <a:solidFill>
            <a:schemeClr val="bg1">
              <a:lumMod val="95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F985C7D5-5A6F-4CC7-9BD9-CCA8AA8E2B86}"/>
              </a:ext>
            </a:extLst>
          </p:cNvPr>
          <p:cNvSpPr/>
          <p:nvPr/>
        </p:nvSpPr>
        <p:spPr>
          <a:xfrm>
            <a:off x="628650" y="5754514"/>
            <a:ext cx="5782814" cy="1298817"/>
          </a:xfrm>
          <a:prstGeom prst="rect">
            <a:avLst/>
          </a:prstGeom>
        </p:spPr>
        <p:txBody>
          <a:bodyPr wrap="square">
            <a:spAutoFit/>
          </a:bodyPr>
          <a:lstStyle/>
          <a:p>
            <a:pPr>
              <a:lnSpc>
                <a:spcPct val="150000"/>
              </a:lnSpc>
              <a:spcBef>
                <a:spcPct val="20000"/>
              </a:spcBef>
            </a:pPr>
            <a:r>
              <a:rPr lang="en-US" altLang="ko-KR" sz="1600" dirty="0">
                <a:latin typeface="Arita Dotum KR Medium" panose="02020603020101020101" pitchFamily="18" charset="-127"/>
                <a:ea typeface="Arita Dotum KR Medium" panose="02020603020101020101" pitchFamily="18" charset="-127"/>
              </a:rPr>
              <a:t>2025</a:t>
            </a:r>
            <a:r>
              <a:rPr lang="ko-KR" altLang="en-US" sz="1600" dirty="0">
                <a:latin typeface="Arita Dotum KR Medium" panose="02020603020101020101" pitchFamily="18" charset="-127"/>
                <a:ea typeface="Arita Dotum KR Medium" panose="02020603020101020101" pitchFamily="18" charset="-127"/>
              </a:rPr>
              <a:t>년 </a:t>
            </a:r>
            <a:r>
              <a:rPr lang="en-US" altLang="ko-KR" sz="1600" dirty="0">
                <a:latin typeface="Arita Dotum KR Medium" panose="02020603020101020101" pitchFamily="18" charset="-127"/>
                <a:ea typeface="Arita Dotum KR Medium" panose="02020603020101020101" pitchFamily="18" charset="-127"/>
              </a:rPr>
              <a:t>03</a:t>
            </a:r>
            <a:r>
              <a:rPr lang="ko-KR" altLang="en-US" sz="1600" dirty="0" smtClean="0">
                <a:latin typeface="Arita Dotum KR Medium" panose="02020603020101020101" pitchFamily="18" charset="-127"/>
                <a:ea typeface="Arita Dotum KR Medium" panose="02020603020101020101" pitchFamily="18" charset="-127"/>
              </a:rPr>
              <a:t>월</a:t>
            </a:r>
            <a:endParaRPr lang="en-US" altLang="ko-KR" sz="1600" dirty="0" smtClean="0">
              <a:latin typeface="Arita Dotum KR Medium" panose="02020603020101020101" pitchFamily="18" charset="-127"/>
              <a:ea typeface="Arita Dotum KR Medium" panose="02020603020101020101" pitchFamily="18" charset="-127"/>
            </a:endParaRPr>
          </a:p>
          <a:p>
            <a:pPr>
              <a:lnSpc>
                <a:spcPct val="150000"/>
              </a:lnSpc>
              <a:spcBef>
                <a:spcPct val="20000"/>
              </a:spcBef>
            </a:pPr>
            <a:r>
              <a:rPr lang="en-US" altLang="ko-KR" sz="1600" dirty="0" smtClean="0">
                <a:latin typeface="Arita Dotum KR Medium" panose="02020603020101020101" pitchFamily="18" charset="-127"/>
                <a:ea typeface="Arita Dotum KR Medium" panose="02020603020101020101" pitchFamily="18" charset="-127"/>
              </a:rPr>
              <a:t>KPMG </a:t>
            </a:r>
            <a:r>
              <a:rPr lang="ko-KR" altLang="en-US" sz="1600" dirty="0" err="1">
                <a:latin typeface="Arita Dotum KR Medium" panose="02020603020101020101" pitchFamily="18" charset="-127"/>
                <a:ea typeface="Arita Dotum KR Medium" panose="02020603020101020101" pitchFamily="18" charset="-127"/>
              </a:rPr>
              <a:t>삼정회계법인</a:t>
            </a:r>
            <a:endParaRPr lang="en-US" altLang="ko-KR" sz="1600" dirty="0">
              <a:latin typeface="Arita Dotum KR Medium" panose="02020603020101020101" pitchFamily="18" charset="-127"/>
              <a:ea typeface="Arita Dotum KR Medium" panose="02020603020101020101" pitchFamily="18" charset="-127"/>
            </a:endParaRPr>
          </a:p>
          <a:p>
            <a:pPr>
              <a:lnSpc>
                <a:spcPct val="150000"/>
              </a:lnSpc>
              <a:spcBef>
                <a:spcPct val="20000"/>
              </a:spcBef>
            </a:pPr>
            <a:r>
              <a:rPr lang="en-US" altLang="ko-KR" sz="1600" dirty="0">
                <a:latin typeface="Arita Dotum KR Medium" panose="02020603020101020101" pitchFamily="18" charset="-127"/>
                <a:ea typeface="Arita Dotum KR Medium" panose="02020603020101020101" pitchFamily="18" charset="-127"/>
              </a:rPr>
              <a:t>MC2</a:t>
            </a:r>
          </a:p>
        </p:txBody>
      </p:sp>
    </p:spTree>
    <p:extLst>
      <p:ext uri="{BB962C8B-B14F-4D97-AF65-F5344CB8AC3E}">
        <p14:creationId xmlns:p14="http://schemas.microsoft.com/office/powerpoint/2010/main" val="15020692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시스템 접속 및 로그인</a:t>
            </a:r>
            <a:endParaRPr lang="ko-KR" altLang="en-US" dirty="0">
              <a:latin typeface="Arita Dotum KR Medium" panose="02020603020101020101" pitchFamily="18" charset="-127"/>
              <a:ea typeface="Arita Dotum KR Medium" panose="02020603020101020101" pitchFamily="18" charset="-127"/>
            </a:endParaRPr>
          </a:p>
        </p:txBody>
      </p:sp>
      <p:sp>
        <p:nvSpPr>
          <p:cNvPr id="82" name="TextBox 81">
            <a:extLst>
              <a:ext uri="{FF2B5EF4-FFF2-40B4-BE49-F238E27FC236}">
                <a16:creationId xmlns:a16="http://schemas.microsoft.com/office/drawing/2014/main" id="{B90186AB-10F7-0A0A-4756-EF3C110F88A1}"/>
              </a:ext>
            </a:extLst>
          </p:cNvPr>
          <p:cNvSpPr txBox="1"/>
          <p:nvPr/>
        </p:nvSpPr>
        <p:spPr>
          <a:xfrm>
            <a:off x="4767805" y="1688222"/>
            <a:ext cx="5773815"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https://drwb.amorepacific.com</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grpSp>
        <p:nvGrpSpPr>
          <p:cNvPr id="5" name="그룹 4"/>
          <p:cNvGrpSpPr/>
          <p:nvPr/>
        </p:nvGrpSpPr>
        <p:grpSpPr>
          <a:xfrm>
            <a:off x="939839" y="4727883"/>
            <a:ext cx="2924583" cy="2295845"/>
            <a:chOff x="3991564" y="1342244"/>
            <a:chExt cx="2924583" cy="2295845"/>
          </a:xfrm>
        </p:grpSpPr>
        <p:pic>
          <p:nvPicPr>
            <p:cNvPr id="3" name="그림 2"/>
            <p:cNvPicPr>
              <a:picLocks noChangeAspect="1"/>
            </p:cNvPicPr>
            <p:nvPr/>
          </p:nvPicPr>
          <p:blipFill>
            <a:blip r:embed="rId2"/>
            <a:stretch>
              <a:fillRect/>
            </a:stretch>
          </p:blipFill>
          <p:spPr>
            <a:xfrm>
              <a:off x="3991564" y="1342244"/>
              <a:ext cx="2924583" cy="2295845"/>
            </a:xfrm>
            <a:prstGeom prst="rect">
              <a:avLst/>
            </a:prstGeom>
          </p:spPr>
        </p:pic>
        <p:pic>
          <p:nvPicPr>
            <p:cNvPr id="13" name="그림 12"/>
            <p:cNvPicPr>
              <a:picLocks noChangeAspect="1"/>
            </p:cNvPicPr>
            <p:nvPr/>
          </p:nvPicPr>
          <p:blipFill rotWithShape="1">
            <a:blip r:embed="rId2"/>
            <a:srcRect l="21880" t="86764" r="52700" b="1579"/>
            <a:stretch/>
          </p:blipFill>
          <p:spPr>
            <a:xfrm>
              <a:off x="4572000" y="3166945"/>
              <a:ext cx="743415" cy="267630"/>
            </a:xfrm>
            <a:prstGeom prst="rect">
              <a:avLst/>
            </a:prstGeom>
          </p:spPr>
        </p:pic>
      </p:grpSp>
      <p:pic>
        <p:nvPicPr>
          <p:cNvPr id="6" name="그림 5"/>
          <p:cNvPicPr>
            <a:picLocks noChangeAspect="1"/>
          </p:cNvPicPr>
          <p:nvPr/>
        </p:nvPicPr>
        <p:blipFill>
          <a:blip r:embed="rId3"/>
          <a:stretch>
            <a:fillRect/>
          </a:stretch>
        </p:blipFill>
        <p:spPr>
          <a:xfrm>
            <a:off x="649287" y="1262471"/>
            <a:ext cx="3505689" cy="1066949"/>
          </a:xfrm>
          <a:prstGeom prst="rect">
            <a:avLst/>
          </a:prstGeom>
        </p:spPr>
      </p:pic>
      <p:sp>
        <p:nvSpPr>
          <p:cNvPr id="18" name="TextBox 17">
            <a:extLst>
              <a:ext uri="{FF2B5EF4-FFF2-40B4-BE49-F238E27FC236}">
                <a16:creationId xmlns:a16="http://schemas.microsoft.com/office/drawing/2014/main" id="{B90186AB-10F7-0A0A-4756-EF3C110F88A1}"/>
              </a:ext>
            </a:extLst>
          </p:cNvPr>
          <p:cNvSpPr txBox="1"/>
          <p:nvPr/>
        </p:nvSpPr>
        <p:spPr>
          <a:xfrm>
            <a:off x="4767805" y="5149027"/>
            <a:ext cx="5773815"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marL="285750" lvl="0" indent="-285750" latinLnBrk="1">
              <a:lnSpc>
                <a:spcPct val="100000"/>
              </a:lnSpc>
              <a:buFont typeface="Arial" panose="020B0604020202020204" pitchFamily="34" charset="0"/>
              <a:buChar char="•"/>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Login ID /PW</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는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IAM</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을 통해서 생성 및 관리됩니다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marL="285750" lvl="0" indent="-285750" latinLnBrk="1">
              <a:lnSpc>
                <a:spcPct val="100000"/>
              </a:lnSpc>
              <a:buFont typeface="Arial" panose="020B0604020202020204" pitchFamily="34" charset="0"/>
              <a:buChar char="•"/>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패스워드 변경 및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잠금해제의</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경우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IAM</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을 이용하여 진행할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1" name="모서리가 둥근 직사각형 10"/>
          <p:cNvSpPr/>
          <p:nvPr/>
        </p:nvSpPr>
        <p:spPr>
          <a:xfrm>
            <a:off x="4767805"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rPr>
              <a:t>시스템 접속 </a:t>
            </a:r>
            <a:r>
              <a:rPr lang="en-US" altLang="ko-KR" sz="1400" dirty="0">
                <a:solidFill>
                  <a:schemeClr val="bg1"/>
                </a:solidFill>
              </a:rPr>
              <a:t>URL</a:t>
            </a:r>
          </a:p>
        </p:txBody>
      </p:sp>
      <p:sp>
        <p:nvSpPr>
          <p:cNvPr id="12" name="모서리가 둥근 직사각형 11"/>
          <p:cNvSpPr/>
          <p:nvPr/>
        </p:nvSpPr>
        <p:spPr>
          <a:xfrm>
            <a:off x="4767805" y="472788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rPr>
              <a:t>시스템 </a:t>
            </a:r>
            <a:r>
              <a:rPr lang="en-US" altLang="ko-KR" sz="1400" dirty="0" smtClean="0">
                <a:solidFill>
                  <a:schemeClr val="bg1"/>
                </a:solidFill>
              </a:rPr>
              <a:t>Login</a:t>
            </a:r>
            <a:endParaRPr lang="en-US" altLang="ko-KR" sz="1400" dirty="0">
              <a:solidFill>
                <a:schemeClr val="bg1"/>
              </a:solidFill>
            </a:endParaRPr>
          </a:p>
        </p:txBody>
      </p:sp>
      <p:cxnSp>
        <p:nvCxnSpPr>
          <p:cNvPr id="14" name="직선 연결선 13"/>
          <p:cNvCxnSpPr/>
          <p:nvPr/>
        </p:nvCxnSpPr>
        <p:spPr>
          <a:xfrm flipH="1">
            <a:off x="797335" y="2522921"/>
            <a:ext cx="9552878"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직선 연결선 14"/>
          <p:cNvCxnSpPr/>
          <p:nvPr/>
        </p:nvCxnSpPr>
        <p:spPr>
          <a:xfrm flipH="1">
            <a:off x="797335" y="4537575"/>
            <a:ext cx="9552878"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4" name="그림 3"/>
          <p:cNvPicPr>
            <a:picLocks noChangeAspect="1"/>
          </p:cNvPicPr>
          <p:nvPr/>
        </p:nvPicPr>
        <p:blipFill rotWithShape="1">
          <a:blip r:embed="rId4"/>
          <a:srcRect r="16214"/>
          <a:stretch/>
        </p:blipFill>
        <p:spPr>
          <a:xfrm>
            <a:off x="649288" y="3129637"/>
            <a:ext cx="3647650" cy="685896"/>
          </a:xfrm>
          <a:prstGeom prst="rect">
            <a:avLst/>
          </a:prstGeom>
        </p:spPr>
      </p:pic>
      <p:sp>
        <p:nvSpPr>
          <p:cNvPr id="17" name="TextBox 16">
            <a:extLst>
              <a:ext uri="{FF2B5EF4-FFF2-40B4-BE49-F238E27FC236}">
                <a16:creationId xmlns:a16="http://schemas.microsoft.com/office/drawing/2014/main" id="{B90186AB-10F7-0A0A-4756-EF3C110F88A1}"/>
              </a:ext>
            </a:extLst>
          </p:cNvPr>
          <p:cNvSpPr txBox="1"/>
          <p:nvPr/>
        </p:nvSpPr>
        <p:spPr>
          <a:xfrm>
            <a:off x="4767805" y="3506935"/>
            <a:ext cx="5773815"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https://drwb.amorepacific.com</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접속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URL</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은 동일하지만 별도 설정을 수행하여 접속 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설정 방법은 부록을 참고 부탁드립니다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19" name="모서리가 둥근 직사각형 18"/>
          <p:cNvSpPr/>
          <p:nvPr/>
        </p:nvSpPr>
        <p:spPr>
          <a:xfrm>
            <a:off x="4767805" y="3068730"/>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rPr>
              <a:t>시스템 접속 </a:t>
            </a:r>
            <a:r>
              <a:rPr lang="en-US" altLang="ko-KR" sz="1400" dirty="0">
                <a:solidFill>
                  <a:schemeClr val="bg1"/>
                </a:solidFill>
              </a:rPr>
              <a:t>URL</a:t>
            </a:r>
          </a:p>
        </p:txBody>
      </p:sp>
      <p:sp>
        <p:nvSpPr>
          <p:cNvPr id="20" name="모서리가 둥근 직사각형 19"/>
          <p:cNvSpPr/>
          <p:nvPr/>
        </p:nvSpPr>
        <p:spPr>
          <a:xfrm>
            <a:off x="7902050" y="3068730"/>
            <a:ext cx="1227081" cy="319668"/>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smtClean="0">
                <a:solidFill>
                  <a:schemeClr val="bg1"/>
                </a:solidFill>
              </a:rPr>
              <a:t>      IE Mode</a:t>
            </a:r>
            <a:endParaRPr lang="en-US" altLang="ko-KR" sz="1400" dirty="0">
              <a:solidFill>
                <a:schemeClr val="bg1"/>
              </a:solidFill>
            </a:endParaRPr>
          </a:p>
        </p:txBody>
      </p:sp>
      <p:pic>
        <p:nvPicPr>
          <p:cNvPr id="21" name="그림 20"/>
          <p:cNvPicPr>
            <a:picLocks noChangeAspect="1"/>
          </p:cNvPicPr>
          <p:nvPr/>
        </p:nvPicPr>
        <p:blipFill rotWithShape="1">
          <a:blip r:embed="rId4"/>
          <a:srcRect l="25229" t="62644" r="69783" b="9582"/>
          <a:stretch/>
        </p:blipFill>
        <p:spPr>
          <a:xfrm>
            <a:off x="8076277" y="3137256"/>
            <a:ext cx="217170" cy="190501"/>
          </a:xfrm>
          <a:prstGeom prst="rect">
            <a:avLst/>
          </a:prstGeom>
        </p:spPr>
      </p:pic>
    </p:spTree>
    <p:extLst>
      <p:ext uri="{BB962C8B-B14F-4D97-AF65-F5344CB8AC3E}">
        <p14:creationId xmlns:p14="http://schemas.microsoft.com/office/powerpoint/2010/main" val="35143307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대시보드</a:t>
            </a:r>
            <a:r>
              <a:rPr lang="en-US" altLang="ko-KR" dirty="0" smtClean="0">
                <a:latin typeface="Arita Dotum KR Medium" panose="02020603020101020101" pitchFamily="18" charset="-127"/>
                <a:ea typeface="Arita Dotum KR Medium" panose="02020603020101020101" pitchFamily="18" charset="-127"/>
              </a:rPr>
              <a:t>(</a:t>
            </a:r>
            <a:r>
              <a:rPr lang="ko-KR" altLang="en-US" dirty="0" err="1" smtClean="0">
                <a:latin typeface="Arita Dotum KR Medium" panose="02020603020101020101" pitchFamily="18" charset="-127"/>
                <a:ea typeface="Arita Dotum KR Medium" panose="02020603020101020101" pitchFamily="18" charset="-127"/>
              </a:rPr>
              <a:t>일반모드</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pic>
        <p:nvPicPr>
          <p:cNvPr id="2" name="그림 1"/>
          <p:cNvPicPr>
            <a:picLocks noChangeAspect="1"/>
          </p:cNvPicPr>
          <p:nvPr/>
        </p:nvPicPr>
        <p:blipFill rotWithShape="1">
          <a:blip r:embed="rId2"/>
          <a:srcRect l="747"/>
          <a:stretch/>
        </p:blipFill>
        <p:spPr>
          <a:xfrm>
            <a:off x="535258" y="1250112"/>
            <a:ext cx="6753997" cy="3500308"/>
          </a:xfrm>
          <a:prstGeom prst="rect">
            <a:avLst/>
          </a:prstGeom>
        </p:spPr>
      </p:pic>
      <p:sp>
        <p:nvSpPr>
          <p:cNvPr id="4" name="직사각형 3"/>
          <p:cNvSpPr/>
          <p:nvPr/>
        </p:nvSpPr>
        <p:spPr>
          <a:xfrm>
            <a:off x="535258" y="1642946"/>
            <a:ext cx="4958576" cy="1546303"/>
          </a:xfrm>
          <a:prstGeom prst="rect">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p:cNvSpPr/>
          <p:nvPr/>
        </p:nvSpPr>
        <p:spPr>
          <a:xfrm>
            <a:off x="535258" y="3352801"/>
            <a:ext cx="2772937" cy="1397620"/>
          </a:xfrm>
          <a:prstGeom prst="rect">
            <a:avLst/>
          </a:prstGeom>
          <a:solidFill>
            <a:schemeClr val="accent5">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p:cNvSpPr/>
          <p:nvPr/>
        </p:nvSpPr>
        <p:spPr>
          <a:xfrm>
            <a:off x="3367669" y="3352801"/>
            <a:ext cx="2207942" cy="1397620"/>
          </a:xfrm>
          <a:prstGeom prst="rect">
            <a:avLst/>
          </a:prstGeom>
          <a:solidFill>
            <a:srgbClr val="FF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p:cNvSpPr/>
          <p:nvPr/>
        </p:nvSpPr>
        <p:spPr>
          <a:xfrm>
            <a:off x="5635085" y="3352801"/>
            <a:ext cx="1654170" cy="1397620"/>
          </a:xfrm>
          <a:prstGeom prst="rect">
            <a:avLst/>
          </a:prstGeom>
          <a:solidFill>
            <a:srgbClr val="92D05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p:cNvSpPr/>
          <p:nvPr/>
        </p:nvSpPr>
        <p:spPr>
          <a:xfrm>
            <a:off x="5575611" y="1642946"/>
            <a:ext cx="1713644" cy="914400"/>
          </a:xfrm>
          <a:prstGeom prst="rect">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p:cNvSpPr/>
          <p:nvPr/>
        </p:nvSpPr>
        <p:spPr>
          <a:xfrm>
            <a:off x="7515921" y="1250112"/>
            <a:ext cx="324000" cy="216000"/>
          </a:xfrm>
          <a:prstGeom prst="rect">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p:cNvSpPr/>
          <p:nvPr/>
        </p:nvSpPr>
        <p:spPr>
          <a:xfrm>
            <a:off x="7515922" y="1589276"/>
            <a:ext cx="324000" cy="216000"/>
          </a:xfrm>
          <a:prstGeom prst="rect">
            <a:avLst/>
          </a:prstGeom>
          <a:solidFill>
            <a:schemeClr val="accent5">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p:cNvSpPr/>
          <p:nvPr/>
        </p:nvSpPr>
        <p:spPr>
          <a:xfrm>
            <a:off x="7515921" y="1928440"/>
            <a:ext cx="324000" cy="216000"/>
          </a:xfrm>
          <a:prstGeom prst="rect">
            <a:avLst/>
          </a:prstGeom>
          <a:solidFill>
            <a:srgbClr val="FF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7515921" y="2606768"/>
            <a:ext cx="324000" cy="216000"/>
          </a:xfrm>
          <a:prstGeom prst="rect">
            <a:avLst/>
          </a:prstGeom>
          <a:solidFill>
            <a:srgbClr val="92D05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p:cNvSpPr/>
          <p:nvPr/>
        </p:nvSpPr>
        <p:spPr>
          <a:xfrm>
            <a:off x="7515921" y="2267604"/>
            <a:ext cx="324000" cy="216000"/>
          </a:xfrm>
          <a:prstGeom prst="rect">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B90186AB-10F7-0A0A-4756-EF3C110F88A1}"/>
              </a:ext>
            </a:extLst>
          </p:cNvPr>
          <p:cNvSpPr txBox="1"/>
          <p:nvPr/>
        </p:nvSpPr>
        <p:spPr>
          <a:xfrm>
            <a:off x="7934627" y="1250112"/>
            <a:ext cx="2785412"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월별 환급액</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분증</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기납증</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추이 그래프</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4" name="TextBox 23">
            <a:extLst>
              <a:ext uri="{FF2B5EF4-FFF2-40B4-BE49-F238E27FC236}">
                <a16:creationId xmlns:a16="http://schemas.microsoft.com/office/drawing/2014/main" id="{B90186AB-10F7-0A0A-4756-EF3C110F88A1}"/>
              </a:ext>
            </a:extLst>
          </p:cNvPr>
          <p:cNvSpPr txBox="1"/>
          <p:nvPr/>
        </p:nvSpPr>
        <p:spPr>
          <a:xfrm>
            <a:off x="7934627" y="1589415"/>
            <a:ext cx="2785412"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분기별 수출거래구분 실적 그래프</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5" name="TextBox 24">
            <a:extLst>
              <a:ext uri="{FF2B5EF4-FFF2-40B4-BE49-F238E27FC236}">
                <a16:creationId xmlns:a16="http://schemas.microsoft.com/office/drawing/2014/main" id="{B90186AB-10F7-0A0A-4756-EF3C110F88A1}"/>
              </a:ext>
            </a:extLst>
          </p:cNvPr>
          <p:cNvSpPr txBox="1"/>
          <p:nvPr/>
        </p:nvSpPr>
        <p:spPr>
          <a:xfrm>
            <a:off x="7934627" y="1928718"/>
            <a:ext cx="2785412"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환율정보</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6" name="TextBox 25">
            <a:extLst>
              <a:ext uri="{FF2B5EF4-FFF2-40B4-BE49-F238E27FC236}">
                <a16:creationId xmlns:a16="http://schemas.microsoft.com/office/drawing/2014/main" id="{B90186AB-10F7-0A0A-4756-EF3C110F88A1}"/>
              </a:ext>
            </a:extLst>
          </p:cNvPr>
          <p:cNvSpPr txBox="1"/>
          <p:nvPr/>
        </p:nvSpPr>
        <p:spPr>
          <a:xfrm>
            <a:off x="7934627" y="2268021"/>
            <a:ext cx="2785412"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연동 프로그램 및 가이드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7" name="TextBox 26">
            <a:extLst>
              <a:ext uri="{FF2B5EF4-FFF2-40B4-BE49-F238E27FC236}">
                <a16:creationId xmlns:a16="http://schemas.microsoft.com/office/drawing/2014/main" id="{B90186AB-10F7-0A0A-4756-EF3C110F88A1}"/>
              </a:ext>
            </a:extLst>
          </p:cNvPr>
          <p:cNvSpPr txBox="1"/>
          <p:nvPr/>
        </p:nvSpPr>
        <p:spPr>
          <a:xfrm>
            <a:off x="7934627" y="2607324"/>
            <a:ext cx="2785412"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환급업무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관련 사이트 모음</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3530324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p:cNvPicPr>
            <a:picLocks noChangeAspect="1"/>
          </p:cNvPicPr>
          <p:nvPr/>
        </p:nvPicPr>
        <p:blipFill>
          <a:blip r:embed="rId2"/>
          <a:stretch>
            <a:fillRect/>
          </a:stretch>
        </p:blipFill>
        <p:spPr>
          <a:xfrm>
            <a:off x="1126530" y="1222421"/>
            <a:ext cx="8248220" cy="3528000"/>
          </a:xfrm>
          <a:prstGeom prst="rect">
            <a:avLst/>
          </a:prstGeom>
        </p:spPr>
      </p:pic>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대시보드</a:t>
            </a:r>
            <a:r>
              <a:rPr lang="en-US" altLang="ko-KR" dirty="0">
                <a:latin typeface="Arita Dotum KR Medium" panose="02020603020101020101" pitchFamily="18" charset="-127"/>
                <a:ea typeface="Arita Dotum KR Medium" panose="02020603020101020101" pitchFamily="18" charset="-127"/>
              </a:rPr>
              <a:t>(Internet Explorer </a:t>
            </a:r>
            <a:r>
              <a:rPr lang="ko-KR" altLang="en-US" dirty="0" smtClean="0">
                <a:latin typeface="Arita Dotum KR Medium" panose="02020603020101020101" pitchFamily="18" charset="-127"/>
                <a:ea typeface="Arita Dotum KR Medium" panose="02020603020101020101" pitchFamily="18" charset="-127"/>
              </a:rPr>
              <a:t>모드</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14" name="직사각형 13"/>
          <p:cNvSpPr/>
          <p:nvPr/>
        </p:nvSpPr>
        <p:spPr>
          <a:xfrm>
            <a:off x="1132026" y="1480438"/>
            <a:ext cx="4057008" cy="3195639"/>
          </a:xfrm>
          <a:prstGeom prst="rect">
            <a:avLst/>
          </a:prstGeom>
          <a:solidFill>
            <a:srgbClr val="FF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p:cNvSpPr/>
          <p:nvPr/>
        </p:nvSpPr>
        <p:spPr>
          <a:xfrm>
            <a:off x="5300548" y="1990158"/>
            <a:ext cx="4074202" cy="849686"/>
          </a:xfrm>
          <a:prstGeom prst="rect">
            <a:avLst/>
          </a:prstGeom>
          <a:solidFill>
            <a:srgbClr val="92D05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p:cNvSpPr/>
          <p:nvPr/>
        </p:nvSpPr>
        <p:spPr>
          <a:xfrm>
            <a:off x="5300548" y="1477322"/>
            <a:ext cx="4074202" cy="512836"/>
          </a:xfrm>
          <a:prstGeom prst="rect">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p:cNvSpPr/>
          <p:nvPr/>
        </p:nvSpPr>
        <p:spPr>
          <a:xfrm>
            <a:off x="1194502" y="4850986"/>
            <a:ext cx="324000" cy="216000"/>
          </a:xfrm>
          <a:prstGeom prst="rect">
            <a:avLst/>
          </a:prstGeom>
          <a:solidFill>
            <a:srgbClr val="FF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6921190" y="4850986"/>
            <a:ext cx="324000" cy="216000"/>
          </a:xfrm>
          <a:prstGeom prst="rect">
            <a:avLst/>
          </a:prstGeom>
          <a:solidFill>
            <a:srgbClr val="92D05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p:cNvSpPr/>
          <p:nvPr/>
        </p:nvSpPr>
        <p:spPr>
          <a:xfrm>
            <a:off x="3717072" y="4851264"/>
            <a:ext cx="324000" cy="216000"/>
          </a:xfrm>
          <a:prstGeom prst="rect">
            <a:avLst/>
          </a:prstGeom>
          <a:solidFill>
            <a:schemeClr val="accent2">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B90186AB-10F7-0A0A-4756-EF3C110F88A1}"/>
              </a:ext>
            </a:extLst>
          </p:cNvPr>
          <p:cNvSpPr txBox="1"/>
          <p:nvPr/>
        </p:nvSpPr>
        <p:spPr>
          <a:xfrm>
            <a:off x="1613208" y="4851264"/>
            <a:ext cx="2785412"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환율정보</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6" name="TextBox 25">
            <a:extLst>
              <a:ext uri="{FF2B5EF4-FFF2-40B4-BE49-F238E27FC236}">
                <a16:creationId xmlns:a16="http://schemas.microsoft.com/office/drawing/2014/main" id="{B90186AB-10F7-0A0A-4756-EF3C110F88A1}"/>
              </a:ext>
            </a:extLst>
          </p:cNvPr>
          <p:cNvSpPr txBox="1"/>
          <p:nvPr/>
        </p:nvSpPr>
        <p:spPr>
          <a:xfrm>
            <a:off x="4135778" y="4851681"/>
            <a:ext cx="2785412"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연동 프로그램 및 가이드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7" name="TextBox 26">
            <a:extLst>
              <a:ext uri="{FF2B5EF4-FFF2-40B4-BE49-F238E27FC236}">
                <a16:creationId xmlns:a16="http://schemas.microsoft.com/office/drawing/2014/main" id="{B90186AB-10F7-0A0A-4756-EF3C110F88A1}"/>
              </a:ext>
            </a:extLst>
          </p:cNvPr>
          <p:cNvSpPr txBox="1"/>
          <p:nvPr/>
        </p:nvSpPr>
        <p:spPr>
          <a:xfrm>
            <a:off x="7339896" y="4851542"/>
            <a:ext cx="2785412"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환급업무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관련 사이트 모음</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42824500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484454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수출매출확정</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748322"/>
            <a:ext cx="3005662"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기준년월</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수출일자</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기준으로 조회된 수출 실적 데이터를 바탕으로 환급대상이 되는 데이터를 조회할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3" name="그림 2"/>
          <p:cNvPicPr>
            <a:picLocks noChangeAspect="1"/>
          </p:cNvPicPr>
          <p:nvPr/>
        </p:nvPicPr>
        <p:blipFill>
          <a:blip r:embed="rId2"/>
          <a:stretch>
            <a:fillRect/>
          </a:stretch>
        </p:blipFill>
        <p:spPr>
          <a:xfrm>
            <a:off x="536550" y="1305148"/>
            <a:ext cx="6843392" cy="3544547"/>
          </a:xfrm>
          <a:prstGeom prst="rect">
            <a:avLst/>
          </a:prstGeom>
        </p:spPr>
      </p:pic>
      <p:pic>
        <p:nvPicPr>
          <p:cNvPr id="5" name="그림 4"/>
          <p:cNvPicPr>
            <a:picLocks noChangeAspect="1"/>
          </p:cNvPicPr>
          <p:nvPr/>
        </p:nvPicPr>
        <p:blipFill rotWithShape="1">
          <a:blip r:embed="rId3"/>
          <a:srcRect l="50126" t="-1" b="-674"/>
          <a:stretch/>
        </p:blipFill>
        <p:spPr>
          <a:xfrm>
            <a:off x="702038" y="6016423"/>
            <a:ext cx="1111772" cy="287714"/>
          </a:xfrm>
          <a:prstGeom prst="rect">
            <a:avLst/>
          </a:prstGeom>
        </p:spPr>
      </p:pic>
      <p:pic>
        <p:nvPicPr>
          <p:cNvPr id="28" name="그림 27"/>
          <p:cNvPicPr>
            <a:picLocks noChangeAspect="1"/>
          </p:cNvPicPr>
          <p:nvPr/>
        </p:nvPicPr>
        <p:blipFill rotWithShape="1">
          <a:blip r:embed="rId3"/>
          <a:srcRect t="-1" r="50541" b="-882"/>
          <a:stretch/>
        </p:blipFill>
        <p:spPr>
          <a:xfrm>
            <a:off x="702038" y="5525189"/>
            <a:ext cx="1102521" cy="288313"/>
          </a:xfrm>
          <a:prstGeom prst="rect">
            <a:avLst/>
          </a:prstGeom>
        </p:spPr>
      </p:pic>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rPr>
              <a:t>프로그램 개요</a:t>
            </a:r>
          </a:p>
        </p:txBody>
      </p:sp>
      <p:sp>
        <p:nvSpPr>
          <p:cNvPr id="7" name="직사각형 6"/>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31" name="직선 연결선 30"/>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90186AB-10F7-0A0A-4756-EF3C110F88A1}"/>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선택한 수출데이터를 기초로 환급신청서를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34" name="TextBox 33">
            <a:extLst>
              <a:ext uri="{FF2B5EF4-FFF2-40B4-BE49-F238E27FC236}">
                <a16:creationId xmlns:a16="http://schemas.microsoft.com/office/drawing/2014/main" id="{B90186AB-10F7-0A0A-4756-EF3C110F88A1}"/>
              </a:ext>
            </a:extLst>
          </p:cNvPr>
          <p:cNvSpPr txBox="1"/>
          <p:nvPr/>
        </p:nvSpPr>
        <p:spPr>
          <a:xfrm>
            <a:off x="2045681" y="5960545"/>
            <a:ext cx="8297990"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생성한 환급신청서를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삭제처리합니다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환급신청서의 생성 여부는 내부관리번호 필드의 값으로 확인할 수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값이 존재하는 경우 신청서가 생성된 데이터입니다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35" name="직선 연결선 34"/>
          <p:cNvCxnSpPr/>
          <p:nvPr/>
        </p:nvCxnSpPr>
        <p:spPr>
          <a:xfrm flipH="1">
            <a:off x="536550" y="6508513"/>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B90186AB-10F7-0A0A-4756-EF3C110F88A1}"/>
              </a:ext>
            </a:extLst>
          </p:cNvPr>
          <p:cNvSpPr txBox="1"/>
          <p:nvPr/>
        </p:nvSpPr>
        <p:spPr>
          <a:xfrm>
            <a:off x="7558259" y="3362441"/>
            <a:ext cx="3005662"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더블클릭하여 수출 상세 데이터를 확인 하거나 생성될 환급신청서의 내역을 확인할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37" name="TextBox 36">
            <a:extLst>
              <a:ext uri="{FF2B5EF4-FFF2-40B4-BE49-F238E27FC236}">
                <a16:creationId xmlns:a16="http://schemas.microsoft.com/office/drawing/2014/main" id="{B90186AB-10F7-0A0A-4756-EF3C110F88A1}"/>
              </a:ext>
            </a:extLst>
          </p:cNvPr>
          <p:cNvSpPr txBox="1"/>
          <p:nvPr/>
        </p:nvSpPr>
        <p:spPr>
          <a:xfrm>
            <a:off x="7558259" y="2619456"/>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생성되는 환금신청서는 현재 잔량에서 가용 가능한 최대치의 환급신청서를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6" name="TextBox 15">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환급관리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1691620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수출매출확정</a:t>
            </a:r>
            <a:r>
              <a:rPr lang="en-US" altLang="ko-KR" dirty="0" smtClean="0">
                <a:latin typeface="Arita Dotum KR Medium" panose="02020603020101020101" pitchFamily="18" charset="-127"/>
                <a:ea typeface="Arita Dotum KR Medium" panose="02020603020101020101" pitchFamily="18" charset="-127"/>
              </a:rPr>
              <a:t>(</a:t>
            </a:r>
            <a:r>
              <a:rPr lang="ko-KR" altLang="en-US" dirty="0" smtClean="0">
                <a:latin typeface="Arita Dotum KR Medium" panose="02020603020101020101" pitchFamily="18" charset="-127"/>
                <a:ea typeface="Arita Dotum KR Medium" panose="02020603020101020101" pitchFamily="18" charset="-127"/>
              </a:rPr>
              <a:t>상세</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856044"/>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선택한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수출건에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대해서 확정 건수 및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미확정건수</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수출 내역을 확인할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7" name="직사각형 6"/>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31" name="직선 연결선 30"/>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90186AB-10F7-0A0A-4756-EF3C110F88A1}"/>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수출데이터를 기초로 환급신청서를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4" name="그림 3"/>
          <p:cNvPicPr>
            <a:picLocks noChangeAspect="1"/>
          </p:cNvPicPr>
          <p:nvPr/>
        </p:nvPicPr>
        <p:blipFill>
          <a:blip r:embed="rId2"/>
          <a:stretch>
            <a:fillRect/>
          </a:stretch>
        </p:blipFill>
        <p:spPr>
          <a:xfrm>
            <a:off x="536550" y="1345051"/>
            <a:ext cx="6801873" cy="3546000"/>
          </a:xfrm>
          <a:prstGeom prst="rect">
            <a:avLst/>
          </a:prstGeom>
        </p:spPr>
      </p:pic>
      <p:pic>
        <p:nvPicPr>
          <p:cNvPr id="6" name="그림 5"/>
          <p:cNvPicPr>
            <a:picLocks noChangeAspect="1"/>
          </p:cNvPicPr>
          <p:nvPr/>
        </p:nvPicPr>
        <p:blipFill>
          <a:blip r:embed="rId3"/>
          <a:stretch>
            <a:fillRect/>
          </a:stretch>
        </p:blipFill>
        <p:spPr>
          <a:xfrm>
            <a:off x="886535" y="5545254"/>
            <a:ext cx="733527" cy="276264"/>
          </a:xfrm>
          <a:prstGeom prst="rect">
            <a:avLst/>
          </a:prstGeom>
        </p:spPr>
      </p:pic>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환급관리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5618449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환급신청</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913301"/>
            <a:ext cx="3005662" cy="2154436"/>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수출매출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확정 프로그램에서 생성된 환급신청서를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전송할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환급신청서의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수출건을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제외할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후 필요한 서류에 대해서 출력할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UNIPASS </a:t>
            </a:r>
            <a:r>
              <a:rPr lang="ko-KR" altLang="en-US"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전송 및 수신은 </a:t>
            </a:r>
            <a:r>
              <a:rPr lang="en-US" altLang="ko-KR"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IE</a:t>
            </a:r>
            <a:r>
              <a:rPr lang="ko-KR" altLang="en-US"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모드에서만 가능합니다</a:t>
            </a:r>
            <a:r>
              <a:rPr lang="en-US" altLang="ko-KR"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부록</a:t>
            </a:r>
            <a:r>
              <a:rPr lang="en-US" altLang="ko-KR"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1 </a:t>
            </a:r>
            <a:r>
              <a:rPr lang="ko-KR" altLang="en-US"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참조</a:t>
            </a:r>
            <a:r>
              <a:rPr lang="en-US" altLang="ko-KR"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7" name="직사각형 6"/>
          <p:cNvSpPr/>
          <p:nvPr/>
        </p:nvSpPr>
        <p:spPr>
          <a:xfrm>
            <a:off x="536550" y="4796754"/>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4796754"/>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31" name="직선 연결선 30"/>
          <p:cNvCxnSpPr/>
          <p:nvPr/>
        </p:nvCxnSpPr>
        <p:spPr>
          <a:xfrm flipH="1">
            <a:off x="536550" y="7245632"/>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90186AB-10F7-0A0A-4756-EF3C110F88A1}"/>
              </a:ext>
            </a:extLst>
          </p:cNvPr>
          <p:cNvSpPr txBox="1"/>
          <p:nvPr/>
        </p:nvSpPr>
        <p:spPr>
          <a:xfrm>
            <a:off x="2045681" y="5160737"/>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선택한 환급신청서를 공인인증서 인증을 통해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전송합니다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pic>
        <p:nvPicPr>
          <p:cNvPr id="2" name="그림 1"/>
          <p:cNvPicPr>
            <a:picLocks noChangeAspect="1"/>
          </p:cNvPicPr>
          <p:nvPr/>
        </p:nvPicPr>
        <p:blipFill>
          <a:blip r:embed="rId2"/>
          <a:stretch>
            <a:fillRect/>
          </a:stretch>
        </p:blipFill>
        <p:spPr>
          <a:xfrm>
            <a:off x="536550" y="1334717"/>
            <a:ext cx="6503587" cy="3384795"/>
          </a:xfrm>
          <a:prstGeom prst="rect">
            <a:avLst/>
          </a:prstGeom>
        </p:spPr>
      </p:pic>
      <p:pic>
        <p:nvPicPr>
          <p:cNvPr id="13" name="그림 12"/>
          <p:cNvPicPr>
            <a:picLocks noChangeAspect="1"/>
          </p:cNvPicPr>
          <p:nvPr/>
        </p:nvPicPr>
        <p:blipFill rotWithShape="1">
          <a:blip r:embed="rId3"/>
          <a:srcRect r="85232" b="-18838"/>
          <a:stretch/>
        </p:blipFill>
        <p:spPr>
          <a:xfrm>
            <a:off x="761500" y="5122401"/>
            <a:ext cx="924265" cy="305664"/>
          </a:xfrm>
          <a:prstGeom prst="rect">
            <a:avLst/>
          </a:prstGeom>
        </p:spPr>
      </p:pic>
      <p:pic>
        <p:nvPicPr>
          <p:cNvPr id="3" name="그림 2"/>
          <p:cNvPicPr>
            <a:picLocks noChangeAspect="1"/>
          </p:cNvPicPr>
          <p:nvPr/>
        </p:nvPicPr>
        <p:blipFill>
          <a:blip r:embed="rId4"/>
          <a:stretch>
            <a:fillRect/>
          </a:stretch>
        </p:blipFill>
        <p:spPr>
          <a:xfrm>
            <a:off x="2198295" y="5442798"/>
            <a:ext cx="1145018" cy="1563681"/>
          </a:xfrm>
          <a:prstGeom prst="rect">
            <a:avLst/>
          </a:prstGeom>
        </p:spPr>
      </p:pic>
      <p:sp>
        <p:nvSpPr>
          <p:cNvPr id="4" name="오른쪽 화살표 3"/>
          <p:cNvSpPr/>
          <p:nvPr/>
        </p:nvSpPr>
        <p:spPr>
          <a:xfrm>
            <a:off x="3587621" y="5867851"/>
            <a:ext cx="200722" cy="68394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pic>
        <p:nvPicPr>
          <p:cNvPr id="5" name="그림 4"/>
          <p:cNvPicPr>
            <a:picLocks noChangeAspect="1"/>
          </p:cNvPicPr>
          <p:nvPr/>
        </p:nvPicPr>
        <p:blipFill>
          <a:blip r:embed="rId5"/>
          <a:stretch>
            <a:fillRect/>
          </a:stretch>
        </p:blipFill>
        <p:spPr>
          <a:xfrm>
            <a:off x="6890234" y="5678875"/>
            <a:ext cx="2170856" cy="1091526"/>
          </a:xfrm>
          <a:prstGeom prst="rect">
            <a:avLst/>
          </a:prstGeom>
        </p:spPr>
      </p:pic>
      <p:sp>
        <p:nvSpPr>
          <p:cNvPr id="27" name="오른쪽 화살표 26"/>
          <p:cNvSpPr/>
          <p:nvPr/>
        </p:nvSpPr>
        <p:spPr>
          <a:xfrm>
            <a:off x="6427151" y="5867851"/>
            <a:ext cx="200722" cy="68394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8" name="TextBox 27">
            <a:extLst>
              <a:ext uri="{FF2B5EF4-FFF2-40B4-BE49-F238E27FC236}">
                <a16:creationId xmlns:a16="http://schemas.microsoft.com/office/drawing/2014/main" id="{B90186AB-10F7-0A0A-4756-EF3C110F88A1}"/>
              </a:ext>
            </a:extLst>
          </p:cNvPr>
          <p:cNvSpPr txBox="1"/>
          <p:nvPr/>
        </p:nvSpPr>
        <p:spPr>
          <a:xfrm>
            <a:off x="3990042" y="6103681"/>
            <a:ext cx="263783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인증서 선택 및 비밀번호 입력</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16" name="TextBox 15">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환급관리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2321994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환급신청</a:t>
            </a:r>
            <a:r>
              <a:rPr lang="en-US" altLang="ko-KR" dirty="0" smtClean="0">
                <a:latin typeface="Arita Dotum KR Medium" panose="02020603020101020101" pitchFamily="18" charset="-127"/>
                <a:ea typeface="Arita Dotum KR Medium" panose="02020603020101020101" pitchFamily="18" charset="-127"/>
              </a:rPr>
              <a:t>(</a:t>
            </a:r>
            <a:r>
              <a:rPr lang="ko-KR" altLang="en-US" dirty="0" smtClean="0">
                <a:latin typeface="Arita Dotum KR Medium" panose="02020603020101020101" pitchFamily="18" charset="-127"/>
                <a:ea typeface="Arita Dotum KR Medium" panose="02020603020101020101" pitchFamily="18" charset="-127"/>
              </a:rPr>
              <a:t>계속</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7" name="직사각형 6"/>
          <p:cNvSpPr/>
          <p:nvPr/>
        </p:nvSpPr>
        <p:spPr>
          <a:xfrm>
            <a:off x="536550" y="1139154"/>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1139154"/>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2045681" y="1505176"/>
            <a:ext cx="8297990"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접수통보</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오류통보</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지급통보등</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각 통보 결과에 대한 상세 내역을 확인할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 통보의 경우 상세 내용 확인을 통해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담당자에게 문의 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43" name="그림 42"/>
          <p:cNvPicPr>
            <a:picLocks noChangeAspect="1"/>
          </p:cNvPicPr>
          <p:nvPr/>
        </p:nvPicPr>
        <p:blipFill rotWithShape="1">
          <a:blip r:embed="rId2"/>
          <a:srcRect l="15564" r="69701" b="-3"/>
          <a:stretch/>
        </p:blipFill>
        <p:spPr>
          <a:xfrm>
            <a:off x="751494" y="1440719"/>
            <a:ext cx="1003610" cy="279901"/>
          </a:xfrm>
          <a:prstGeom prst="rect">
            <a:avLst/>
          </a:prstGeom>
        </p:spPr>
      </p:pic>
      <p:pic>
        <p:nvPicPr>
          <p:cNvPr id="2" name="그림 1"/>
          <p:cNvPicPr>
            <a:picLocks noChangeAspect="1"/>
          </p:cNvPicPr>
          <p:nvPr/>
        </p:nvPicPr>
        <p:blipFill>
          <a:blip r:embed="rId3"/>
          <a:stretch>
            <a:fillRect/>
          </a:stretch>
        </p:blipFill>
        <p:spPr>
          <a:xfrm>
            <a:off x="2045681" y="2057393"/>
            <a:ext cx="5401673" cy="1607641"/>
          </a:xfrm>
          <a:prstGeom prst="rect">
            <a:avLst/>
          </a:prstGeom>
        </p:spPr>
      </p:pic>
      <p:cxnSp>
        <p:nvCxnSpPr>
          <p:cNvPr id="17" name="직선 연결선 16"/>
          <p:cNvCxnSpPr/>
          <p:nvPr/>
        </p:nvCxnSpPr>
        <p:spPr>
          <a:xfrm flipH="1">
            <a:off x="536550" y="3772681"/>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8" name="그림 17"/>
          <p:cNvPicPr>
            <a:picLocks noChangeAspect="1"/>
          </p:cNvPicPr>
          <p:nvPr/>
        </p:nvPicPr>
        <p:blipFill rotWithShape="1">
          <a:blip r:embed="rId2"/>
          <a:srcRect l="30921" t="2" r="57676" b="-5250"/>
          <a:stretch/>
        </p:blipFill>
        <p:spPr>
          <a:xfrm>
            <a:off x="896459" y="3880329"/>
            <a:ext cx="713679" cy="270711"/>
          </a:xfrm>
          <a:prstGeom prst="rect">
            <a:avLst/>
          </a:prstGeom>
        </p:spPr>
      </p:pic>
      <p:sp>
        <p:nvSpPr>
          <p:cNvPr id="19" name="TextBox 18">
            <a:extLst>
              <a:ext uri="{FF2B5EF4-FFF2-40B4-BE49-F238E27FC236}">
                <a16:creationId xmlns:a16="http://schemas.microsoft.com/office/drawing/2014/main" id="{B90186AB-10F7-0A0A-4756-EF3C110F88A1}"/>
              </a:ext>
            </a:extLst>
          </p:cNvPr>
          <p:cNvSpPr txBox="1"/>
          <p:nvPr/>
        </p:nvSpPr>
        <p:spPr>
          <a:xfrm>
            <a:off x="2045681" y="3880329"/>
            <a:ext cx="8297990"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후 전송 결과에 대해서 데이터를 수신합니다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후 시스템적인 데이터 정합성에 오류가 없다면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1</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분내에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접수통보가</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수신됩니다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통보후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담당자 검토 후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오류통보</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완료통보</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지급통보등의 상태로 변경되므로 주기적으로 수신을 하여 상태를 확인할 수 있도록 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20" name="그림 19"/>
          <p:cNvPicPr>
            <a:picLocks noChangeAspect="1"/>
          </p:cNvPicPr>
          <p:nvPr/>
        </p:nvPicPr>
        <p:blipFill>
          <a:blip r:embed="rId4"/>
          <a:stretch>
            <a:fillRect/>
          </a:stretch>
        </p:blipFill>
        <p:spPr>
          <a:xfrm>
            <a:off x="2213163" y="5042902"/>
            <a:ext cx="1145018" cy="1563681"/>
          </a:xfrm>
          <a:prstGeom prst="rect">
            <a:avLst/>
          </a:prstGeom>
        </p:spPr>
      </p:pic>
      <p:pic>
        <p:nvPicPr>
          <p:cNvPr id="3" name="그림 2"/>
          <p:cNvPicPr>
            <a:picLocks noChangeAspect="1"/>
          </p:cNvPicPr>
          <p:nvPr/>
        </p:nvPicPr>
        <p:blipFill>
          <a:blip r:embed="rId5"/>
          <a:stretch>
            <a:fillRect/>
          </a:stretch>
        </p:blipFill>
        <p:spPr>
          <a:xfrm>
            <a:off x="6194676" y="4650146"/>
            <a:ext cx="1409897" cy="1066949"/>
          </a:xfrm>
          <a:prstGeom prst="rect">
            <a:avLst/>
          </a:prstGeom>
        </p:spPr>
      </p:pic>
      <p:pic>
        <p:nvPicPr>
          <p:cNvPr id="4" name="그림 3"/>
          <p:cNvPicPr>
            <a:picLocks noChangeAspect="1"/>
          </p:cNvPicPr>
          <p:nvPr/>
        </p:nvPicPr>
        <p:blipFill>
          <a:blip r:embed="rId6"/>
          <a:stretch>
            <a:fillRect/>
          </a:stretch>
        </p:blipFill>
        <p:spPr>
          <a:xfrm>
            <a:off x="6194676" y="5902006"/>
            <a:ext cx="1409897" cy="965335"/>
          </a:xfrm>
          <a:prstGeom prst="rect">
            <a:avLst/>
          </a:prstGeom>
        </p:spPr>
      </p:pic>
      <p:sp>
        <p:nvSpPr>
          <p:cNvPr id="23" name="오른쪽 화살표 22"/>
          <p:cNvSpPr/>
          <p:nvPr/>
        </p:nvSpPr>
        <p:spPr>
          <a:xfrm>
            <a:off x="3476109" y="5450732"/>
            <a:ext cx="200722" cy="68394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7" name="TextBox 26">
            <a:extLst>
              <a:ext uri="{FF2B5EF4-FFF2-40B4-BE49-F238E27FC236}">
                <a16:creationId xmlns:a16="http://schemas.microsoft.com/office/drawing/2014/main" id="{B90186AB-10F7-0A0A-4756-EF3C110F88A1}"/>
              </a:ext>
            </a:extLst>
          </p:cNvPr>
          <p:cNvSpPr txBox="1"/>
          <p:nvPr/>
        </p:nvSpPr>
        <p:spPr>
          <a:xfrm>
            <a:off x="3878531" y="5471119"/>
            <a:ext cx="1176690"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algn="ctr"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인증서 선택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및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비밀번호 입력</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8" name="오른쪽 화살표 27"/>
          <p:cNvSpPr/>
          <p:nvPr/>
        </p:nvSpPr>
        <p:spPr>
          <a:xfrm rot="19352688">
            <a:off x="5098935" y="5293443"/>
            <a:ext cx="783657" cy="31457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9" name="오른쪽 화살표 28"/>
          <p:cNvSpPr/>
          <p:nvPr/>
        </p:nvSpPr>
        <p:spPr>
          <a:xfrm rot="1776183">
            <a:off x="5127778" y="5995019"/>
            <a:ext cx="783657" cy="31457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5" name="TextBox 34">
            <a:extLst>
              <a:ext uri="{FF2B5EF4-FFF2-40B4-BE49-F238E27FC236}">
                <a16:creationId xmlns:a16="http://schemas.microsoft.com/office/drawing/2014/main" id="{B90186AB-10F7-0A0A-4756-EF3C110F88A1}"/>
              </a:ext>
            </a:extLst>
          </p:cNvPr>
          <p:cNvSpPr txBox="1"/>
          <p:nvPr/>
        </p:nvSpPr>
        <p:spPr>
          <a:xfrm>
            <a:off x="7901787" y="5106611"/>
            <a:ext cx="2595999"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데이터 수신 정상 처리</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36" name="TextBox 35">
            <a:extLst>
              <a:ext uri="{FF2B5EF4-FFF2-40B4-BE49-F238E27FC236}">
                <a16:creationId xmlns:a16="http://schemas.microsoft.com/office/drawing/2014/main" id="{B90186AB-10F7-0A0A-4756-EF3C110F88A1}"/>
              </a:ext>
            </a:extLst>
          </p:cNvPr>
          <p:cNvSpPr txBox="1"/>
          <p:nvPr/>
        </p:nvSpPr>
        <p:spPr>
          <a:xfrm>
            <a:off x="7901787" y="6350685"/>
            <a:ext cx="2595999"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수신할 데이터가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없는경우</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1" name="TextBox 2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환급관리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9794589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환급신청</a:t>
            </a:r>
            <a:r>
              <a:rPr lang="en-US" altLang="ko-KR" dirty="0" smtClean="0">
                <a:latin typeface="Arita Dotum KR Medium" panose="02020603020101020101" pitchFamily="18" charset="-127"/>
                <a:ea typeface="Arita Dotum KR Medium" panose="02020603020101020101" pitchFamily="18" charset="-127"/>
              </a:rPr>
              <a:t>(</a:t>
            </a:r>
            <a:r>
              <a:rPr lang="ko-KR" altLang="en-US" dirty="0" smtClean="0">
                <a:latin typeface="Arita Dotum KR Medium" panose="02020603020101020101" pitchFamily="18" charset="-127"/>
                <a:ea typeface="Arita Dotum KR Medium" panose="02020603020101020101" pitchFamily="18" charset="-127"/>
              </a:rPr>
              <a:t>계속</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7" name="직사각형 6"/>
          <p:cNvSpPr/>
          <p:nvPr/>
        </p:nvSpPr>
        <p:spPr>
          <a:xfrm>
            <a:off x="536550" y="1139154"/>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1139154"/>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2045681" y="1531564"/>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환급신청서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PDF</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를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17" name="직선 연결선 16"/>
          <p:cNvCxnSpPr/>
          <p:nvPr/>
        </p:nvCxnSpPr>
        <p:spPr>
          <a:xfrm flipH="1">
            <a:off x="536550" y="279897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21" name="그림 20"/>
          <p:cNvPicPr>
            <a:picLocks noChangeAspect="1"/>
          </p:cNvPicPr>
          <p:nvPr/>
        </p:nvPicPr>
        <p:blipFill rotWithShape="1">
          <a:blip r:embed="rId2"/>
          <a:srcRect l="43156" t="-226" r="42115" b="-3824"/>
          <a:stretch/>
        </p:blipFill>
        <p:spPr>
          <a:xfrm>
            <a:off x="792381" y="1476117"/>
            <a:ext cx="921834" cy="267629"/>
          </a:xfrm>
          <a:prstGeom prst="rect">
            <a:avLst/>
          </a:prstGeom>
        </p:spPr>
      </p:pic>
      <p:pic>
        <p:nvPicPr>
          <p:cNvPr id="22" name="그림 21"/>
          <p:cNvPicPr>
            <a:picLocks noChangeAspect="1"/>
          </p:cNvPicPr>
          <p:nvPr/>
        </p:nvPicPr>
        <p:blipFill rotWithShape="1">
          <a:blip r:embed="rId2"/>
          <a:srcRect l="81581" b="-12765"/>
          <a:stretch/>
        </p:blipFill>
        <p:spPr>
          <a:xfrm>
            <a:off x="702260" y="2406174"/>
            <a:ext cx="1152826" cy="290040"/>
          </a:xfrm>
          <a:prstGeom prst="rect">
            <a:avLst/>
          </a:prstGeom>
        </p:spPr>
      </p:pic>
      <p:pic>
        <p:nvPicPr>
          <p:cNvPr id="24" name="그림 23"/>
          <p:cNvPicPr>
            <a:picLocks noChangeAspect="1"/>
          </p:cNvPicPr>
          <p:nvPr/>
        </p:nvPicPr>
        <p:blipFill rotWithShape="1">
          <a:blip r:embed="rId2"/>
          <a:srcRect l="58597" t="1" r="19310" b="-3883"/>
          <a:stretch/>
        </p:blipFill>
        <p:spPr>
          <a:xfrm>
            <a:off x="587298" y="1915690"/>
            <a:ext cx="1382751" cy="267197"/>
          </a:xfrm>
          <a:prstGeom prst="rect">
            <a:avLst/>
          </a:prstGeom>
        </p:spPr>
      </p:pic>
      <p:cxnSp>
        <p:nvCxnSpPr>
          <p:cNvPr id="25" name="직선 연결선 24"/>
          <p:cNvCxnSpPr/>
          <p:nvPr/>
        </p:nvCxnSpPr>
        <p:spPr>
          <a:xfrm flipH="1">
            <a:off x="536550" y="1821163"/>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90186AB-10F7-0A0A-4756-EF3C110F88A1}"/>
              </a:ext>
            </a:extLst>
          </p:cNvPr>
          <p:cNvSpPr txBox="1"/>
          <p:nvPr/>
        </p:nvSpPr>
        <p:spPr>
          <a:xfrm>
            <a:off x="2045681" y="1946689"/>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해당 신청서의 자재명세서를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31" name="직선 연결선 30"/>
          <p:cNvCxnSpPr/>
          <p:nvPr/>
        </p:nvCxnSpPr>
        <p:spPr>
          <a:xfrm flipH="1">
            <a:off x="536550" y="2310071"/>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90186AB-10F7-0A0A-4756-EF3C110F88A1}"/>
              </a:ext>
            </a:extLst>
          </p:cNvPr>
          <p:cNvSpPr txBox="1"/>
          <p:nvPr/>
        </p:nvSpPr>
        <p:spPr>
          <a:xfrm>
            <a:off x="2045681" y="244788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해당 신청서의 소요량계산서를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37" name="직사각형 36"/>
          <p:cNvSpPr/>
          <p:nvPr/>
        </p:nvSpPr>
        <p:spPr>
          <a:xfrm>
            <a:off x="536551" y="3079466"/>
            <a:ext cx="3738083"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전송 상태</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38" name="그림 37"/>
          <p:cNvPicPr>
            <a:picLocks noChangeAspect="1"/>
          </p:cNvPicPr>
          <p:nvPr/>
        </p:nvPicPr>
        <p:blipFill>
          <a:blip r:embed="rId3"/>
          <a:stretch>
            <a:fillRect/>
          </a:stretch>
        </p:blipFill>
        <p:spPr>
          <a:xfrm>
            <a:off x="996998" y="3850150"/>
            <a:ext cx="838317" cy="266737"/>
          </a:xfrm>
          <a:prstGeom prst="rect">
            <a:avLst/>
          </a:prstGeom>
        </p:spPr>
      </p:pic>
      <p:pic>
        <p:nvPicPr>
          <p:cNvPr id="39" name="그림 38"/>
          <p:cNvPicPr>
            <a:picLocks noChangeAspect="1"/>
          </p:cNvPicPr>
          <p:nvPr/>
        </p:nvPicPr>
        <p:blipFill>
          <a:blip r:embed="rId4"/>
          <a:stretch>
            <a:fillRect/>
          </a:stretch>
        </p:blipFill>
        <p:spPr>
          <a:xfrm>
            <a:off x="887445" y="4226390"/>
            <a:ext cx="1057423" cy="266737"/>
          </a:xfrm>
          <a:prstGeom prst="rect">
            <a:avLst/>
          </a:prstGeom>
        </p:spPr>
      </p:pic>
      <p:pic>
        <p:nvPicPr>
          <p:cNvPr id="40" name="그림 39"/>
          <p:cNvPicPr>
            <a:picLocks noChangeAspect="1"/>
          </p:cNvPicPr>
          <p:nvPr/>
        </p:nvPicPr>
        <p:blipFill>
          <a:blip r:embed="rId5"/>
          <a:stretch>
            <a:fillRect/>
          </a:stretch>
        </p:blipFill>
        <p:spPr>
          <a:xfrm>
            <a:off x="1011287" y="4602630"/>
            <a:ext cx="809738" cy="266737"/>
          </a:xfrm>
          <a:prstGeom prst="rect">
            <a:avLst/>
          </a:prstGeom>
        </p:spPr>
      </p:pic>
      <p:pic>
        <p:nvPicPr>
          <p:cNvPr id="41" name="그림 40"/>
          <p:cNvPicPr>
            <a:picLocks noChangeAspect="1"/>
          </p:cNvPicPr>
          <p:nvPr/>
        </p:nvPicPr>
        <p:blipFill>
          <a:blip r:embed="rId6"/>
          <a:stretch>
            <a:fillRect/>
          </a:stretch>
        </p:blipFill>
        <p:spPr>
          <a:xfrm>
            <a:off x="896971" y="5740876"/>
            <a:ext cx="1038370" cy="238158"/>
          </a:xfrm>
          <a:prstGeom prst="rect">
            <a:avLst/>
          </a:prstGeom>
        </p:spPr>
      </p:pic>
      <p:pic>
        <p:nvPicPr>
          <p:cNvPr id="42" name="그림 41"/>
          <p:cNvPicPr>
            <a:picLocks noChangeAspect="1"/>
          </p:cNvPicPr>
          <p:nvPr/>
        </p:nvPicPr>
        <p:blipFill>
          <a:blip r:embed="rId7"/>
          <a:stretch>
            <a:fillRect/>
          </a:stretch>
        </p:blipFill>
        <p:spPr>
          <a:xfrm>
            <a:off x="906498" y="4978870"/>
            <a:ext cx="1019317" cy="257211"/>
          </a:xfrm>
          <a:prstGeom prst="rect">
            <a:avLst/>
          </a:prstGeom>
        </p:spPr>
      </p:pic>
      <p:pic>
        <p:nvPicPr>
          <p:cNvPr id="44" name="그림 43"/>
          <p:cNvPicPr>
            <a:picLocks noChangeAspect="1"/>
          </p:cNvPicPr>
          <p:nvPr/>
        </p:nvPicPr>
        <p:blipFill>
          <a:blip r:embed="rId8"/>
          <a:stretch>
            <a:fillRect/>
          </a:stretch>
        </p:blipFill>
        <p:spPr>
          <a:xfrm>
            <a:off x="649287" y="5345584"/>
            <a:ext cx="1533739" cy="285790"/>
          </a:xfrm>
          <a:prstGeom prst="rect">
            <a:avLst/>
          </a:prstGeom>
        </p:spPr>
      </p:pic>
      <p:pic>
        <p:nvPicPr>
          <p:cNvPr id="45" name="그림 44"/>
          <p:cNvPicPr>
            <a:picLocks noChangeAspect="1"/>
          </p:cNvPicPr>
          <p:nvPr/>
        </p:nvPicPr>
        <p:blipFill>
          <a:blip r:embed="rId9"/>
          <a:stretch>
            <a:fillRect/>
          </a:stretch>
        </p:blipFill>
        <p:spPr>
          <a:xfrm>
            <a:off x="978692" y="3479174"/>
            <a:ext cx="874928" cy="261473"/>
          </a:xfrm>
          <a:prstGeom prst="rect">
            <a:avLst/>
          </a:prstGeom>
        </p:spPr>
      </p:pic>
      <p:sp>
        <p:nvSpPr>
          <p:cNvPr id="46" name="TextBox 45">
            <a:extLst>
              <a:ext uri="{FF2B5EF4-FFF2-40B4-BE49-F238E27FC236}">
                <a16:creationId xmlns:a16="http://schemas.microsoft.com/office/drawing/2014/main" id="{B90186AB-10F7-0A0A-4756-EF3C110F88A1}"/>
              </a:ext>
            </a:extLst>
          </p:cNvPr>
          <p:cNvSpPr txBox="1"/>
          <p:nvPr/>
        </p:nvSpPr>
        <p:spPr>
          <a:xfrm>
            <a:off x="2291008" y="3519129"/>
            <a:ext cx="1478104" cy="22121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7" name="TextBox 46">
            <a:extLst>
              <a:ext uri="{FF2B5EF4-FFF2-40B4-BE49-F238E27FC236}">
                <a16:creationId xmlns:a16="http://schemas.microsoft.com/office/drawing/2014/main" id="{B90186AB-10F7-0A0A-4756-EF3C110F88A1}"/>
              </a:ext>
            </a:extLst>
          </p:cNvPr>
          <p:cNvSpPr txBox="1"/>
          <p:nvPr/>
        </p:nvSpPr>
        <p:spPr>
          <a:xfrm>
            <a:off x="2291008" y="3897050"/>
            <a:ext cx="1478104" cy="22121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된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8" name="TextBox 47">
            <a:extLst>
              <a:ext uri="{FF2B5EF4-FFF2-40B4-BE49-F238E27FC236}">
                <a16:creationId xmlns:a16="http://schemas.microsoft.com/office/drawing/2014/main" id="{B90186AB-10F7-0A0A-4756-EF3C110F88A1}"/>
              </a:ext>
            </a:extLst>
          </p:cNvPr>
          <p:cNvSpPr txBox="1"/>
          <p:nvPr/>
        </p:nvSpPr>
        <p:spPr>
          <a:xfrm>
            <a:off x="2291007" y="4274971"/>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후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오류통보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9" name="TextBox 48">
            <a:extLst>
              <a:ext uri="{FF2B5EF4-FFF2-40B4-BE49-F238E27FC236}">
                <a16:creationId xmlns:a16="http://schemas.microsoft.com/office/drawing/2014/main" id="{B90186AB-10F7-0A0A-4756-EF3C110F88A1}"/>
              </a:ext>
            </a:extLst>
          </p:cNvPr>
          <p:cNvSpPr txBox="1"/>
          <p:nvPr/>
        </p:nvSpPr>
        <p:spPr>
          <a:xfrm>
            <a:off x="2291007" y="4647126"/>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정상 접수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0" name="TextBox 49">
            <a:extLst>
              <a:ext uri="{FF2B5EF4-FFF2-40B4-BE49-F238E27FC236}">
                <a16:creationId xmlns:a16="http://schemas.microsoft.com/office/drawing/2014/main" id="{B90186AB-10F7-0A0A-4756-EF3C110F88A1}"/>
              </a:ext>
            </a:extLst>
          </p:cNvPr>
          <p:cNvSpPr txBox="1"/>
          <p:nvPr/>
        </p:nvSpPr>
        <p:spPr>
          <a:xfrm>
            <a:off x="2291007" y="5019281"/>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 보완이 필요한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1" name="TextBox 50">
            <a:extLst>
              <a:ext uri="{FF2B5EF4-FFF2-40B4-BE49-F238E27FC236}">
                <a16:creationId xmlns:a16="http://schemas.microsoft.com/office/drawing/2014/main" id="{B90186AB-10F7-0A0A-4756-EF3C110F88A1}"/>
              </a:ext>
            </a:extLst>
          </p:cNvPr>
          <p:cNvSpPr txBox="1"/>
          <p:nvPr/>
        </p:nvSpPr>
        <p:spPr>
          <a:xfrm>
            <a:off x="2291007" y="5391436"/>
            <a:ext cx="198362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지급통보후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자료제출 요청</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2" name="TextBox 51">
            <a:extLst>
              <a:ext uri="{FF2B5EF4-FFF2-40B4-BE49-F238E27FC236}">
                <a16:creationId xmlns:a16="http://schemas.microsoft.com/office/drawing/2014/main" id="{B90186AB-10F7-0A0A-4756-EF3C110F88A1}"/>
              </a:ext>
            </a:extLst>
          </p:cNvPr>
          <p:cNvSpPr txBox="1"/>
          <p:nvPr/>
        </p:nvSpPr>
        <p:spPr>
          <a:xfrm>
            <a:off x="2291007" y="5763590"/>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환급신청 완료</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53" name="직선 연결선 52"/>
          <p:cNvCxnSpPr/>
          <p:nvPr/>
        </p:nvCxnSpPr>
        <p:spPr>
          <a:xfrm flipH="1">
            <a:off x="536550" y="3766381"/>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4" name="직선 연결선 53"/>
          <p:cNvCxnSpPr/>
          <p:nvPr/>
        </p:nvCxnSpPr>
        <p:spPr>
          <a:xfrm flipH="1">
            <a:off x="536550" y="4193922"/>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직선 연결선 54"/>
          <p:cNvCxnSpPr/>
          <p:nvPr/>
        </p:nvCxnSpPr>
        <p:spPr>
          <a:xfrm flipH="1">
            <a:off x="536550" y="4603585"/>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직선 연결선 55"/>
          <p:cNvCxnSpPr/>
          <p:nvPr/>
        </p:nvCxnSpPr>
        <p:spPr>
          <a:xfrm flipH="1">
            <a:off x="536550" y="4943548"/>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직선 연결선 56"/>
          <p:cNvCxnSpPr/>
          <p:nvPr/>
        </p:nvCxnSpPr>
        <p:spPr>
          <a:xfrm flipH="1">
            <a:off x="536550" y="5345425"/>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직선 연결선 57"/>
          <p:cNvCxnSpPr/>
          <p:nvPr/>
        </p:nvCxnSpPr>
        <p:spPr>
          <a:xfrm flipH="1">
            <a:off x="536550" y="5668819"/>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직선 연결선 58"/>
          <p:cNvCxnSpPr/>
          <p:nvPr/>
        </p:nvCxnSpPr>
        <p:spPr>
          <a:xfrm flipH="1">
            <a:off x="536550" y="6027638"/>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60" name="직사각형 59"/>
          <p:cNvSpPr/>
          <p:nvPr/>
        </p:nvSpPr>
        <p:spPr>
          <a:xfrm>
            <a:off x="4513819" y="3079466"/>
            <a:ext cx="5931157"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전송 </a:t>
            </a:r>
            <a:r>
              <a:rPr lang="en-US" altLang="ko-KR" sz="1400" dirty="0" smtClean="0">
                <a:solidFill>
                  <a:schemeClr val="bg1"/>
                </a:solidFill>
                <a:latin typeface="Arita Dotum KR Medium" panose="02020603020101020101" pitchFamily="18" charset="-127"/>
                <a:ea typeface="Arita Dotum KR Medium" panose="02020603020101020101" pitchFamily="18" charset="-127"/>
              </a:rPr>
              <a:t>PROCESS</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61" name="그림 60"/>
          <p:cNvPicPr>
            <a:picLocks noChangeAspect="1"/>
          </p:cNvPicPr>
          <p:nvPr/>
        </p:nvPicPr>
        <p:blipFill>
          <a:blip r:embed="rId9"/>
          <a:stretch>
            <a:fillRect/>
          </a:stretch>
        </p:blipFill>
        <p:spPr>
          <a:xfrm>
            <a:off x="6662791" y="3479174"/>
            <a:ext cx="874928" cy="261473"/>
          </a:xfrm>
          <a:prstGeom prst="rect">
            <a:avLst/>
          </a:prstGeom>
        </p:spPr>
      </p:pic>
      <p:pic>
        <p:nvPicPr>
          <p:cNvPr id="62" name="그림 61"/>
          <p:cNvPicPr>
            <a:picLocks noChangeAspect="1"/>
          </p:cNvPicPr>
          <p:nvPr/>
        </p:nvPicPr>
        <p:blipFill>
          <a:blip r:embed="rId3"/>
          <a:stretch>
            <a:fillRect/>
          </a:stretch>
        </p:blipFill>
        <p:spPr>
          <a:xfrm>
            <a:off x="6681097" y="3994382"/>
            <a:ext cx="838317" cy="266737"/>
          </a:xfrm>
          <a:prstGeom prst="rect">
            <a:avLst/>
          </a:prstGeom>
        </p:spPr>
      </p:pic>
      <p:pic>
        <p:nvPicPr>
          <p:cNvPr id="63" name="그림 62"/>
          <p:cNvPicPr>
            <a:picLocks noChangeAspect="1"/>
          </p:cNvPicPr>
          <p:nvPr/>
        </p:nvPicPr>
        <p:blipFill>
          <a:blip r:embed="rId4"/>
          <a:stretch>
            <a:fillRect/>
          </a:stretch>
        </p:blipFill>
        <p:spPr>
          <a:xfrm>
            <a:off x="5848245" y="4517567"/>
            <a:ext cx="1057423" cy="266737"/>
          </a:xfrm>
          <a:prstGeom prst="rect">
            <a:avLst/>
          </a:prstGeom>
        </p:spPr>
      </p:pic>
      <p:pic>
        <p:nvPicPr>
          <p:cNvPr id="64" name="그림 63"/>
          <p:cNvPicPr>
            <a:picLocks noChangeAspect="1"/>
          </p:cNvPicPr>
          <p:nvPr/>
        </p:nvPicPr>
        <p:blipFill>
          <a:blip r:embed="rId5"/>
          <a:stretch>
            <a:fillRect/>
          </a:stretch>
        </p:blipFill>
        <p:spPr>
          <a:xfrm>
            <a:off x="7652035" y="4514855"/>
            <a:ext cx="809738" cy="266737"/>
          </a:xfrm>
          <a:prstGeom prst="rect">
            <a:avLst/>
          </a:prstGeom>
        </p:spPr>
      </p:pic>
      <p:pic>
        <p:nvPicPr>
          <p:cNvPr id="65" name="그림 64"/>
          <p:cNvPicPr>
            <a:picLocks noChangeAspect="1"/>
          </p:cNvPicPr>
          <p:nvPr/>
        </p:nvPicPr>
        <p:blipFill>
          <a:blip r:embed="rId7"/>
          <a:stretch>
            <a:fillRect/>
          </a:stretch>
        </p:blipFill>
        <p:spPr>
          <a:xfrm>
            <a:off x="7547246" y="5106119"/>
            <a:ext cx="1019317" cy="257211"/>
          </a:xfrm>
          <a:prstGeom prst="rect">
            <a:avLst/>
          </a:prstGeom>
        </p:spPr>
      </p:pic>
      <p:pic>
        <p:nvPicPr>
          <p:cNvPr id="66" name="그림 65"/>
          <p:cNvPicPr>
            <a:picLocks noChangeAspect="1"/>
          </p:cNvPicPr>
          <p:nvPr/>
        </p:nvPicPr>
        <p:blipFill>
          <a:blip r:embed="rId6"/>
          <a:stretch>
            <a:fillRect/>
          </a:stretch>
        </p:blipFill>
        <p:spPr>
          <a:xfrm>
            <a:off x="8952823" y="5115645"/>
            <a:ext cx="1038370" cy="238158"/>
          </a:xfrm>
          <a:prstGeom prst="rect">
            <a:avLst/>
          </a:prstGeom>
        </p:spPr>
      </p:pic>
      <p:pic>
        <p:nvPicPr>
          <p:cNvPr id="67" name="그림 66"/>
          <p:cNvPicPr>
            <a:picLocks noChangeAspect="1"/>
          </p:cNvPicPr>
          <p:nvPr/>
        </p:nvPicPr>
        <p:blipFill>
          <a:blip r:embed="rId6"/>
          <a:stretch>
            <a:fillRect/>
          </a:stretch>
        </p:blipFill>
        <p:spPr>
          <a:xfrm>
            <a:off x="7537719" y="5730084"/>
            <a:ext cx="1038370" cy="238158"/>
          </a:xfrm>
          <a:prstGeom prst="rect">
            <a:avLst/>
          </a:prstGeom>
        </p:spPr>
      </p:pic>
      <p:cxnSp>
        <p:nvCxnSpPr>
          <p:cNvPr id="9" name="직선 화살표 연결선 8"/>
          <p:cNvCxnSpPr>
            <a:stCxn id="61" idx="2"/>
            <a:endCxn id="62" idx="0"/>
          </p:cNvCxnSpPr>
          <p:nvPr/>
        </p:nvCxnSpPr>
        <p:spPr>
          <a:xfrm>
            <a:off x="7100255" y="3740647"/>
            <a:ext cx="1" cy="253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꺾인 연결선 15"/>
          <p:cNvCxnSpPr>
            <a:stCxn id="62" idx="2"/>
            <a:endCxn id="64" idx="0"/>
          </p:cNvCxnSpPr>
          <p:nvPr/>
        </p:nvCxnSpPr>
        <p:spPr>
          <a:xfrm rot="16200000" flipH="1">
            <a:off x="7451712" y="3909663"/>
            <a:ext cx="253736" cy="9566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꺾인 연결선 68"/>
          <p:cNvCxnSpPr>
            <a:stCxn id="62" idx="2"/>
            <a:endCxn id="63" idx="0"/>
          </p:cNvCxnSpPr>
          <p:nvPr/>
        </p:nvCxnSpPr>
        <p:spPr>
          <a:xfrm rot="5400000">
            <a:off x="6610383" y="4027694"/>
            <a:ext cx="256448" cy="7232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꺾인 연결선 70"/>
          <p:cNvCxnSpPr>
            <a:stCxn id="63" idx="1"/>
            <a:endCxn id="62" idx="1"/>
          </p:cNvCxnSpPr>
          <p:nvPr/>
        </p:nvCxnSpPr>
        <p:spPr>
          <a:xfrm rot="10800000" flipH="1">
            <a:off x="5848245" y="4127752"/>
            <a:ext cx="832852" cy="523185"/>
          </a:xfrm>
          <a:prstGeom prst="bentConnector3">
            <a:avLst>
              <a:gd name="adj1" fmla="val -2744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꺾인 연결선 72"/>
          <p:cNvCxnSpPr>
            <a:stCxn id="64" idx="2"/>
            <a:endCxn id="65" idx="0"/>
          </p:cNvCxnSpPr>
          <p:nvPr/>
        </p:nvCxnSpPr>
        <p:spPr>
          <a:xfrm rot="16200000" flipH="1">
            <a:off x="7894641" y="4943854"/>
            <a:ext cx="324527"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꺾인 연결선 76"/>
          <p:cNvCxnSpPr>
            <a:stCxn id="65" idx="1"/>
            <a:endCxn id="62" idx="1"/>
          </p:cNvCxnSpPr>
          <p:nvPr/>
        </p:nvCxnSpPr>
        <p:spPr>
          <a:xfrm rot="10800000">
            <a:off x="6681098" y="4127751"/>
            <a:ext cx="866149" cy="1106974"/>
          </a:xfrm>
          <a:prstGeom prst="bentConnector3">
            <a:avLst>
              <a:gd name="adj1" fmla="val 28346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꺾인 연결선 79"/>
          <p:cNvCxnSpPr>
            <a:stCxn id="65" idx="2"/>
            <a:endCxn id="67" idx="0"/>
          </p:cNvCxnSpPr>
          <p:nvPr/>
        </p:nvCxnSpPr>
        <p:spPr>
          <a:xfrm rot="5400000">
            <a:off x="7873528" y="5546707"/>
            <a:ext cx="366754"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꺾인 연결선 83"/>
          <p:cNvCxnSpPr>
            <a:stCxn id="65" idx="3"/>
            <a:endCxn id="66" idx="1"/>
          </p:cNvCxnSpPr>
          <p:nvPr/>
        </p:nvCxnSpPr>
        <p:spPr>
          <a:xfrm flipV="1">
            <a:off x="8566563" y="5234724"/>
            <a:ext cx="386260"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환급관리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4560136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smtClean="0">
                <a:latin typeface="Arita Dotum KR Medium" panose="02020603020101020101" pitchFamily="18" charset="-127"/>
                <a:ea typeface="Arita Dotum KR Medium" panose="02020603020101020101" pitchFamily="18" charset="-127"/>
              </a:rPr>
              <a:t>기납증</a:t>
            </a:r>
            <a:r>
              <a:rPr lang="en-US" altLang="ko-KR" dirty="0" smtClean="0">
                <a:latin typeface="Arita Dotum KR Medium" panose="02020603020101020101" pitchFamily="18" charset="-127"/>
                <a:ea typeface="Arita Dotum KR Medium" panose="02020603020101020101" pitchFamily="18" charset="-127"/>
              </a:rPr>
              <a:t>/</a:t>
            </a:r>
            <a:r>
              <a:rPr lang="ko-KR" altLang="en-US" dirty="0" err="1" smtClean="0">
                <a:latin typeface="Arita Dotum KR Medium" panose="02020603020101020101" pitchFamily="18" charset="-127"/>
                <a:ea typeface="Arita Dotum KR Medium" panose="02020603020101020101" pitchFamily="18" charset="-127"/>
              </a:rPr>
              <a:t>분증</a:t>
            </a:r>
            <a:r>
              <a:rPr lang="ko-KR" altLang="en-US" dirty="0" smtClean="0">
                <a:latin typeface="Arita Dotum KR Medium" panose="02020603020101020101" pitchFamily="18" charset="-127"/>
                <a:ea typeface="Arita Dotum KR Medium" panose="02020603020101020101" pitchFamily="18" charset="-127"/>
              </a:rPr>
              <a:t> 신청</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749896"/>
            <a:ext cx="3005662" cy="1508105"/>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생성된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기납증</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분증</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신청서를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전성하는 프로그램 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UNIPASS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전송 및 수신은 </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IE</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모드에서만 가능합니다</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부록</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1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참조</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2" name="그림 1"/>
          <p:cNvPicPr>
            <a:picLocks noChangeAspect="1"/>
          </p:cNvPicPr>
          <p:nvPr/>
        </p:nvPicPr>
        <p:blipFill>
          <a:blip r:embed="rId2"/>
          <a:stretch>
            <a:fillRect/>
          </a:stretch>
        </p:blipFill>
        <p:spPr>
          <a:xfrm>
            <a:off x="536550" y="1298418"/>
            <a:ext cx="6928383" cy="3387088"/>
          </a:xfrm>
          <a:prstGeom prst="rect">
            <a:avLst/>
          </a:prstGeom>
        </p:spPr>
      </p:pic>
      <p:sp>
        <p:nvSpPr>
          <p:cNvPr id="19" name="직사각형 18"/>
          <p:cNvSpPr/>
          <p:nvPr/>
        </p:nvSpPr>
        <p:spPr>
          <a:xfrm>
            <a:off x="536550" y="4796754"/>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20" name="직사각형 19"/>
          <p:cNvSpPr/>
          <p:nvPr/>
        </p:nvSpPr>
        <p:spPr>
          <a:xfrm>
            <a:off x="2045681" y="4796754"/>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21" name="직선 연결선 20"/>
          <p:cNvCxnSpPr/>
          <p:nvPr/>
        </p:nvCxnSpPr>
        <p:spPr>
          <a:xfrm flipH="1">
            <a:off x="536550" y="7245632"/>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90186AB-10F7-0A0A-4756-EF3C110F88A1}"/>
              </a:ext>
            </a:extLst>
          </p:cNvPr>
          <p:cNvSpPr txBox="1"/>
          <p:nvPr/>
        </p:nvSpPr>
        <p:spPr>
          <a:xfrm>
            <a:off x="2045681" y="5160737"/>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선택한 신청서를 공인인증서 인증을 통해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전송합니다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pic>
        <p:nvPicPr>
          <p:cNvPr id="25" name="그림 24"/>
          <p:cNvPicPr>
            <a:picLocks noChangeAspect="1"/>
          </p:cNvPicPr>
          <p:nvPr/>
        </p:nvPicPr>
        <p:blipFill>
          <a:blip r:embed="rId3"/>
          <a:stretch>
            <a:fillRect/>
          </a:stretch>
        </p:blipFill>
        <p:spPr>
          <a:xfrm>
            <a:off x="2198295" y="5442798"/>
            <a:ext cx="1145018" cy="1563681"/>
          </a:xfrm>
          <a:prstGeom prst="rect">
            <a:avLst/>
          </a:prstGeom>
        </p:spPr>
      </p:pic>
      <p:sp>
        <p:nvSpPr>
          <p:cNvPr id="26" name="오른쪽 화살표 25"/>
          <p:cNvSpPr/>
          <p:nvPr/>
        </p:nvSpPr>
        <p:spPr>
          <a:xfrm>
            <a:off x="3587621" y="5867851"/>
            <a:ext cx="200722" cy="68394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pic>
        <p:nvPicPr>
          <p:cNvPr id="27" name="그림 26"/>
          <p:cNvPicPr>
            <a:picLocks noChangeAspect="1"/>
          </p:cNvPicPr>
          <p:nvPr/>
        </p:nvPicPr>
        <p:blipFill>
          <a:blip r:embed="rId4"/>
          <a:stretch>
            <a:fillRect/>
          </a:stretch>
        </p:blipFill>
        <p:spPr>
          <a:xfrm>
            <a:off x="6890234" y="5678875"/>
            <a:ext cx="2170856" cy="1091526"/>
          </a:xfrm>
          <a:prstGeom prst="rect">
            <a:avLst/>
          </a:prstGeom>
        </p:spPr>
      </p:pic>
      <p:sp>
        <p:nvSpPr>
          <p:cNvPr id="28" name="오른쪽 화살표 27"/>
          <p:cNvSpPr/>
          <p:nvPr/>
        </p:nvSpPr>
        <p:spPr>
          <a:xfrm>
            <a:off x="6427151" y="5867851"/>
            <a:ext cx="200722" cy="68394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4" name="TextBox 33">
            <a:extLst>
              <a:ext uri="{FF2B5EF4-FFF2-40B4-BE49-F238E27FC236}">
                <a16:creationId xmlns:a16="http://schemas.microsoft.com/office/drawing/2014/main" id="{B90186AB-10F7-0A0A-4756-EF3C110F88A1}"/>
              </a:ext>
            </a:extLst>
          </p:cNvPr>
          <p:cNvSpPr txBox="1"/>
          <p:nvPr/>
        </p:nvSpPr>
        <p:spPr>
          <a:xfrm>
            <a:off x="3990042" y="6103681"/>
            <a:ext cx="263783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인증서 선택 및 비밀번호 입력</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3" name="그림 2"/>
          <p:cNvPicPr>
            <a:picLocks noChangeAspect="1"/>
          </p:cNvPicPr>
          <p:nvPr/>
        </p:nvPicPr>
        <p:blipFill>
          <a:blip r:embed="rId5"/>
          <a:stretch>
            <a:fillRect/>
          </a:stretch>
        </p:blipFill>
        <p:spPr>
          <a:xfrm>
            <a:off x="896061" y="5165228"/>
            <a:ext cx="714475" cy="247685"/>
          </a:xfrm>
          <a:prstGeom prst="rect">
            <a:avLst/>
          </a:prstGeom>
        </p:spPr>
      </p:pic>
      <p:sp>
        <p:nvSpPr>
          <p:cNvPr id="16" name="TextBox 15">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환급관리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8200472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a:latin typeface="Arita Dotum KR Medium" panose="02020603020101020101" pitchFamily="18" charset="-127"/>
                <a:ea typeface="Arita Dotum KR Medium" panose="02020603020101020101" pitchFamily="18" charset="-127"/>
              </a:rPr>
              <a:t>기납증</a:t>
            </a:r>
            <a:r>
              <a:rPr lang="en-US" altLang="ko-KR" dirty="0">
                <a:latin typeface="Arita Dotum KR Medium" panose="02020603020101020101" pitchFamily="18" charset="-127"/>
                <a:ea typeface="Arita Dotum KR Medium" panose="02020603020101020101" pitchFamily="18" charset="-127"/>
              </a:rPr>
              <a:t>/</a:t>
            </a:r>
            <a:r>
              <a:rPr lang="ko-KR" altLang="en-US" dirty="0" err="1">
                <a:latin typeface="Arita Dotum KR Medium" panose="02020603020101020101" pitchFamily="18" charset="-127"/>
                <a:ea typeface="Arita Dotum KR Medium" panose="02020603020101020101" pitchFamily="18" charset="-127"/>
              </a:rPr>
              <a:t>분증</a:t>
            </a:r>
            <a:r>
              <a:rPr lang="ko-KR" altLang="en-US" dirty="0">
                <a:latin typeface="Arita Dotum KR Medium" panose="02020603020101020101" pitchFamily="18" charset="-127"/>
                <a:ea typeface="Arita Dotum KR Medium" panose="02020603020101020101" pitchFamily="18" charset="-127"/>
              </a:rPr>
              <a:t> </a:t>
            </a:r>
            <a:r>
              <a:rPr lang="ko-KR" altLang="en-US" dirty="0" smtClean="0">
                <a:latin typeface="Arita Dotum KR Medium" panose="02020603020101020101" pitchFamily="18" charset="-127"/>
                <a:ea typeface="Arita Dotum KR Medium" panose="02020603020101020101" pitchFamily="18" charset="-127"/>
              </a:rPr>
              <a:t>신청</a:t>
            </a:r>
            <a:r>
              <a:rPr lang="en-US" altLang="ko-KR" dirty="0" smtClean="0">
                <a:latin typeface="Arita Dotum KR Medium" panose="02020603020101020101" pitchFamily="18" charset="-127"/>
                <a:ea typeface="Arita Dotum KR Medium" panose="02020603020101020101" pitchFamily="18" charset="-127"/>
              </a:rPr>
              <a:t>(</a:t>
            </a:r>
            <a:r>
              <a:rPr lang="ko-KR" altLang="en-US" dirty="0" smtClean="0">
                <a:latin typeface="Arita Dotum KR Medium" panose="02020603020101020101" pitchFamily="18" charset="-127"/>
                <a:ea typeface="Arita Dotum KR Medium" panose="02020603020101020101" pitchFamily="18" charset="-127"/>
              </a:rPr>
              <a:t>계속</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7" name="직사각형 6"/>
          <p:cNvSpPr/>
          <p:nvPr/>
        </p:nvSpPr>
        <p:spPr>
          <a:xfrm>
            <a:off x="536550" y="1139154"/>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1139154"/>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17" name="직선 연결선 16"/>
          <p:cNvCxnSpPr/>
          <p:nvPr/>
        </p:nvCxnSpPr>
        <p:spPr>
          <a:xfrm flipH="1">
            <a:off x="536550" y="4694515"/>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8" name="그림 17"/>
          <p:cNvPicPr>
            <a:picLocks noChangeAspect="1"/>
          </p:cNvPicPr>
          <p:nvPr/>
        </p:nvPicPr>
        <p:blipFill rotWithShape="1">
          <a:blip r:embed="rId2"/>
          <a:srcRect l="30921" t="2" r="57676" b="-5250"/>
          <a:stretch/>
        </p:blipFill>
        <p:spPr>
          <a:xfrm>
            <a:off x="896459" y="1523704"/>
            <a:ext cx="713679" cy="270711"/>
          </a:xfrm>
          <a:prstGeom prst="rect">
            <a:avLst/>
          </a:prstGeom>
        </p:spPr>
      </p:pic>
      <p:sp>
        <p:nvSpPr>
          <p:cNvPr id="19" name="TextBox 18">
            <a:extLst>
              <a:ext uri="{FF2B5EF4-FFF2-40B4-BE49-F238E27FC236}">
                <a16:creationId xmlns:a16="http://schemas.microsoft.com/office/drawing/2014/main" id="{B90186AB-10F7-0A0A-4756-EF3C110F88A1}"/>
              </a:ext>
            </a:extLst>
          </p:cNvPr>
          <p:cNvSpPr txBox="1"/>
          <p:nvPr/>
        </p:nvSpPr>
        <p:spPr>
          <a:xfrm>
            <a:off x="2045681" y="1523704"/>
            <a:ext cx="8297990"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후 전송 결과에 대해서 데이터를 수신합니다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후 시스템적인 데이터 정합성에 오류가 없다면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1</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분내에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접수통보가</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수신됩니다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통보후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담당자 검토 후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오류통보</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완료통보등의 상태로 변경되므로 주기적으로 수신을 하여 상태를 확인할 수 있도록 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20" name="그림 19"/>
          <p:cNvPicPr>
            <a:picLocks noChangeAspect="1"/>
          </p:cNvPicPr>
          <p:nvPr/>
        </p:nvPicPr>
        <p:blipFill>
          <a:blip r:embed="rId3"/>
          <a:stretch>
            <a:fillRect/>
          </a:stretch>
        </p:blipFill>
        <p:spPr>
          <a:xfrm>
            <a:off x="2213163" y="2686277"/>
            <a:ext cx="1145018" cy="1563681"/>
          </a:xfrm>
          <a:prstGeom prst="rect">
            <a:avLst/>
          </a:prstGeom>
        </p:spPr>
      </p:pic>
      <p:pic>
        <p:nvPicPr>
          <p:cNvPr id="3" name="그림 2"/>
          <p:cNvPicPr>
            <a:picLocks noChangeAspect="1"/>
          </p:cNvPicPr>
          <p:nvPr/>
        </p:nvPicPr>
        <p:blipFill>
          <a:blip r:embed="rId4"/>
          <a:stretch>
            <a:fillRect/>
          </a:stretch>
        </p:blipFill>
        <p:spPr>
          <a:xfrm>
            <a:off x="6194676" y="2293521"/>
            <a:ext cx="1409897" cy="1066949"/>
          </a:xfrm>
          <a:prstGeom prst="rect">
            <a:avLst/>
          </a:prstGeom>
        </p:spPr>
      </p:pic>
      <p:pic>
        <p:nvPicPr>
          <p:cNvPr id="4" name="그림 3"/>
          <p:cNvPicPr>
            <a:picLocks noChangeAspect="1"/>
          </p:cNvPicPr>
          <p:nvPr/>
        </p:nvPicPr>
        <p:blipFill>
          <a:blip r:embed="rId5"/>
          <a:stretch>
            <a:fillRect/>
          </a:stretch>
        </p:blipFill>
        <p:spPr>
          <a:xfrm>
            <a:off x="6194676" y="3545381"/>
            <a:ext cx="1409897" cy="965335"/>
          </a:xfrm>
          <a:prstGeom prst="rect">
            <a:avLst/>
          </a:prstGeom>
        </p:spPr>
      </p:pic>
      <p:sp>
        <p:nvSpPr>
          <p:cNvPr id="23" name="오른쪽 화살표 22"/>
          <p:cNvSpPr/>
          <p:nvPr/>
        </p:nvSpPr>
        <p:spPr>
          <a:xfrm>
            <a:off x="3476109" y="3094107"/>
            <a:ext cx="200722" cy="683941"/>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7" name="TextBox 26">
            <a:extLst>
              <a:ext uri="{FF2B5EF4-FFF2-40B4-BE49-F238E27FC236}">
                <a16:creationId xmlns:a16="http://schemas.microsoft.com/office/drawing/2014/main" id="{B90186AB-10F7-0A0A-4756-EF3C110F88A1}"/>
              </a:ext>
            </a:extLst>
          </p:cNvPr>
          <p:cNvSpPr txBox="1"/>
          <p:nvPr/>
        </p:nvSpPr>
        <p:spPr>
          <a:xfrm>
            <a:off x="3878531" y="3114494"/>
            <a:ext cx="1176690"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algn="ctr"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인증서 선택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및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비밀번호 입력</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8" name="오른쪽 화살표 27"/>
          <p:cNvSpPr/>
          <p:nvPr/>
        </p:nvSpPr>
        <p:spPr>
          <a:xfrm rot="19352688">
            <a:off x="5098935" y="2936818"/>
            <a:ext cx="783657" cy="31457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9" name="오른쪽 화살표 28"/>
          <p:cNvSpPr/>
          <p:nvPr/>
        </p:nvSpPr>
        <p:spPr>
          <a:xfrm rot="1776183">
            <a:off x="5127778" y="3638394"/>
            <a:ext cx="783657" cy="314576"/>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5" name="TextBox 34">
            <a:extLst>
              <a:ext uri="{FF2B5EF4-FFF2-40B4-BE49-F238E27FC236}">
                <a16:creationId xmlns:a16="http://schemas.microsoft.com/office/drawing/2014/main" id="{B90186AB-10F7-0A0A-4756-EF3C110F88A1}"/>
              </a:ext>
            </a:extLst>
          </p:cNvPr>
          <p:cNvSpPr txBox="1"/>
          <p:nvPr/>
        </p:nvSpPr>
        <p:spPr>
          <a:xfrm>
            <a:off x="7901787" y="2749986"/>
            <a:ext cx="2595999"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데이터 수신 정상 처리</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36" name="TextBox 35">
            <a:extLst>
              <a:ext uri="{FF2B5EF4-FFF2-40B4-BE49-F238E27FC236}">
                <a16:creationId xmlns:a16="http://schemas.microsoft.com/office/drawing/2014/main" id="{B90186AB-10F7-0A0A-4756-EF3C110F88A1}"/>
              </a:ext>
            </a:extLst>
          </p:cNvPr>
          <p:cNvSpPr txBox="1"/>
          <p:nvPr/>
        </p:nvSpPr>
        <p:spPr>
          <a:xfrm>
            <a:off x="7901787" y="3994060"/>
            <a:ext cx="2595999"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수신할 데이터가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없는경우</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1" name="TextBox 20">
            <a:extLst>
              <a:ext uri="{FF2B5EF4-FFF2-40B4-BE49-F238E27FC236}">
                <a16:creationId xmlns:a16="http://schemas.microsoft.com/office/drawing/2014/main" id="{B90186AB-10F7-0A0A-4756-EF3C110F88A1}"/>
              </a:ext>
            </a:extLst>
          </p:cNvPr>
          <p:cNvSpPr txBox="1"/>
          <p:nvPr/>
        </p:nvSpPr>
        <p:spPr>
          <a:xfrm>
            <a:off x="2045681" y="4915893"/>
            <a:ext cx="8297990"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접수통보</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오류통보</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지급통보등</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각 통보 결과에 대한 상세 내역을 확인할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 통보의 경우 상세 내용 확인을 통해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담당자에게 문의 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22" name="그림 21"/>
          <p:cNvPicPr>
            <a:picLocks noChangeAspect="1"/>
          </p:cNvPicPr>
          <p:nvPr/>
        </p:nvPicPr>
        <p:blipFill rotWithShape="1">
          <a:blip r:embed="rId2"/>
          <a:srcRect l="15564" r="69701" b="-3"/>
          <a:stretch/>
        </p:blipFill>
        <p:spPr>
          <a:xfrm>
            <a:off x="751494" y="4851436"/>
            <a:ext cx="1003610" cy="279901"/>
          </a:xfrm>
          <a:prstGeom prst="rect">
            <a:avLst/>
          </a:prstGeom>
        </p:spPr>
      </p:pic>
      <p:pic>
        <p:nvPicPr>
          <p:cNvPr id="24" name="그림 23"/>
          <p:cNvPicPr>
            <a:picLocks noChangeAspect="1"/>
          </p:cNvPicPr>
          <p:nvPr/>
        </p:nvPicPr>
        <p:blipFill>
          <a:blip r:embed="rId6"/>
          <a:stretch>
            <a:fillRect/>
          </a:stretch>
        </p:blipFill>
        <p:spPr>
          <a:xfrm>
            <a:off x="2045681" y="5468110"/>
            <a:ext cx="5401673" cy="1607641"/>
          </a:xfrm>
          <a:prstGeom prst="rect">
            <a:avLst/>
          </a:prstGeom>
        </p:spPr>
      </p:pic>
      <p:sp>
        <p:nvSpPr>
          <p:cNvPr id="25" name="TextBox 24">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환급관리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0273790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93871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a:latin typeface="Arita Dotum KR Medium" panose="02020603020101020101" pitchFamily="18" charset="-127"/>
                <a:ea typeface="Arita Dotum KR Medium" panose="02020603020101020101" pitchFamily="18" charset="-127"/>
              </a:rPr>
              <a:t>기납증</a:t>
            </a:r>
            <a:r>
              <a:rPr lang="en-US" altLang="ko-KR" dirty="0">
                <a:latin typeface="Arita Dotum KR Medium" panose="02020603020101020101" pitchFamily="18" charset="-127"/>
                <a:ea typeface="Arita Dotum KR Medium" panose="02020603020101020101" pitchFamily="18" charset="-127"/>
              </a:rPr>
              <a:t>/</a:t>
            </a:r>
            <a:r>
              <a:rPr lang="ko-KR" altLang="en-US" dirty="0" err="1">
                <a:latin typeface="Arita Dotum KR Medium" panose="02020603020101020101" pitchFamily="18" charset="-127"/>
                <a:ea typeface="Arita Dotum KR Medium" panose="02020603020101020101" pitchFamily="18" charset="-127"/>
              </a:rPr>
              <a:t>분증</a:t>
            </a:r>
            <a:r>
              <a:rPr lang="ko-KR" altLang="en-US" dirty="0">
                <a:latin typeface="Arita Dotum KR Medium" panose="02020603020101020101" pitchFamily="18" charset="-127"/>
                <a:ea typeface="Arita Dotum KR Medium" panose="02020603020101020101" pitchFamily="18" charset="-127"/>
              </a:rPr>
              <a:t> 신청</a:t>
            </a:r>
            <a:r>
              <a:rPr lang="en-US" altLang="ko-KR" dirty="0">
                <a:latin typeface="Arita Dotum KR Medium" panose="02020603020101020101" pitchFamily="18" charset="-127"/>
                <a:ea typeface="Arita Dotum KR Medium" panose="02020603020101020101" pitchFamily="18" charset="-127"/>
              </a:rPr>
              <a:t>(</a:t>
            </a:r>
            <a:r>
              <a:rPr lang="ko-KR" altLang="en-US" dirty="0">
                <a:latin typeface="Arita Dotum KR Medium" panose="02020603020101020101" pitchFamily="18" charset="-127"/>
                <a:ea typeface="Arita Dotum KR Medium" panose="02020603020101020101" pitchFamily="18" charset="-127"/>
              </a:rPr>
              <a:t>계속</a:t>
            </a:r>
            <a:r>
              <a:rPr lang="en-US" altLang="ko-KR" dirty="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a:p>
            <a:endParaRPr lang="ko-KR" altLang="en-US" dirty="0">
              <a:latin typeface="Arita Dotum KR Medium" panose="02020603020101020101" pitchFamily="18" charset="-127"/>
              <a:ea typeface="Arita Dotum KR Medium" panose="02020603020101020101" pitchFamily="18" charset="-127"/>
            </a:endParaRPr>
          </a:p>
        </p:txBody>
      </p:sp>
      <p:sp>
        <p:nvSpPr>
          <p:cNvPr id="7" name="직사각형 6"/>
          <p:cNvSpPr/>
          <p:nvPr/>
        </p:nvSpPr>
        <p:spPr>
          <a:xfrm>
            <a:off x="536550" y="1139154"/>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1139154"/>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2045681" y="1531564"/>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신청서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PDF</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를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17" name="직선 연결선 16"/>
          <p:cNvCxnSpPr/>
          <p:nvPr/>
        </p:nvCxnSpPr>
        <p:spPr>
          <a:xfrm flipH="1">
            <a:off x="536550" y="279897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21" name="그림 20"/>
          <p:cNvPicPr>
            <a:picLocks noChangeAspect="1"/>
          </p:cNvPicPr>
          <p:nvPr/>
        </p:nvPicPr>
        <p:blipFill rotWithShape="1">
          <a:blip r:embed="rId2"/>
          <a:srcRect l="43156" t="-226" r="42115" b="-3824"/>
          <a:stretch/>
        </p:blipFill>
        <p:spPr>
          <a:xfrm>
            <a:off x="792381" y="1476117"/>
            <a:ext cx="921834" cy="267629"/>
          </a:xfrm>
          <a:prstGeom prst="rect">
            <a:avLst/>
          </a:prstGeom>
        </p:spPr>
      </p:pic>
      <p:pic>
        <p:nvPicPr>
          <p:cNvPr id="22" name="그림 21"/>
          <p:cNvPicPr>
            <a:picLocks noChangeAspect="1"/>
          </p:cNvPicPr>
          <p:nvPr/>
        </p:nvPicPr>
        <p:blipFill rotWithShape="1">
          <a:blip r:embed="rId2"/>
          <a:srcRect l="81581" b="-12765"/>
          <a:stretch/>
        </p:blipFill>
        <p:spPr>
          <a:xfrm>
            <a:off x="702260" y="2406174"/>
            <a:ext cx="1152826" cy="290040"/>
          </a:xfrm>
          <a:prstGeom prst="rect">
            <a:avLst/>
          </a:prstGeom>
        </p:spPr>
      </p:pic>
      <p:pic>
        <p:nvPicPr>
          <p:cNvPr id="24" name="그림 23"/>
          <p:cNvPicPr>
            <a:picLocks noChangeAspect="1"/>
          </p:cNvPicPr>
          <p:nvPr/>
        </p:nvPicPr>
        <p:blipFill rotWithShape="1">
          <a:blip r:embed="rId2"/>
          <a:srcRect l="58597" t="1" r="19310" b="-3883"/>
          <a:stretch/>
        </p:blipFill>
        <p:spPr>
          <a:xfrm>
            <a:off x="587298" y="1915690"/>
            <a:ext cx="1382751" cy="267197"/>
          </a:xfrm>
          <a:prstGeom prst="rect">
            <a:avLst/>
          </a:prstGeom>
        </p:spPr>
      </p:pic>
      <p:cxnSp>
        <p:nvCxnSpPr>
          <p:cNvPr id="25" name="직선 연결선 24"/>
          <p:cNvCxnSpPr/>
          <p:nvPr/>
        </p:nvCxnSpPr>
        <p:spPr>
          <a:xfrm flipH="1">
            <a:off x="536550" y="1821163"/>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90186AB-10F7-0A0A-4756-EF3C110F88A1}"/>
              </a:ext>
            </a:extLst>
          </p:cNvPr>
          <p:cNvSpPr txBox="1"/>
          <p:nvPr/>
        </p:nvSpPr>
        <p:spPr>
          <a:xfrm>
            <a:off x="2045681" y="1946689"/>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해당 신청서의 자재명세서를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31" name="직선 연결선 30"/>
          <p:cNvCxnSpPr/>
          <p:nvPr/>
        </p:nvCxnSpPr>
        <p:spPr>
          <a:xfrm flipH="1">
            <a:off x="536550" y="2310071"/>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90186AB-10F7-0A0A-4756-EF3C110F88A1}"/>
              </a:ext>
            </a:extLst>
          </p:cNvPr>
          <p:cNvSpPr txBox="1"/>
          <p:nvPr/>
        </p:nvSpPr>
        <p:spPr>
          <a:xfrm>
            <a:off x="2045681" y="244788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해당 신청서의 소요량계산서를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37" name="직사각형 36"/>
          <p:cNvSpPr/>
          <p:nvPr/>
        </p:nvSpPr>
        <p:spPr>
          <a:xfrm>
            <a:off x="536551" y="4060773"/>
            <a:ext cx="3738083"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전송 상태</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38" name="그림 37"/>
          <p:cNvPicPr>
            <a:picLocks noChangeAspect="1"/>
          </p:cNvPicPr>
          <p:nvPr/>
        </p:nvPicPr>
        <p:blipFill>
          <a:blip r:embed="rId3"/>
          <a:stretch>
            <a:fillRect/>
          </a:stretch>
        </p:blipFill>
        <p:spPr>
          <a:xfrm>
            <a:off x="996998" y="4831457"/>
            <a:ext cx="838317" cy="266737"/>
          </a:xfrm>
          <a:prstGeom prst="rect">
            <a:avLst/>
          </a:prstGeom>
        </p:spPr>
      </p:pic>
      <p:pic>
        <p:nvPicPr>
          <p:cNvPr id="39" name="그림 38"/>
          <p:cNvPicPr>
            <a:picLocks noChangeAspect="1"/>
          </p:cNvPicPr>
          <p:nvPr/>
        </p:nvPicPr>
        <p:blipFill>
          <a:blip r:embed="rId4"/>
          <a:stretch>
            <a:fillRect/>
          </a:stretch>
        </p:blipFill>
        <p:spPr>
          <a:xfrm>
            <a:off x="887445" y="5207697"/>
            <a:ext cx="1057423" cy="266737"/>
          </a:xfrm>
          <a:prstGeom prst="rect">
            <a:avLst/>
          </a:prstGeom>
        </p:spPr>
      </p:pic>
      <p:pic>
        <p:nvPicPr>
          <p:cNvPr id="40" name="그림 39"/>
          <p:cNvPicPr>
            <a:picLocks noChangeAspect="1"/>
          </p:cNvPicPr>
          <p:nvPr/>
        </p:nvPicPr>
        <p:blipFill>
          <a:blip r:embed="rId5"/>
          <a:stretch>
            <a:fillRect/>
          </a:stretch>
        </p:blipFill>
        <p:spPr>
          <a:xfrm>
            <a:off x="1011287" y="5583937"/>
            <a:ext cx="809738" cy="266737"/>
          </a:xfrm>
          <a:prstGeom prst="rect">
            <a:avLst/>
          </a:prstGeom>
        </p:spPr>
      </p:pic>
      <p:pic>
        <p:nvPicPr>
          <p:cNvPr id="42" name="그림 41"/>
          <p:cNvPicPr>
            <a:picLocks noChangeAspect="1"/>
          </p:cNvPicPr>
          <p:nvPr/>
        </p:nvPicPr>
        <p:blipFill>
          <a:blip r:embed="rId6"/>
          <a:stretch>
            <a:fillRect/>
          </a:stretch>
        </p:blipFill>
        <p:spPr>
          <a:xfrm>
            <a:off x="906498" y="5960177"/>
            <a:ext cx="1019317" cy="257211"/>
          </a:xfrm>
          <a:prstGeom prst="rect">
            <a:avLst/>
          </a:prstGeom>
        </p:spPr>
      </p:pic>
      <p:pic>
        <p:nvPicPr>
          <p:cNvPr id="44" name="그림 43"/>
          <p:cNvPicPr>
            <a:picLocks noChangeAspect="1"/>
          </p:cNvPicPr>
          <p:nvPr/>
        </p:nvPicPr>
        <p:blipFill>
          <a:blip r:embed="rId7"/>
          <a:stretch>
            <a:fillRect/>
          </a:stretch>
        </p:blipFill>
        <p:spPr>
          <a:xfrm>
            <a:off x="649287" y="6326891"/>
            <a:ext cx="1533739" cy="285790"/>
          </a:xfrm>
          <a:prstGeom prst="rect">
            <a:avLst/>
          </a:prstGeom>
        </p:spPr>
      </p:pic>
      <p:pic>
        <p:nvPicPr>
          <p:cNvPr id="45" name="그림 44"/>
          <p:cNvPicPr>
            <a:picLocks noChangeAspect="1"/>
          </p:cNvPicPr>
          <p:nvPr/>
        </p:nvPicPr>
        <p:blipFill>
          <a:blip r:embed="rId8"/>
          <a:stretch>
            <a:fillRect/>
          </a:stretch>
        </p:blipFill>
        <p:spPr>
          <a:xfrm>
            <a:off x="978692" y="4460481"/>
            <a:ext cx="874928" cy="261473"/>
          </a:xfrm>
          <a:prstGeom prst="rect">
            <a:avLst/>
          </a:prstGeom>
        </p:spPr>
      </p:pic>
      <p:sp>
        <p:nvSpPr>
          <p:cNvPr id="46" name="TextBox 45">
            <a:extLst>
              <a:ext uri="{FF2B5EF4-FFF2-40B4-BE49-F238E27FC236}">
                <a16:creationId xmlns:a16="http://schemas.microsoft.com/office/drawing/2014/main" id="{B90186AB-10F7-0A0A-4756-EF3C110F88A1}"/>
              </a:ext>
            </a:extLst>
          </p:cNvPr>
          <p:cNvSpPr txBox="1"/>
          <p:nvPr/>
        </p:nvSpPr>
        <p:spPr>
          <a:xfrm>
            <a:off x="2291008" y="4500436"/>
            <a:ext cx="1478104" cy="22121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7" name="TextBox 46">
            <a:extLst>
              <a:ext uri="{FF2B5EF4-FFF2-40B4-BE49-F238E27FC236}">
                <a16:creationId xmlns:a16="http://schemas.microsoft.com/office/drawing/2014/main" id="{B90186AB-10F7-0A0A-4756-EF3C110F88A1}"/>
              </a:ext>
            </a:extLst>
          </p:cNvPr>
          <p:cNvSpPr txBox="1"/>
          <p:nvPr/>
        </p:nvSpPr>
        <p:spPr>
          <a:xfrm>
            <a:off x="2291008" y="4878357"/>
            <a:ext cx="1478104" cy="22121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된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8" name="TextBox 47">
            <a:extLst>
              <a:ext uri="{FF2B5EF4-FFF2-40B4-BE49-F238E27FC236}">
                <a16:creationId xmlns:a16="http://schemas.microsoft.com/office/drawing/2014/main" id="{B90186AB-10F7-0A0A-4756-EF3C110F88A1}"/>
              </a:ext>
            </a:extLst>
          </p:cNvPr>
          <p:cNvSpPr txBox="1"/>
          <p:nvPr/>
        </p:nvSpPr>
        <p:spPr>
          <a:xfrm>
            <a:off x="2291007" y="5256278"/>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후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오류통보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9" name="TextBox 48">
            <a:extLst>
              <a:ext uri="{FF2B5EF4-FFF2-40B4-BE49-F238E27FC236}">
                <a16:creationId xmlns:a16="http://schemas.microsoft.com/office/drawing/2014/main" id="{B90186AB-10F7-0A0A-4756-EF3C110F88A1}"/>
              </a:ext>
            </a:extLst>
          </p:cNvPr>
          <p:cNvSpPr txBox="1"/>
          <p:nvPr/>
        </p:nvSpPr>
        <p:spPr>
          <a:xfrm>
            <a:off x="2291007" y="5628433"/>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정상 접수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0" name="TextBox 49">
            <a:extLst>
              <a:ext uri="{FF2B5EF4-FFF2-40B4-BE49-F238E27FC236}">
                <a16:creationId xmlns:a16="http://schemas.microsoft.com/office/drawing/2014/main" id="{B90186AB-10F7-0A0A-4756-EF3C110F88A1}"/>
              </a:ext>
            </a:extLst>
          </p:cNvPr>
          <p:cNvSpPr txBox="1"/>
          <p:nvPr/>
        </p:nvSpPr>
        <p:spPr>
          <a:xfrm>
            <a:off x="2291007" y="6000588"/>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 보완이 필요한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1" name="TextBox 50">
            <a:extLst>
              <a:ext uri="{FF2B5EF4-FFF2-40B4-BE49-F238E27FC236}">
                <a16:creationId xmlns:a16="http://schemas.microsoft.com/office/drawing/2014/main" id="{B90186AB-10F7-0A0A-4756-EF3C110F88A1}"/>
              </a:ext>
            </a:extLst>
          </p:cNvPr>
          <p:cNvSpPr txBox="1"/>
          <p:nvPr/>
        </p:nvSpPr>
        <p:spPr>
          <a:xfrm>
            <a:off x="2291007" y="6372743"/>
            <a:ext cx="198362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완료통보후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자료제출 요청</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2" name="TextBox 51">
            <a:extLst>
              <a:ext uri="{FF2B5EF4-FFF2-40B4-BE49-F238E27FC236}">
                <a16:creationId xmlns:a16="http://schemas.microsoft.com/office/drawing/2014/main" id="{B90186AB-10F7-0A0A-4756-EF3C110F88A1}"/>
              </a:ext>
            </a:extLst>
          </p:cNvPr>
          <p:cNvSpPr txBox="1"/>
          <p:nvPr/>
        </p:nvSpPr>
        <p:spPr>
          <a:xfrm>
            <a:off x="2291007" y="6744897"/>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신청 완료</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53" name="직선 연결선 52"/>
          <p:cNvCxnSpPr/>
          <p:nvPr/>
        </p:nvCxnSpPr>
        <p:spPr>
          <a:xfrm flipH="1">
            <a:off x="536550" y="4747688"/>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4" name="직선 연결선 53"/>
          <p:cNvCxnSpPr/>
          <p:nvPr/>
        </p:nvCxnSpPr>
        <p:spPr>
          <a:xfrm flipH="1">
            <a:off x="536550" y="5175229"/>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직선 연결선 54"/>
          <p:cNvCxnSpPr/>
          <p:nvPr/>
        </p:nvCxnSpPr>
        <p:spPr>
          <a:xfrm flipH="1">
            <a:off x="536550" y="5584892"/>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직선 연결선 55"/>
          <p:cNvCxnSpPr/>
          <p:nvPr/>
        </p:nvCxnSpPr>
        <p:spPr>
          <a:xfrm flipH="1">
            <a:off x="536550" y="5924855"/>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직선 연결선 56"/>
          <p:cNvCxnSpPr/>
          <p:nvPr/>
        </p:nvCxnSpPr>
        <p:spPr>
          <a:xfrm flipH="1">
            <a:off x="536550" y="6326732"/>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직선 연결선 57"/>
          <p:cNvCxnSpPr/>
          <p:nvPr/>
        </p:nvCxnSpPr>
        <p:spPr>
          <a:xfrm flipH="1">
            <a:off x="536550" y="6650126"/>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직선 연결선 58"/>
          <p:cNvCxnSpPr/>
          <p:nvPr/>
        </p:nvCxnSpPr>
        <p:spPr>
          <a:xfrm flipH="1">
            <a:off x="536550" y="7008945"/>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60" name="직사각형 59"/>
          <p:cNvSpPr/>
          <p:nvPr/>
        </p:nvSpPr>
        <p:spPr>
          <a:xfrm>
            <a:off x="4513819" y="4060773"/>
            <a:ext cx="5931157"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전송 </a:t>
            </a:r>
            <a:r>
              <a:rPr lang="en-US" altLang="ko-KR" sz="1400" dirty="0" smtClean="0">
                <a:solidFill>
                  <a:schemeClr val="bg1"/>
                </a:solidFill>
                <a:latin typeface="Arita Dotum KR Medium" panose="02020603020101020101" pitchFamily="18" charset="-127"/>
                <a:ea typeface="Arita Dotum KR Medium" panose="02020603020101020101" pitchFamily="18" charset="-127"/>
              </a:rPr>
              <a:t>PROCESS</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61" name="그림 60"/>
          <p:cNvPicPr>
            <a:picLocks noChangeAspect="1"/>
          </p:cNvPicPr>
          <p:nvPr/>
        </p:nvPicPr>
        <p:blipFill>
          <a:blip r:embed="rId8"/>
          <a:stretch>
            <a:fillRect/>
          </a:stretch>
        </p:blipFill>
        <p:spPr>
          <a:xfrm>
            <a:off x="6662791" y="4460481"/>
            <a:ext cx="874928" cy="261473"/>
          </a:xfrm>
          <a:prstGeom prst="rect">
            <a:avLst/>
          </a:prstGeom>
        </p:spPr>
      </p:pic>
      <p:pic>
        <p:nvPicPr>
          <p:cNvPr id="62" name="그림 61"/>
          <p:cNvPicPr>
            <a:picLocks noChangeAspect="1"/>
          </p:cNvPicPr>
          <p:nvPr/>
        </p:nvPicPr>
        <p:blipFill>
          <a:blip r:embed="rId3"/>
          <a:stretch>
            <a:fillRect/>
          </a:stretch>
        </p:blipFill>
        <p:spPr>
          <a:xfrm>
            <a:off x="6681097" y="4975689"/>
            <a:ext cx="838317" cy="266737"/>
          </a:xfrm>
          <a:prstGeom prst="rect">
            <a:avLst/>
          </a:prstGeom>
        </p:spPr>
      </p:pic>
      <p:pic>
        <p:nvPicPr>
          <p:cNvPr id="63" name="그림 62"/>
          <p:cNvPicPr>
            <a:picLocks noChangeAspect="1"/>
          </p:cNvPicPr>
          <p:nvPr/>
        </p:nvPicPr>
        <p:blipFill>
          <a:blip r:embed="rId4"/>
          <a:stretch>
            <a:fillRect/>
          </a:stretch>
        </p:blipFill>
        <p:spPr>
          <a:xfrm>
            <a:off x="5848245" y="5498874"/>
            <a:ext cx="1057423" cy="266737"/>
          </a:xfrm>
          <a:prstGeom prst="rect">
            <a:avLst/>
          </a:prstGeom>
        </p:spPr>
      </p:pic>
      <p:pic>
        <p:nvPicPr>
          <p:cNvPr id="64" name="그림 63"/>
          <p:cNvPicPr>
            <a:picLocks noChangeAspect="1"/>
          </p:cNvPicPr>
          <p:nvPr/>
        </p:nvPicPr>
        <p:blipFill>
          <a:blip r:embed="rId5"/>
          <a:stretch>
            <a:fillRect/>
          </a:stretch>
        </p:blipFill>
        <p:spPr>
          <a:xfrm>
            <a:off x="7652035" y="5496162"/>
            <a:ext cx="809738" cy="266737"/>
          </a:xfrm>
          <a:prstGeom prst="rect">
            <a:avLst/>
          </a:prstGeom>
        </p:spPr>
      </p:pic>
      <p:pic>
        <p:nvPicPr>
          <p:cNvPr id="65" name="그림 64"/>
          <p:cNvPicPr>
            <a:picLocks noChangeAspect="1"/>
          </p:cNvPicPr>
          <p:nvPr/>
        </p:nvPicPr>
        <p:blipFill>
          <a:blip r:embed="rId6"/>
          <a:stretch>
            <a:fillRect/>
          </a:stretch>
        </p:blipFill>
        <p:spPr>
          <a:xfrm>
            <a:off x="7547246" y="6087426"/>
            <a:ext cx="1019317" cy="257211"/>
          </a:xfrm>
          <a:prstGeom prst="rect">
            <a:avLst/>
          </a:prstGeom>
        </p:spPr>
      </p:pic>
      <p:cxnSp>
        <p:nvCxnSpPr>
          <p:cNvPr id="9" name="직선 화살표 연결선 8"/>
          <p:cNvCxnSpPr>
            <a:stCxn id="61" idx="2"/>
            <a:endCxn id="62" idx="0"/>
          </p:cNvCxnSpPr>
          <p:nvPr/>
        </p:nvCxnSpPr>
        <p:spPr>
          <a:xfrm>
            <a:off x="7100255" y="4721954"/>
            <a:ext cx="1" cy="253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꺾인 연결선 15"/>
          <p:cNvCxnSpPr>
            <a:stCxn id="62" idx="2"/>
            <a:endCxn id="64" idx="0"/>
          </p:cNvCxnSpPr>
          <p:nvPr/>
        </p:nvCxnSpPr>
        <p:spPr>
          <a:xfrm rot="16200000" flipH="1">
            <a:off x="7451712" y="4890970"/>
            <a:ext cx="253736" cy="9566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꺾인 연결선 68"/>
          <p:cNvCxnSpPr>
            <a:stCxn id="62" idx="2"/>
            <a:endCxn id="63" idx="0"/>
          </p:cNvCxnSpPr>
          <p:nvPr/>
        </p:nvCxnSpPr>
        <p:spPr>
          <a:xfrm rot="5400000">
            <a:off x="6610383" y="5009001"/>
            <a:ext cx="256448" cy="7232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꺾인 연결선 70"/>
          <p:cNvCxnSpPr>
            <a:stCxn id="63" idx="1"/>
            <a:endCxn id="62" idx="1"/>
          </p:cNvCxnSpPr>
          <p:nvPr/>
        </p:nvCxnSpPr>
        <p:spPr>
          <a:xfrm rot="10800000" flipH="1">
            <a:off x="5848245" y="5109059"/>
            <a:ext cx="832852" cy="523185"/>
          </a:xfrm>
          <a:prstGeom prst="bentConnector3">
            <a:avLst>
              <a:gd name="adj1" fmla="val -2744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꺾인 연결선 72"/>
          <p:cNvCxnSpPr>
            <a:stCxn id="64" idx="2"/>
            <a:endCxn id="65" idx="0"/>
          </p:cNvCxnSpPr>
          <p:nvPr/>
        </p:nvCxnSpPr>
        <p:spPr>
          <a:xfrm rot="16200000" flipH="1">
            <a:off x="7894641" y="5925161"/>
            <a:ext cx="324527"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꺾인 연결선 76"/>
          <p:cNvCxnSpPr>
            <a:stCxn id="65" idx="1"/>
            <a:endCxn id="62" idx="1"/>
          </p:cNvCxnSpPr>
          <p:nvPr/>
        </p:nvCxnSpPr>
        <p:spPr>
          <a:xfrm rot="10800000">
            <a:off x="6681098" y="5109058"/>
            <a:ext cx="866149" cy="1106974"/>
          </a:xfrm>
          <a:prstGeom prst="bentConnector3">
            <a:avLst>
              <a:gd name="adj1" fmla="val 28346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꺾인 연결선 79"/>
          <p:cNvCxnSpPr>
            <a:stCxn id="65" idx="2"/>
            <a:endCxn id="67" idx="0"/>
          </p:cNvCxnSpPr>
          <p:nvPr/>
        </p:nvCxnSpPr>
        <p:spPr>
          <a:xfrm rot="5400000">
            <a:off x="7873528" y="6528014"/>
            <a:ext cx="366754"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꺾인 연결선 83"/>
          <p:cNvCxnSpPr>
            <a:stCxn id="65" idx="3"/>
            <a:endCxn id="66" idx="1"/>
          </p:cNvCxnSpPr>
          <p:nvPr/>
        </p:nvCxnSpPr>
        <p:spPr>
          <a:xfrm flipV="1">
            <a:off x="8566563" y="6216031"/>
            <a:ext cx="386260"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그림 1"/>
          <p:cNvPicPr>
            <a:picLocks noChangeAspect="1"/>
          </p:cNvPicPr>
          <p:nvPr/>
        </p:nvPicPr>
        <p:blipFill>
          <a:blip r:embed="rId9"/>
          <a:stretch>
            <a:fillRect/>
          </a:stretch>
        </p:blipFill>
        <p:spPr>
          <a:xfrm>
            <a:off x="8948683" y="6107660"/>
            <a:ext cx="1038370" cy="228632"/>
          </a:xfrm>
          <a:prstGeom prst="rect">
            <a:avLst/>
          </a:prstGeom>
        </p:spPr>
      </p:pic>
      <p:pic>
        <p:nvPicPr>
          <p:cNvPr id="68" name="그림 67"/>
          <p:cNvPicPr>
            <a:picLocks noChangeAspect="1"/>
          </p:cNvPicPr>
          <p:nvPr/>
        </p:nvPicPr>
        <p:blipFill>
          <a:blip r:embed="rId9"/>
          <a:stretch>
            <a:fillRect/>
          </a:stretch>
        </p:blipFill>
        <p:spPr>
          <a:xfrm>
            <a:off x="7576105" y="6703057"/>
            <a:ext cx="1038370" cy="228632"/>
          </a:xfrm>
          <a:prstGeom prst="rect">
            <a:avLst/>
          </a:prstGeom>
        </p:spPr>
      </p:pic>
      <p:pic>
        <p:nvPicPr>
          <p:cNvPr id="70" name="그림 69"/>
          <p:cNvPicPr>
            <a:picLocks noChangeAspect="1"/>
          </p:cNvPicPr>
          <p:nvPr/>
        </p:nvPicPr>
        <p:blipFill>
          <a:blip r:embed="rId9"/>
          <a:stretch>
            <a:fillRect/>
          </a:stretch>
        </p:blipFill>
        <p:spPr>
          <a:xfrm>
            <a:off x="896971" y="6703057"/>
            <a:ext cx="1038370" cy="228632"/>
          </a:xfrm>
          <a:prstGeom prst="rect">
            <a:avLst/>
          </a:prstGeom>
        </p:spPr>
      </p:pic>
      <p:pic>
        <p:nvPicPr>
          <p:cNvPr id="3" name="그림 2"/>
          <p:cNvPicPr>
            <a:picLocks noChangeAspect="1"/>
          </p:cNvPicPr>
          <p:nvPr/>
        </p:nvPicPr>
        <p:blipFill>
          <a:blip r:embed="rId10"/>
          <a:stretch>
            <a:fillRect/>
          </a:stretch>
        </p:blipFill>
        <p:spPr>
          <a:xfrm>
            <a:off x="848429" y="2876840"/>
            <a:ext cx="809738" cy="209579"/>
          </a:xfrm>
          <a:prstGeom prst="rect">
            <a:avLst/>
          </a:prstGeom>
        </p:spPr>
      </p:pic>
      <p:cxnSp>
        <p:nvCxnSpPr>
          <p:cNvPr id="72" name="직선 연결선 71"/>
          <p:cNvCxnSpPr/>
          <p:nvPr/>
        </p:nvCxnSpPr>
        <p:spPr>
          <a:xfrm flipH="1">
            <a:off x="536550" y="3282890"/>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B90186AB-10F7-0A0A-4756-EF3C110F88A1}"/>
              </a:ext>
            </a:extLst>
          </p:cNvPr>
          <p:cNvSpPr txBox="1"/>
          <p:nvPr/>
        </p:nvSpPr>
        <p:spPr>
          <a:xfrm>
            <a:off x="2045681" y="2931794"/>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해당 신청서의 조견표를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75" name="직선 연결선 74"/>
          <p:cNvCxnSpPr/>
          <p:nvPr/>
        </p:nvCxnSpPr>
        <p:spPr>
          <a:xfrm flipH="1">
            <a:off x="536550" y="3773557"/>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B90186AB-10F7-0A0A-4756-EF3C110F88A1}"/>
              </a:ext>
            </a:extLst>
          </p:cNvPr>
          <p:cNvSpPr txBox="1"/>
          <p:nvPr/>
        </p:nvSpPr>
        <p:spPr>
          <a:xfrm>
            <a:off x="2045681" y="3422461"/>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해당 신청서의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매출정보에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Mapping</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된 세금계산서 정보를 조회합니다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4" name="그림 3"/>
          <p:cNvPicPr>
            <a:picLocks noChangeAspect="1"/>
          </p:cNvPicPr>
          <p:nvPr/>
        </p:nvPicPr>
        <p:blipFill>
          <a:blip r:embed="rId11"/>
          <a:stretch>
            <a:fillRect/>
          </a:stretch>
        </p:blipFill>
        <p:spPr>
          <a:xfrm>
            <a:off x="710460" y="3393900"/>
            <a:ext cx="1143160" cy="257211"/>
          </a:xfrm>
          <a:prstGeom prst="rect">
            <a:avLst/>
          </a:prstGeom>
        </p:spPr>
      </p:pic>
      <p:sp>
        <p:nvSpPr>
          <p:cNvPr id="66" name="TextBox 65">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환급관리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7328622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a:latin typeface="Arita Dotum KR Medium" panose="02020603020101020101" pitchFamily="18" charset="-127"/>
                <a:ea typeface="Arita Dotum KR Medium" panose="02020603020101020101" pitchFamily="18" charset="-127"/>
              </a:rPr>
              <a:t>잔량레포트</a:t>
            </a:r>
            <a:r>
              <a:rPr lang="en-US" altLang="ko-KR" dirty="0">
                <a:latin typeface="Arita Dotum KR Medium" panose="02020603020101020101" pitchFamily="18" charset="-127"/>
                <a:ea typeface="Arita Dotum KR Medium" panose="02020603020101020101" pitchFamily="18" charset="-127"/>
              </a:rPr>
              <a:t>- </a:t>
            </a:r>
            <a:r>
              <a:rPr lang="ko-KR" altLang="en-US" dirty="0">
                <a:latin typeface="Arita Dotum KR Medium" panose="02020603020101020101" pitchFamily="18" charset="-127"/>
                <a:ea typeface="Arita Dotum KR Medium" panose="02020603020101020101" pitchFamily="18" charset="-127"/>
              </a:rPr>
              <a:t>양도자</a:t>
            </a:r>
            <a:r>
              <a:rPr lang="en-US" altLang="ko-KR" dirty="0">
                <a:latin typeface="Arita Dotum KR Medium" panose="02020603020101020101" pitchFamily="18" charset="-127"/>
                <a:ea typeface="Arita Dotum KR Medium" panose="02020603020101020101" pitchFamily="18" charset="-127"/>
              </a:rPr>
              <a:t>(</a:t>
            </a:r>
            <a:r>
              <a:rPr lang="ko-KR" altLang="en-US" dirty="0" err="1">
                <a:latin typeface="Arita Dotum KR Medium" panose="02020603020101020101" pitchFamily="18" charset="-127"/>
                <a:ea typeface="Arita Dotum KR Medium" panose="02020603020101020101" pitchFamily="18" charset="-127"/>
              </a:rPr>
              <a:t>수출자</a:t>
            </a:r>
            <a:r>
              <a:rPr lang="en-US" altLang="ko-KR" dirty="0">
                <a:latin typeface="Arita Dotum KR Medium" panose="02020603020101020101" pitchFamily="18" charset="-127"/>
                <a:ea typeface="Arita Dotum KR Medium" panose="02020603020101020101" pitchFamily="18" charset="-127"/>
              </a:rPr>
              <a:t>)</a:t>
            </a:r>
            <a:r>
              <a:rPr lang="ko-KR" altLang="en-US" dirty="0">
                <a:latin typeface="Arita Dotum KR Medium" panose="02020603020101020101" pitchFamily="18" charset="-127"/>
                <a:ea typeface="Arita Dotum KR Medium" panose="02020603020101020101" pitchFamily="18" charset="-127"/>
              </a:rPr>
              <a:t>별</a:t>
            </a: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7" name="직사각형 6"/>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30" name="직사각형 29"/>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31" name="직선 연결선 30"/>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90186AB-10F7-0A0A-4756-EF3C110F88A1}"/>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기준일자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세액</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 기준으로 검색하여 양도자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별 정보를 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2" name="그림 1"/>
          <p:cNvPicPr>
            <a:picLocks noChangeAspect="1"/>
          </p:cNvPicPr>
          <p:nvPr/>
        </p:nvPicPr>
        <p:blipFill>
          <a:blip r:embed="rId2"/>
          <a:stretch>
            <a:fillRect/>
          </a:stretch>
        </p:blipFill>
        <p:spPr>
          <a:xfrm>
            <a:off x="675075" y="1360086"/>
            <a:ext cx="6733462" cy="3528000"/>
          </a:xfrm>
          <a:prstGeom prst="rect">
            <a:avLst/>
          </a:prstGeom>
        </p:spPr>
      </p:pic>
      <p:pic>
        <p:nvPicPr>
          <p:cNvPr id="8" name="그림 7">
            <a:extLst>
              <a:ext uri="{FF2B5EF4-FFF2-40B4-BE49-F238E27FC236}">
                <a16:creationId xmlns:a16="http://schemas.microsoft.com/office/drawing/2014/main" id="{276D93FB-C517-A064-3A1B-59D958BC3555}"/>
              </a:ext>
            </a:extLst>
          </p:cNvPr>
          <p:cNvPicPr>
            <a:picLocks noChangeAspect="1"/>
          </p:cNvPicPr>
          <p:nvPr/>
        </p:nvPicPr>
        <p:blipFill>
          <a:blip r:embed="rId3"/>
          <a:stretch>
            <a:fillRect/>
          </a:stretch>
        </p:blipFill>
        <p:spPr>
          <a:xfrm>
            <a:off x="924686" y="5561624"/>
            <a:ext cx="657225" cy="215444"/>
          </a:xfrm>
          <a:prstGeom prst="rect">
            <a:avLst/>
          </a:prstGeom>
        </p:spPr>
      </p:pic>
      <p:sp>
        <p:nvSpPr>
          <p:cNvPr id="9" name="TextBox 8">
            <a:extLst>
              <a:ext uri="{FF2B5EF4-FFF2-40B4-BE49-F238E27FC236}">
                <a16:creationId xmlns:a16="http://schemas.microsoft.com/office/drawing/2014/main" id="{F1AE2A95-4851-8190-9219-3A6E38F1CD39}"/>
              </a:ext>
            </a:extLst>
          </p:cNvPr>
          <p:cNvSpPr txBox="1"/>
          <p:nvPr/>
        </p:nvSpPr>
        <p:spPr>
          <a:xfrm>
            <a:off x="7558259" y="1679843"/>
            <a:ext cx="3005662" cy="1938992"/>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환급을 신청한 후 남아있는 잔량에 대한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양도자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별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잔량세액이 가장 많은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5</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개 업체선정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잔량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이 가장 많은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5</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개 업체선정</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잔량세액 또는 수량 부분을 클릭하는 경우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 상세내역에 양도자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수출자별</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정보가 표기됩니다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86693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a:latin typeface="Arita Dotum KR Medium" panose="02020603020101020101" pitchFamily="18" charset="-127"/>
                <a:ea typeface="Arita Dotum KR Medium" panose="02020603020101020101" pitchFamily="18" charset="-127"/>
              </a:rPr>
              <a:t>잔량레포트</a:t>
            </a:r>
            <a:r>
              <a:rPr lang="en-US" altLang="ko-KR" dirty="0">
                <a:latin typeface="Arita Dotum KR Medium" panose="02020603020101020101" pitchFamily="18" charset="-127"/>
                <a:ea typeface="Arita Dotum KR Medium" panose="02020603020101020101" pitchFamily="18" charset="-127"/>
              </a:rPr>
              <a:t>- </a:t>
            </a:r>
            <a:r>
              <a:rPr lang="ko-KR" altLang="en-US" dirty="0" err="1">
                <a:latin typeface="Arita Dotum KR Medium" panose="02020603020101020101" pitchFamily="18" charset="-127"/>
                <a:ea typeface="Arita Dotum KR Medium" panose="02020603020101020101" pitchFamily="18" charset="-127"/>
              </a:rPr>
              <a:t>자재코드별</a:t>
            </a:r>
            <a:endParaRPr lang="ko-KR" altLang="en-US" dirty="0">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3" name="그림 2"/>
          <p:cNvPicPr>
            <a:picLocks noChangeAspect="1"/>
          </p:cNvPicPr>
          <p:nvPr/>
        </p:nvPicPr>
        <p:blipFill>
          <a:blip r:embed="rId2"/>
          <a:stretch>
            <a:fillRect/>
          </a:stretch>
        </p:blipFill>
        <p:spPr>
          <a:xfrm>
            <a:off x="536550" y="1343717"/>
            <a:ext cx="6896750" cy="3528000"/>
          </a:xfrm>
          <a:prstGeom prst="rect">
            <a:avLst/>
          </a:prstGeom>
        </p:spPr>
      </p:pic>
      <p:sp>
        <p:nvSpPr>
          <p:cNvPr id="2" name="TextBox 1">
            <a:extLst>
              <a:ext uri="{FF2B5EF4-FFF2-40B4-BE49-F238E27FC236}">
                <a16:creationId xmlns:a16="http://schemas.microsoft.com/office/drawing/2014/main" id="{86C8F53C-6B4F-5C9A-2F0E-29C0CBA8F649}"/>
              </a:ext>
            </a:extLst>
          </p:cNvPr>
          <p:cNvSpPr txBox="1"/>
          <p:nvPr/>
        </p:nvSpPr>
        <p:spPr>
          <a:xfrm>
            <a:off x="7558258" y="1679843"/>
            <a:ext cx="3224041" cy="1938992"/>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환급을 신청한 후 남아있는 잔량에 대한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자재코드별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잔량세액이 가장 많은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5</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개 자재코드 선정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잔량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이 가장 많은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5</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개 자재코드 선정</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잔량세액 또는 수량 부분을 클릭하는 경우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 상세내역에 자재코드와 관련된</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정보가 표기됩니다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1" name="직사각형 10">
            <a:extLst>
              <a:ext uri="{FF2B5EF4-FFF2-40B4-BE49-F238E27FC236}">
                <a16:creationId xmlns:a16="http://schemas.microsoft.com/office/drawing/2014/main" id="{15CCAB09-4D19-2DA0-A13E-6762BC7CB9F8}"/>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12" name="직사각형 11">
            <a:extLst>
              <a:ext uri="{FF2B5EF4-FFF2-40B4-BE49-F238E27FC236}">
                <a16:creationId xmlns:a16="http://schemas.microsoft.com/office/drawing/2014/main" id="{AA396E77-DF39-078E-2962-D6888B2F75C2}"/>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13" name="직선 연결선 12">
            <a:extLst>
              <a:ext uri="{FF2B5EF4-FFF2-40B4-BE49-F238E27FC236}">
                <a16:creationId xmlns:a16="http://schemas.microsoft.com/office/drawing/2014/main" id="{C505FF42-7227-AD87-4D08-7693643E7A88}"/>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132DF42-803E-726E-30B4-D6CD8F8501B3}"/>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기준일자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세액</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 기준으로 검색하여 자재코드별 정보를 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5" name="그림 14">
            <a:extLst>
              <a:ext uri="{FF2B5EF4-FFF2-40B4-BE49-F238E27FC236}">
                <a16:creationId xmlns:a16="http://schemas.microsoft.com/office/drawing/2014/main" id="{53C3DB63-D885-FC80-447A-D8858FB88A42}"/>
              </a:ext>
            </a:extLst>
          </p:cNvPr>
          <p:cNvPicPr>
            <a:picLocks noChangeAspect="1"/>
          </p:cNvPicPr>
          <p:nvPr/>
        </p:nvPicPr>
        <p:blipFill>
          <a:blip r:embed="rId3"/>
          <a:stretch>
            <a:fillRect/>
          </a:stretch>
        </p:blipFill>
        <p:spPr>
          <a:xfrm>
            <a:off x="924686" y="5561624"/>
            <a:ext cx="657225" cy="215444"/>
          </a:xfrm>
          <a:prstGeom prst="rect">
            <a:avLst/>
          </a:prstGeom>
        </p:spPr>
      </p:pic>
      <p:sp>
        <p:nvSpPr>
          <p:cNvPr id="16" name="TextBox 15">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4191709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a:latin typeface="Arita Dotum KR Medium" panose="02020603020101020101" pitchFamily="18" charset="-127"/>
                <a:ea typeface="Arita Dotum KR Medium" panose="02020603020101020101" pitchFamily="18" charset="-127"/>
              </a:rPr>
              <a:t>잔량레포트</a:t>
            </a:r>
            <a:r>
              <a:rPr lang="en-US" altLang="ko-KR" dirty="0">
                <a:latin typeface="Arita Dotum KR Medium" panose="02020603020101020101" pitchFamily="18" charset="-127"/>
                <a:ea typeface="Arita Dotum KR Medium" panose="02020603020101020101" pitchFamily="18" charset="-127"/>
              </a:rPr>
              <a:t>- HS CODE</a:t>
            </a:r>
            <a:r>
              <a:rPr lang="ko-KR" altLang="en-US" dirty="0">
                <a:latin typeface="Arita Dotum KR Medium" panose="02020603020101020101" pitchFamily="18" charset="-127"/>
                <a:ea typeface="Arita Dotum KR Medium" panose="02020603020101020101" pitchFamily="18" charset="-127"/>
              </a:rPr>
              <a:t>별</a:t>
            </a: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2" name="그림 1"/>
          <p:cNvPicPr>
            <a:picLocks noChangeAspect="1"/>
          </p:cNvPicPr>
          <p:nvPr/>
        </p:nvPicPr>
        <p:blipFill>
          <a:blip r:embed="rId2"/>
          <a:stretch>
            <a:fillRect/>
          </a:stretch>
        </p:blipFill>
        <p:spPr>
          <a:xfrm>
            <a:off x="536550" y="1306665"/>
            <a:ext cx="6771354" cy="3528000"/>
          </a:xfrm>
          <a:prstGeom prst="rect">
            <a:avLst/>
          </a:prstGeom>
        </p:spPr>
      </p:pic>
      <p:sp>
        <p:nvSpPr>
          <p:cNvPr id="3" name="TextBox 2">
            <a:extLst>
              <a:ext uri="{FF2B5EF4-FFF2-40B4-BE49-F238E27FC236}">
                <a16:creationId xmlns:a16="http://schemas.microsoft.com/office/drawing/2014/main" id="{0D7B555C-1B45-E6BF-1D17-A6AF6E48CBF7}"/>
              </a:ext>
            </a:extLst>
          </p:cNvPr>
          <p:cNvSpPr txBox="1"/>
          <p:nvPr/>
        </p:nvSpPr>
        <p:spPr>
          <a:xfrm>
            <a:off x="7558258" y="1679843"/>
            <a:ext cx="3349455" cy="1938992"/>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환급을 신청한 후 남아있는 잔량에 대한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잔량세액이 가장 많은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5</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개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선정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잔량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이 가장 많은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5</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개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선정</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잔량세액 또는 수량 부분을 클릭하는 경우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 상세내역에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와 관련된</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정보가 표기됩니다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4" name="직사각형 3">
            <a:extLst>
              <a:ext uri="{FF2B5EF4-FFF2-40B4-BE49-F238E27FC236}">
                <a16:creationId xmlns:a16="http://schemas.microsoft.com/office/drawing/2014/main" id="{5D4287A3-FBC0-CC64-6B03-DF324E666660}"/>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5" name="직사각형 4">
            <a:extLst>
              <a:ext uri="{FF2B5EF4-FFF2-40B4-BE49-F238E27FC236}">
                <a16:creationId xmlns:a16="http://schemas.microsoft.com/office/drawing/2014/main" id="{81A53A02-740B-5F6C-5C24-F57ECB46813D}"/>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8" name="직선 연결선 7">
            <a:extLst>
              <a:ext uri="{FF2B5EF4-FFF2-40B4-BE49-F238E27FC236}">
                <a16:creationId xmlns:a16="http://schemas.microsoft.com/office/drawing/2014/main" id="{BF9859C2-B586-8F50-DFA0-9E03577CC935}"/>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E341F71-9CF8-3B3E-C5DE-E1C1F43CDBD4}"/>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기준일자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세액</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 기준으로 검색하여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정보를 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0" name="그림 9">
            <a:extLst>
              <a:ext uri="{FF2B5EF4-FFF2-40B4-BE49-F238E27FC236}">
                <a16:creationId xmlns:a16="http://schemas.microsoft.com/office/drawing/2014/main" id="{D42315A7-6082-E203-0A65-52087E1DC6B0}"/>
              </a:ext>
            </a:extLst>
          </p:cNvPr>
          <p:cNvPicPr>
            <a:picLocks noChangeAspect="1"/>
          </p:cNvPicPr>
          <p:nvPr/>
        </p:nvPicPr>
        <p:blipFill>
          <a:blip r:embed="rId3"/>
          <a:stretch>
            <a:fillRect/>
          </a:stretch>
        </p:blipFill>
        <p:spPr>
          <a:xfrm>
            <a:off x="924686" y="5561624"/>
            <a:ext cx="657225" cy="215444"/>
          </a:xfrm>
          <a:prstGeom prst="rect">
            <a:avLst/>
          </a:prstGeom>
        </p:spPr>
      </p:pic>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671421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환급금액레포트</a:t>
            </a:r>
            <a:r>
              <a:rPr lang="en-US" altLang="ko-KR" dirty="0">
                <a:latin typeface="Arita Dotum KR Medium" panose="02020603020101020101" pitchFamily="18" charset="-127"/>
                <a:ea typeface="Arita Dotum KR Medium" panose="02020603020101020101" pitchFamily="18" charset="-127"/>
              </a:rPr>
              <a:t>-</a:t>
            </a:r>
            <a:r>
              <a:rPr lang="ko-KR" altLang="en-US" dirty="0">
                <a:latin typeface="Arita Dotum KR Medium" panose="02020603020101020101" pitchFamily="18" charset="-127"/>
                <a:ea typeface="Arita Dotum KR Medium" panose="02020603020101020101" pitchFamily="18" charset="-127"/>
              </a:rPr>
              <a:t>거래처</a:t>
            </a: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3" name="그림 2"/>
          <p:cNvPicPr>
            <a:picLocks noChangeAspect="1"/>
          </p:cNvPicPr>
          <p:nvPr/>
        </p:nvPicPr>
        <p:blipFill>
          <a:blip r:embed="rId2"/>
          <a:stretch>
            <a:fillRect/>
          </a:stretch>
        </p:blipFill>
        <p:spPr>
          <a:xfrm>
            <a:off x="536550" y="1360086"/>
            <a:ext cx="6867949" cy="3528000"/>
          </a:xfrm>
          <a:prstGeom prst="rect">
            <a:avLst/>
          </a:prstGeom>
        </p:spPr>
      </p:pic>
      <p:sp>
        <p:nvSpPr>
          <p:cNvPr id="2" name="TextBox 1">
            <a:extLst>
              <a:ext uri="{FF2B5EF4-FFF2-40B4-BE49-F238E27FC236}">
                <a16:creationId xmlns:a16="http://schemas.microsoft.com/office/drawing/2014/main" id="{A2F21284-97EA-20F8-8D58-7992237D73A0}"/>
              </a:ext>
            </a:extLst>
          </p:cNvPr>
          <p:cNvSpPr txBox="1"/>
          <p:nvPr/>
        </p:nvSpPr>
        <p:spPr>
          <a:xfrm>
            <a:off x="7558258" y="1708278"/>
            <a:ext cx="3349455" cy="2154436"/>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환급을 신청한 건에 대해 거래처 별 환급금액에 대한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수출금액 대비 수출자별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환급수량 대비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수출자</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납부세액 대비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수출자</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각 차트에 대한 항목을 클릭하는 경우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 상세내역에 거래처별 환급금액과 관련된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정보가 표기됩니다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4" name="직사각형 3">
            <a:extLst>
              <a:ext uri="{FF2B5EF4-FFF2-40B4-BE49-F238E27FC236}">
                <a16:creationId xmlns:a16="http://schemas.microsoft.com/office/drawing/2014/main" id="{C34395BA-6167-C41E-FAEB-5FE09DAD8C17}"/>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5" name="직사각형 4">
            <a:extLst>
              <a:ext uri="{FF2B5EF4-FFF2-40B4-BE49-F238E27FC236}">
                <a16:creationId xmlns:a16="http://schemas.microsoft.com/office/drawing/2014/main" id="{D5A50FA7-CAE8-6D37-7381-ADD5FA845A3C}"/>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8" name="직선 연결선 7">
            <a:extLst>
              <a:ext uri="{FF2B5EF4-FFF2-40B4-BE49-F238E27FC236}">
                <a16:creationId xmlns:a16="http://schemas.microsoft.com/office/drawing/2014/main" id="{B5890116-94B0-66CF-4DD7-74AF49E50F42}"/>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3D58717-1D72-463E-7718-C3632B2A7E14}"/>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기준일자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 기준으로 검색하여 거래처별 환급금액 정보를 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0" name="그림 9">
            <a:extLst>
              <a:ext uri="{FF2B5EF4-FFF2-40B4-BE49-F238E27FC236}">
                <a16:creationId xmlns:a16="http://schemas.microsoft.com/office/drawing/2014/main" id="{666A7AB1-E901-63B1-3ABD-097CA971E5AA}"/>
              </a:ext>
            </a:extLst>
          </p:cNvPr>
          <p:cNvPicPr>
            <a:picLocks noChangeAspect="1"/>
          </p:cNvPicPr>
          <p:nvPr/>
        </p:nvPicPr>
        <p:blipFill>
          <a:blip r:embed="rId3"/>
          <a:stretch>
            <a:fillRect/>
          </a:stretch>
        </p:blipFill>
        <p:spPr>
          <a:xfrm>
            <a:off x="924686" y="5561624"/>
            <a:ext cx="657225" cy="215444"/>
          </a:xfrm>
          <a:prstGeom prst="rect">
            <a:avLst/>
          </a:prstGeom>
        </p:spPr>
      </p:pic>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133497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환급금액레포트</a:t>
            </a:r>
            <a:r>
              <a:rPr lang="en-US" altLang="ko-KR" dirty="0">
                <a:latin typeface="Arita Dotum KR Medium" panose="02020603020101020101" pitchFamily="18" charset="-127"/>
                <a:ea typeface="Arita Dotum KR Medium" panose="02020603020101020101" pitchFamily="18" charset="-127"/>
              </a:rPr>
              <a:t>-</a:t>
            </a:r>
            <a:r>
              <a:rPr lang="ko-KR" altLang="en-US" dirty="0" err="1">
                <a:latin typeface="Arita Dotum KR Medium" panose="02020603020101020101" pitchFamily="18" charset="-127"/>
                <a:ea typeface="Arita Dotum KR Medium" panose="02020603020101020101" pitchFamily="18" charset="-127"/>
              </a:rPr>
              <a:t>제품코드</a:t>
            </a:r>
            <a:endParaRPr lang="ko-KR" altLang="en-US" dirty="0">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2" name="그림 1"/>
          <p:cNvPicPr>
            <a:picLocks noChangeAspect="1"/>
          </p:cNvPicPr>
          <p:nvPr/>
        </p:nvPicPr>
        <p:blipFill>
          <a:blip r:embed="rId2"/>
          <a:stretch>
            <a:fillRect/>
          </a:stretch>
        </p:blipFill>
        <p:spPr>
          <a:xfrm>
            <a:off x="536550" y="1315781"/>
            <a:ext cx="6859999" cy="3528000"/>
          </a:xfrm>
          <a:prstGeom prst="rect">
            <a:avLst/>
          </a:prstGeom>
        </p:spPr>
      </p:pic>
      <p:sp>
        <p:nvSpPr>
          <p:cNvPr id="3" name="TextBox 2">
            <a:extLst>
              <a:ext uri="{FF2B5EF4-FFF2-40B4-BE49-F238E27FC236}">
                <a16:creationId xmlns:a16="http://schemas.microsoft.com/office/drawing/2014/main" id="{22452C37-F79D-0270-5F8D-52D8F19CB9B2}"/>
              </a:ext>
            </a:extLst>
          </p:cNvPr>
          <p:cNvSpPr txBox="1"/>
          <p:nvPr/>
        </p:nvSpPr>
        <p:spPr>
          <a:xfrm>
            <a:off x="7558258" y="1708278"/>
            <a:ext cx="3349455" cy="2154436"/>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환급을 신청한 건에 대해 제품코드 별 환급금액에 대한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수출금액 대비 제품코드별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환급수량 대비 제품코드별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납부세액 대비 제품코드별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각 차트에 대한 항목을 클릭하는 경우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 상세내역에 제품코드 별 환급금액과 관련된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정보가 표기됩니다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4" name="직사각형 3">
            <a:extLst>
              <a:ext uri="{FF2B5EF4-FFF2-40B4-BE49-F238E27FC236}">
                <a16:creationId xmlns:a16="http://schemas.microsoft.com/office/drawing/2014/main" id="{423E0875-A140-D819-F412-0687B016E385}"/>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5" name="직사각형 4">
            <a:extLst>
              <a:ext uri="{FF2B5EF4-FFF2-40B4-BE49-F238E27FC236}">
                <a16:creationId xmlns:a16="http://schemas.microsoft.com/office/drawing/2014/main" id="{C46F1441-FAEA-E1AA-FF2E-C901B5AC4877}"/>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8" name="직선 연결선 7">
            <a:extLst>
              <a:ext uri="{FF2B5EF4-FFF2-40B4-BE49-F238E27FC236}">
                <a16:creationId xmlns:a16="http://schemas.microsoft.com/office/drawing/2014/main" id="{C29EA334-CB44-F9B4-98E3-17E30D25501A}"/>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06F54EF-B424-FD4D-3E05-9118646A6E3A}"/>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기준일자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 기준으로 검색하여 제품코드별 환급금액 정보를 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0" name="그림 9">
            <a:extLst>
              <a:ext uri="{FF2B5EF4-FFF2-40B4-BE49-F238E27FC236}">
                <a16:creationId xmlns:a16="http://schemas.microsoft.com/office/drawing/2014/main" id="{E933D231-007C-986A-482A-87C1042B7A5C}"/>
              </a:ext>
            </a:extLst>
          </p:cNvPr>
          <p:cNvPicPr>
            <a:picLocks noChangeAspect="1"/>
          </p:cNvPicPr>
          <p:nvPr/>
        </p:nvPicPr>
        <p:blipFill>
          <a:blip r:embed="rId3"/>
          <a:stretch>
            <a:fillRect/>
          </a:stretch>
        </p:blipFill>
        <p:spPr>
          <a:xfrm>
            <a:off x="924686" y="5561624"/>
            <a:ext cx="657225" cy="215444"/>
          </a:xfrm>
          <a:prstGeom prst="rect">
            <a:avLst/>
          </a:prstGeom>
        </p:spPr>
      </p:pic>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090194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환급금액레포트</a:t>
            </a:r>
            <a:r>
              <a:rPr lang="en-US" altLang="ko-KR" dirty="0">
                <a:latin typeface="Arita Dotum KR Medium" panose="02020603020101020101" pitchFamily="18" charset="-127"/>
                <a:ea typeface="Arita Dotum KR Medium" panose="02020603020101020101" pitchFamily="18" charset="-127"/>
              </a:rPr>
              <a:t>-HS CODE</a:t>
            </a:r>
            <a:endParaRPr lang="ko-KR" altLang="en-US" dirty="0">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2" name="그림 1"/>
          <p:cNvPicPr>
            <a:picLocks noChangeAspect="1"/>
          </p:cNvPicPr>
          <p:nvPr/>
        </p:nvPicPr>
        <p:blipFill>
          <a:blip r:embed="rId2"/>
          <a:stretch>
            <a:fillRect/>
          </a:stretch>
        </p:blipFill>
        <p:spPr>
          <a:xfrm>
            <a:off x="536550" y="1343717"/>
            <a:ext cx="6852069" cy="3528000"/>
          </a:xfrm>
          <a:prstGeom prst="rect">
            <a:avLst/>
          </a:prstGeom>
        </p:spPr>
      </p:pic>
      <p:sp>
        <p:nvSpPr>
          <p:cNvPr id="3" name="TextBox 2">
            <a:extLst>
              <a:ext uri="{FF2B5EF4-FFF2-40B4-BE49-F238E27FC236}">
                <a16:creationId xmlns:a16="http://schemas.microsoft.com/office/drawing/2014/main" id="{6CF68DCE-DA32-9D79-8D8E-77CBC3294667}"/>
              </a:ext>
            </a:extLst>
          </p:cNvPr>
          <p:cNvSpPr txBox="1"/>
          <p:nvPr/>
        </p:nvSpPr>
        <p:spPr>
          <a:xfrm>
            <a:off x="7558258" y="1708278"/>
            <a:ext cx="3349455" cy="2154436"/>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환급을 신청한 건에 대해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환급금액에 대한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수출금액 대비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환급수량 대비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납부세액 대비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각 차트에 대한 항목을 클릭하는 경우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 상세내역에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환급금액과 관련된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정보가 표기됩니다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4" name="직사각형 3">
            <a:extLst>
              <a:ext uri="{FF2B5EF4-FFF2-40B4-BE49-F238E27FC236}">
                <a16:creationId xmlns:a16="http://schemas.microsoft.com/office/drawing/2014/main" id="{2F16A389-F40F-7AFD-6698-F2DFD2932A88}"/>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5" name="직사각형 4">
            <a:extLst>
              <a:ext uri="{FF2B5EF4-FFF2-40B4-BE49-F238E27FC236}">
                <a16:creationId xmlns:a16="http://schemas.microsoft.com/office/drawing/2014/main" id="{5C82D86A-D615-CEFD-3349-EE11AEAA1D02}"/>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8" name="직선 연결선 7">
            <a:extLst>
              <a:ext uri="{FF2B5EF4-FFF2-40B4-BE49-F238E27FC236}">
                <a16:creationId xmlns:a16="http://schemas.microsoft.com/office/drawing/2014/main" id="{FC5A50C5-DE24-84EE-F113-A96EF5F719FD}"/>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89AECDD-D709-44A5-45CB-3E76D6B9E275}"/>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기준일자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 기준으로 검색하여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환급금액 정보를 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0" name="그림 9">
            <a:extLst>
              <a:ext uri="{FF2B5EF4-FFF2-40B4-BE49-F238E27FC236}">
                <a16:creationId xmlns:a16="http://schemas.microsoft.com/office/drawing/2014/main" id="{5A9554B6-DBE1-9C02-2B25-A3AA9D4A4DB0}"/>
              </a:ext>
            </a:extLst>
          </p:cNvPr>
          <p:cNvPicPr>
            <a:picLocks noChangeAspect="1"/>
          </p:cNvPicPr>
          <p:nvPr/>
        </p:nvPicPr>
        <p:blipFill>
          <a:blip r:embed="rId3"/>
          <a:stretch>
            <a:fillRect/>
          </a:stretch>
        </p:blipFill>
        <p:spPr>
          <a:xfrm>
            <a:off x="924686" y="5561624"/>
            <a:ext cx="657225" cy="215444"/>
          </a:xfrm>
          <a:prstGeom prst="rect">
            <a:avLst/>
          </a:prstGeom>
        </p:spPr>
      </p:pic>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425209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환급금액레포트</a:t>
            </a:r>
            <a:r>
              <a:rPr lang="en-US" altLang="ko-KR" dirty="0">
                <a:latin typeface="Arita Dotum KR Medium" panose="02020603020101020101" pitchFamily="18" charset="-127"/>
                <a:ea typeface="Arita Dotum KR Medium" panose="02020603020101020101" pitchFamily="18" charset="-127"/>
              </a:rPr>
              <a:t>-</a:t>
            </a:r>
            <a:r>
              <a:rPr lang="ko-KR" altLang="en-US" dirty="0" err="1">
                <a:latin typeface="Arita Dotum KR Medium" panose="02020603020101020101" pitchFamily="18" charset="-127"/>
                <a:ea typeface="Arita Dotum KR Medium" panose="02020603020101020101" pitchFamily="18" charset="-127"/>
              </a:rPr>
              <a:t>목적국</a:t>
            </a:r>
            <a:endParaRPr lang="ko-KR" altLang="en-US" dirty="0">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2" name="그림 1"/>
          <p:cNvPicPr>
            <a:picLocks noChangeAspect="1"/>
          </p:cNvPicPr>
          <p:nvPr/>
        </p:nvPicPr>
        <p:blipFill>
          <a:blip r:embed="rId2"/>
          <a:stretch>
            <a:fillRect/>
          </a:stretch>
        </p:blipFill>
        <p:spPr>
          <a:xfrm>
            <a:off x="536550" y="1311573"/>
            <a:ext cx="6825120" cy="3528000"/>
          </a:xfrm>
          <a:prstGeom prst="rect">
            <a:avLst/>
          </a:prstGeom>
        </p:spPr>
      </p:pic>
      <p:sp>
        <p:nvSpPr>
          <p:cNvPr id="3" name="TextBox 2">
            <a:extLst>
              <a:ext uri="{FF2B5EF4-FFF2-40B4-BE49-F238E27FC236}">
                <a16:creationId xmlns:a16="http://schemas.microsoft.com/office/drawing/2014/main" id="{477E4A3F-60C4-105D-9C15-D01D6EA28150}"/>
              </a:ext>
            </a:extLst>
          </p:cNvPr>
          <p:cNvSpPr txBox="1"/>
          <p:nvPr/>
        </p:nvSpPr>
        <p:spPr>
          <a:xfrm>
            <a:off x="7558258" y="1708278"/>
            <a:ext cx="3349455" cy="2154436"/>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환급을 신청한 건에 대해 수출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목적국</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환급금액에 대한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수출금액 대비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목적국</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환급수량 대비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목적국</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납부세액 대비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목적국</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환급액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각 차트에 대한 항목을 클릭하는 경우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 상세내역에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목적국</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환급금액과 관련된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정보가 표기됩니다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4" name="직사각형 3">
            <a:extLst>
              <a:ext uri="{FF2B5EF4-FFF2-40B4-BE49-F238E27FC236}">
                <a16:creationId xmlns:a16="http://schemas.microsoft.com/office/drawing/2014/main" id="{5D06033B-3938-AA88-2810-FEAA4053AD3B}"/>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5" name="직사각형 4">
            <a:extLst>
              <a:ext uri="{FF2B5EF4-FFF2-40B4-BE49-F238E27FC236}">
                <a16:creationId xmlns:a16="http://schemas.microsoft.com/office/drawing/2014/main" id="{FA11E3BB-DC9B-BAD8-1CE0-7554F800A54E}"/>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8" name="직선 연결선 7">
            <a:extLst>
              <a:ext uri="{FF2B5EF4-FFF2-40B4-BE49-F238E27FC236}">
                <a16:creationId xmlns:a16="http://schemas.microsoft.com/office/drawing/2014/main" id="{013E68C0-B1EE-B45B-2397-9CCBCFC4C616}"/>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CE9EFE1-C148-DEA8-94DE-6D7A8E7535DB}"/>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기준일자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 기준으로 검색하여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목적국</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별 환급금액 정보를 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0" name="그림 9">
            <a:extLst>
              <a:ext uri="{FF2B5EF4-FFF2-40B4-BE49-F238E27FC236}">
                <a16:creationId xmlns:a16="http://schemas.microsoft.com/office/drawing/2014/main" id="{DE173C46-3169-7948-1058-4B82C9F51E41}"/>
              </a:ext>
            </a:extLst>
          </p:cNvPr>
          <p:cNvPicPr>
            <a:picLocks noChangeAspect="1"/>
          </p:cNvPicPr>
          <p:nvPr/>
        </p:nvPicPr>
        <p:blipFill>
          <a:blip r:embed="rId3"/>
          <a:stretch>
            <a:fillRect/>
          </a:stretch>
        </p:blipFill>
        <p:spPr>
          <a:xfrm>
            <a:off x="924686" y="5561624"/>
            <a:ext cx="657225" cy="215444"/>
          </a:xfrm>
          <a:prstGeom prst="rect">
            <a:avLst/>
          </a:prstGeom>
        </p:spPr>
      </p:pic>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153198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수입자재코드 확인 </a:t>
            </a:r>
            <a:r>
              <a:rPr lang="ko-KR" altLang="en-US" dirty="0" err="1">
                <a:latin typeface="Arita Dotum KR Medium" panose="02020603020101020101" pitchFamily="18" charset="-127"/>
                <a:ea typeface="Arita Dotum KR Medium" panose="02020603020101020101" pitchFamily="18" charset="-127"/>
              </a:rPr>
              <a:t>레포트</a:t>
            </a:r>
            <a:r>
              <a:rPr lang="en-US" altLang="ko-KR" dirty="0">
                <a:latin typeface="Arita Dotum KR Medium" panose="02020603020101020101" pitchFamily="18" charset="-127"/>
                <a:ea typeface="Arita Dotum KR Medium" panose="02020603020101020101" pitchFamily="18" charset="-127"/>
              </a:rPr>
              <a:t>-HSCODE</a:t>
            </a:r>
            <a:endParaRPr lang="ko-KR" altLang="en-US" dirty="0">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3" name="그림 2"/>
          <p:cNvPicPr>
            <a:picLocks noChangeAspect="1"/>
          </p:cNvPicPr>
          <p:nvPr/>
        </p:nvPicPr>
        <p:blipFill>
          <a:blip r:embed="rId2"/>
          <a:stretch>
            <a:fillRect/>
          </a:stretch>
        </p:blipFill>
        <p:spPr>
          <a:xfrm>
            <a:off x="536550" y="1298418"/>
            <a:ext cx="6595826" cy="3528000"/>
          </a:xfrm>
          <a:prstGeom prst="rect">
            <a:avLst/>
          </a:prstGeom>
        </p:spPr>
      </p:pic>
      <p:sp>
        <p:nvSpPr>
          <p:cNvPr id="2" name="TextBox 1">
            <a:extLst>
              <a:ext uri="{FF2B5EF4-FFF2-40B4-BE49-F238E27FC236}">
                <a16:creationId xmlns:a16="http://schemas.microsoft.com/office/drawing/2014/main" id="{A8631842-3AEE-09F2-CB96-5D836E5BDA8E}"/>
              </a:ext>
            </a:extLst>
          </p:cNvPr>
          <p:cNvSpPr txBox="1"/>
          <p:nvPr/>
        </p:nvSpPr>
        <p:spPr>
          <a:xfrm>
            <a:off x="7558259" y="1664032"/>
            <a:ext cx="3224041" cy="236988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 데이터를 업로드 한 후 동일한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자재코드이면서</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다른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를 보유한 자재에 대해서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오른쪽 상단 부분에는 동일한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자재코드이면서</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가 다른 자재코드의 종류를 표시하며</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클릭할 경우 하단에 해당 리스트가 표시됩니다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상단 리스트 중 하나의 항목을 클릭하는 경우</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 상세내역에 자재코드가 서로 같으면서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가 다른 물품의 내역이 표기됩니다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4" name="직사각형 3">
            <a:extLst>
              <a:ext uri="{FF2B5EF4-FFF2-40B4-BE49-F238E27FC236}">
                <a16:creationId xmlns:a16="http://schemas.microsoft.com/office/drawing/2014/main" id="{F980BE48-A762-A211-40E9-C9349DA87D80}"/>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5" name="직사각형 4">
            <a:extLst>
              <a:ext uri="{FF2B5EF4-FFF2-40B4-BE49-F238E27FC236}">
                <a16:creationId xmlns:a16="http://schemas.microsoft.com/office/drawing/2014/main" id="{53EBC5F9-295C-171B-BEAA-BF8AF421A335}"/>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8" name="직선 연결선 7">
            <a:extLst>
              <a:ext uri="{FF2B5EF4-FFF2-40B4-BE49-F238E27FC236}">
                <a16:creationId xmlns:a16="http://schemas.microsoft.com/office/drawing/2014/main" id="{9B65EC70-7A26-AF97-56ED-4C2A69137CB4}"/>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1FAE53F-EB11-4D79-054D-961AD745E181}"/>
              </a:ext>
            </a:extLst>
          </p:cNvPr>
          <p:cNvSpPr txBox="1"/>
          <p:nvPr/>
        </p:nvSpPr>
        <p:spPr>
          <a:xfrm>
            <a:off x="2045681" y="5453902"/>
            <a:ext cx="8297990"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수입신고 수리일자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수입신고번호</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거래품명</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기준으로 검색하여 자재코드가 같으면서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가 다른 내역을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0" name="그림 9">
            <a:extLst>
              <a:ext uri="{FF2B5EF4-FFF2-40B4-BE49-F238E27FC236}">
                <a16:creationId xmlns:a16="http://schemas.microsoft.com/office/drawing/2014/main" id="{65F31FD0-8F5D-E5F9-A43F-363F4D5C813D}"/>
              </a:ext>
            </a:extLst>
          </p:cNvPr>
          <p:cNvPicPr>
            <a:picLocks noChangeAspect="1"/>
          </p:cNvPicPr>
          <p:nvPr/>
        </p:nvPicPr>
        <p:blipFill>
          <a:blip r:embed="rId3"/>
          <a:stretch>
            <a:fillRect/>
          </a:stretch>
        </p:blipFill>
        <p:spPr>
          <a:xfrm>
            <a:off x="924686" y="5561624"/>
            <a:ext cx="657225" cy="215444"/>
          </a:xfrm>
          <a:prstGeom prst="rect">
            <a:avLst/>
          </a:prstGeom>
        </p:spPr>
      </p:pic>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844741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수입자재코드 확인 </a:t>
            </a:r>
            <a:r>
              <a:rPr lang="ko-KR" altLang="en-US" dirty="0" err="1">
                <a:latin typeface="Arita Dotum KR Medium" panose="02020603020101020101" pitchFamily="18" charset="-127"/>
                <a:ea typeface="Arita Dotum KR Medium" panose="02020603020101020101" pitchFamily="18" charset="-127"/>
              </a:rPr>
              <a:t>레포트</a:t>
            </a:r>
            <a:r>
              <a:rPr lang="en-US" altLang="ko-KR" dirty="0">
                <a:latin typeface="Arita Dotum KR Medium" panose="02020603020101020101" pitchFamily="18" charset="-127"/>
                <a:ea typeface="Arita Dotum KR Medium" panose="02020603020101020101" pitchFamily="18" charset="-127"/>
              </a:rPr>
              <a:t>-</a:t>
            </a:r>
            <a:r>
              <a:rPr lang="ko-KR" altLang="en-US" dirty="0" err="1">
                <a:latin typeface="Arita Dotum KR Medium" panose="02020603020101020101" pitchFamily="18" charset="-127"/>
                <a:ea typeface="Arita Dotum KR Medium" panose="02020603020101020101" pitchFamily="18" charset="-127"/>
              </a:rPr>
              <a:t>거래품명</a:t>
            </a:r>
            <a:endParaRPr lang="ko-KR" altLang="en-US" dirty="0">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2" name="그림 1"/>
          <p:cNvPicPr>
            <a:picLocks noChangeAspect="1"/>
          </p:cNvPicPr>
          <p:nvPr/>
        </p:nvPicPr>
        <p:blipFill>
          <a:blip r:embed="rId2"/>
          <a:stretch>
            <a:fillRect/>
          </a:stretch>
        </p:blipFill>
        <p:spPr>
          <a:xfrm>
            <a:off x="536550" y="1311573"/>
            <a:ext cx="6704399" cy="3528000"/>
          </a:xfrm>
          <a:prstGeom prst="rect">
            <a:avLst/>
          </a:prstGeom>
        </p:spPr>
      </p:pic>
      <p:sp>
        <p:nvSpPr>
          <p:cNvPr id="3" name="TextBox 2">
            <a:extLst>
              <a:ext uri="{FF2B5EF4-FFF2-40B4-BE49-F238E27FC236}">
                <a16:creationId xmlns:a16="http://schemas.microsoft.com/office/drawing/2014/main" id="{8961F05B-4105-6531-453D-9BBBA229E6EB}"/>
              </a:ext>
            </a:extLst>
          </p:cNvPr>
          <p:cNvSpPr txBox="1"/>
          <p:nvPr/>
        </p:nvSpPr>
        <p:spPr>
          <a:xfrm>
            <a:off x="7558259" y="1664032"/>
            <a:ext cx="3224041" cy="236988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 데이터를 업로드 한 후 동일한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자재코드이면서</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다른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거래품명을</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보유한 자재에 대해서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오른쪽 상단 부분에는 동일한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자재코드이면서</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거래품명이</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다른 자재코드의 종류를 표시하며</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클릭할 경우 하단에 해당 리스트가 표시됩니다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상단 리스트 중 하나의 항목을 클릭하는 경우</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 상세내역에 자재코드가 서로 같으면서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거래품명이</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다른 물품의 내역이 표기됩니다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4" name="직사각형 3">
            <a:extLst>
              <a:ext uri="{FF2B5EF4-FFF2-40B4-BE49-F238E27FC236}">
                <a16:creationId xmlns:a16="http://schemas.microsoft.com/office/drawing/2014/main" id="{FDFC7E9F-99DC-47D6-510B-15CA413BCD95}"/>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5" name="직사각형 4">
            <a:extLst>
              <a:ext uri="{FF2B5EF4-FFF2-40B4-BE49-F238E27FC236}">
                <a16:creationId xmlns:a16="http://schemas.microsoft.com/office/drawing/2014/main" id="{2E7D90EB-8DF7-830E-542E-437DEC8CB98C}"/>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8" name="직선 연결선 7">
            <a:extLst>
              <a:ext uri="{FF2B5EF4-FFF2-40B4-BE49-F238E27FC236}">
                <a16:creationId xmlns:a16="http://schemas.microsoft.com/office/drawing/2014/main" id="{77548D76-7F22-C2AF-FF50-269EB2D2D123}"/>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5886A00-6677-E3EF-8D94-AA025930C870}"/>
              </a:ext>
            </a:extLst>
          </p:cNvPr>
          <p:cNvSpPr txBox="1"/>
          <p:nvPr/>
        </p:nvSpPr>
        <p:spPr>
          <a:xfrm>
            <a:off x="2045681" y="5453902"/>
            <a:ext cx="8297990"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수입신고 수리일자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수입신고번호</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거래품명</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기준으로 검색하여 자재코드가 같으면서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거래품명이</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다른 내역을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0" name="그림 9">
            <a:extLst>
              <a:ext uri="{FF2B5EF4-FFF2-40B4-BE49-F238E27FC236}">
                <a16:creationId xmlns:a16="http://schemas.microsoft.com/office/drawing/2014/main" id="{10200692-C8F9-E635-8556-092564CB6C24}"/>
              </a:ext>
            </a:extLst>
          </p:cNvPr>
          <p:cNvPicPr>
            <a:picLocks noChangeAspect="1"/>
          </p:cNvPicPr>
          <p:nvPr/>
        </p:nvPicPr>
        <p:blipFill>
          <a:blip r:embed="rId3"/>
          <a:stretch>
            <a:fillRect/>
          </a:stretch>
        </p:blipFill>
        <p:spPr>
          <a:xfrm>
            <a:off x="924686" y="5561624"/>
            <a:ext cx="657225" cy="215444"/>
          </a:xfrm>
          <a:prstGeom prst="rect">
            <a:avLst/>
          </a:prstGeom>
        </p:spPr>
      </p:pic>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51013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수입자재코드 확인 </a:t>
            </a:r>
            <a:r>
              <a:rPr lang="ko-KR" altLang="en-US" dirty="0" err="1">
                <a:latin typeface="Arita Dotum KR Medium" panose="02020603020101020101" pitchFamily="18" charset="-127"/>
                <a:ea typeface="Arita Dotum KR Medium" panose="02020603020101020101" pitchFamily="18" charset="-127"/>
              </a:rPr>
              <a:t>레포트</a:t>
            </a:r>
            <a:r>
              <a:rPr lang="en-US" altLang="ko-KR" dirty="0">
                <a:latin typeface="Arita Dotum KR Medium" panose="02020603020101020101" pitchFamily="18" charset="-127"/>
                <a:ea typeface="Arita Dotum KR Medium" panose="02020603020101020101" pitchFamily="18" charset="-127"/>
              </a:rPr>
              <a:t>-</a:t>
            </a:r>
            <a:r>
              <a:rPr lang="ko-KR" altLang="en-US" dirty="0" err="1">
                <a:latin typeface="Arita Dotum KR Medium" panose="02020603020101020101" pitchFamily="18" charset="-127"/>
                <a:ea typeface="Arita Dotum KR Medium" panose="02020603020101020101" pitchFamily="18" charset="-127"/>
              </a:rPr>
              <a:t>단가차이</a:t>
            </a:r>
            <a:endParaRPr lang="ko-KR" altLang="en-US" dirty="0">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2" name="그림 1"/>
          <p:cNvPicPr>
            <a:picLocks noChangeAspect="1"/>
          </p:cNvPicPr>
          <p:nvPr/>
        </p:nvPicPr>
        <p:blipFill>
          <a:blip r:embed="rId2"/>
          <a:stretch>
            <a:fillRect/>
          </a:stretch>
        </p:blipFill>
        <p:spPr>
          <a:xfrm>
            <a:off x="536550" y="1343717"/>
            <a:ext cx="6761664" cy="3528000"/>
          </a:xfrm>
          <a:prstGeom prst="rect">
            <a:avLst/>
          </a:prstGeom>
        </p:spPr>
      </p:pic>
      <p:sp>
        <p:nvSpPr>
          <p:cNvPr id="3" name="TextBox 2">
            <a:extLst>
              <a:ext uri="{FF2B5EF4-FFF2-40B4-BE49-F238E27FC236}">
                <a16:creationId xmlns:a16="http://schemas.microsoft.com/office/drawing/2014/main" id="{8BEFE09B-F5BA-7352-2E99-1F08AAA9ABDE}"/>
              </a:ext>
            </a:extLst>
          </p:cNvPr>
          <p:cNvSpPr txBox="1"/>
          <p:nvPr/>
        </p:nvSpPr>
        <p:spPr>
          <a:xfrm>
            <a:off x="7558259" y="1662932"/>
            <a:ext cx="3224041" cy="2585323"/>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 데이터를 업로드 한 후 동일한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자재코드이면서</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단가가 크게 차이나는 자재에 대해서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오른쪽 상단 부분에는 동일한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자재코드이면서</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단가가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1.5</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배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10</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배 차이가 나는 자재코드의 종류를 표시하며</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클릭할 경우 하단에 해당 리스트가 표시됩니다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상단 리스트 중 하나의 항목을 클릭하는 경우</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 상세내역에 자재코드가 같으면서 단가차이가 나는 품목의 내역이 표기됩니다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4" name="직사각형 3">
            <a:extLst>
              <a:ext uri="{FF2B5EF4-FFF2-40B4-BE49-F238E27FC236}">
                <a16:creationId xmlns:a16="http://schemas.microsoft.com/office/drawing/2014/main" id="{4CF21CA0-CB57-931E-655C-14591BC4D874}"/>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5" name="직사각형 4">
            <a:extLst>
              <a:ext uri="{FF2B5EF4-FFF2-40B4-BE49-F238E27FC236}">
                <a16:creationId xmlns:a16="http://schemas.microsoft.com/office/drawing/2014/main" id="{14C53EE2-85FF-A32F-85C6-321D1F2012D0}"/>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8" name="직선 연결선 7">
            <a:extLst>
              <a:ext uri="{FF2B5EF4-FFF2-40B4-BE49-F238E27FC236}">
                <a16:creationId xmlns:a16="http://schemas.microsoft.com/office/drawing/2014/main" id="{C30ACBF1-F859-EAD5-C00B-18697C44F18C}"/>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8094B76-5351-2B3A-23A5-CC72956ED5A8}"/>
              </a:ext>
            </a:extLst>
          </p:cNvPr>
          <p:cNvSpPr txBox="1"/>
          <p:nvPr/>
        </p:nvSpPr>
        <p:spPr>
          <a:xfrm>
            <a:off x="2045681" y="5453902"/>
            <a:ext cx="8297990"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수입신고 수리일자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수입신고번호</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거래품명</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기준으로 검색하여 자재코드가 같으면서 수입단가가 차이나는 내역을 조회할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0" name="그림 9">
            <a:extLst>
              <a:ext uri="{FF2B5EF4-FFF2-40B4-BE49-F238E27FC236}">
                <a16:creationId xmlns:a16="http://schemas.microsoft.com/office/drawing/2014/main" id="{754E8FFE-29C1-6C48-A2C6-DDE0E5D42486}"/>
              </a:ext>
            </a:extLst>
          </p:cNvPr>
          <p:cNvPicPr>
            <a:picLocks noChangeAspect="1"/>
          </p:cNvPicPr>
          <p:nvPr/>
        </p:nvPicPr>
        <p:blipFill>
          <a:blip r:embed="rId3"/>
          <a:stretch>
            <a:fillRect/>
          </a:stretch>
        </p:blipFill>
        <p:spPr>
          <a:xfrm>
            <a:off x="924686" y="5561624"/>
            <a:ext cx="657225" cy="215444"/>
          </a:xfrm>
          <a:prstGeom prst="rect">
            <a:avLst/>
          </a:prstGeom>
        </p:spPr>
      </p:pic>
      <p:pic>
        <p:nvPicPr>
          <p:cNvPr id="12" name="그림 11">
            <a:extLst>
              <a:ext uri="{FF2B5EF4-FFF2-40B4-BE49-F238E27FC236}">
                <a16:creationId xmlns:a16="http://schemas.microsoft.com/office/drawing/2014/main" id="{8435EEDC-0D8E-01D7-079B-46B510617742}"/>
              </a:ext>
            </a:extLst>
          </p:cNvPr>
          <p:cNvPicPr>
            <a:picLocks noChangeAspect="1"/>
          </p:cNvPicPr>
          <p:nvPr/>
        </p:nvPicPr>
        <p:blipFill>
          <a:blip r:embed="rId4"/>
          <a:stretch>
            <a:fillRect/>
          </a:stretch>
        </p:blipFill>
        <p:spPr>
          <a:xfrm>
            <a:off x="636650" y="6177475"/>
            <a:ext cx="1307490" cy="137075"/>
          </a:xfrm>
          <a:prstGeom prst="rect">
            <a:avLst/>
          </a:prstGeom>
        </p:spPr>
      </p:pic>
      <p:sp>
        <p:nvSpPr>
          <p:cNvPr id="13" name="TextBox 12">
            <a:extLst>
              <a:ext uri="{FF2B5EF4-FFF2-40B4-BE49-F238E27FC236}">
                <a16:creationId xmlns:a16="http://schemas.microsoft.com/office/drawing/2014/main" id="{7B1A8A9D-E840-B42D-46E2-42D4316D6DA4}"/>
              </a:ext>
            </a:extLst>
          </p:cNvPr>
          <p:cNvSpPr txBox="1"/>
          <p:nvPr/>
        </p:nvSpPr>
        <p:spPr>
          <a:xfrm>
            <a:off x="2045671" y="6050207"/>
            <a:ext cx="8297990"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동일한 자재코드 내에서 단가가</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1.5</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배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10</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배 차이나는 품목에 대해 각각 클릭하여 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자재코드에 대한 종류는 오른쪽 상단 부분에서 클릭하여 확인할 수 있음</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14" name="TextBox 13">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378125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a:latin typeface="Arita Dotum KR Medium" panose="02020603020101020101" pitchFamily="18" charset="-127"/>
                <a:ea typeface="Arita Dotum KR Medium" panose="02020603020101020101" pitchFamily="18" charset="-127"/>
              </a:rPr>
              <a:t>환급대상</a:t>
            </a:r>
            <a:r>
              <a:rPr lang="ko-KR" altLang="en-US" dirty="0">
                <a:latin typeface="Arita Dotum KR Medium" panose="02020603020101020101" pitchFamily="18" charset="-127"/>
                <a:ea typeface="Arita Dotum KR Medium" panose="02020603020101020101" pitchFamily="18" charset="-127"/>
              </a:rPr>
              <a:t> 수출 </a:t>
            </a:r>
            <a:r>
              <a:rPr lang="ko-KR" altLang="en-US" dirty="0" err="1">
                <a:latin typeface="Arita Dotum KR Medium" panose="02020603020101020101" pitchFamily="18" charset="-127"/>
                <a:ea typeface="Arita Dotum KR Medium" panose="02020603020101020101" pitchFamily="18" charset="-127"/>
              </a:rPr>
              <a:t>레포트</a:t>
            </a:r>
            <a:endParaRPr lang="ko-KR" altLang="en-US" dirty="0">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3" name="그림 2"/>
          <p:cNvPicPr>
            <a:picLocks noChangeAspect="1"/>
          </p:cNvPicPr>
          <p:nvPr/>
        </p:nvPicPr>
        <p:blipFill>
          <a:blip r:embed="rId2"/>
          <a:stretch>
            <a:fillRect/>
          </a:stretch>
        </p:blipFill>
        <p:spPr>
          <a:xfrm>
            <a:off x="628650" y="1360087"/>
            <a:ext cx="6537520" cy="3528000"/>
          </a:xfrm>
          <a:prstGeom prst="rect">
            <a:avLst/>
          </a:prstGeom>
        </p:spPr>
      </p:pic>
      <p:sp>
        <p:nvSpPr>
          <p:cNvPr id="2" name="TextBox 1">
            <a:extLst>
              <a:ext uri="{FF2B5EF4-FFF2-40B4-BE49-F238E27FC236}">
                <a16:creationId xmlns:a16="http://schemas.microsoft.com/office/drawing/2014/main" id="{00AB7C6C-F910-F5F0-D35D-7B00974B26A1}"/>
              </a:ext>
            </a:extLst>
          </p:cNvPr>
          <p:cNvSpPr txBox="1"/>
          <p:nvPr/>
        </p:nvSpPr>
        <p:spPr>
          <a:xfrm>
            <a:off x="7558259" y="1664872"/>
            <a:ext cx="3140221" cy="3447098"/>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 데이터를 업로드 한 후 환급신청인 기재사항</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제조자 또는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여부와 수출신고서상 제조자 또는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미상 기재여부 통해 환급에 사용할 수 있는 수출신고서를 확인하는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제조자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&amp;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환급신청인 기재오류 내역에 표기되는 항목은 아래와 같습니다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marL="342900" lvl="0" indent="-342900" latinLnBrk="1">
              <a:lnSpc>
                <a:spcPct val="100000"/>
              </a:lnSpc>
              <a:buAutoNum type="arabicPeriod"/>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제조자가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AP</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가 아니고  환급신청인이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제조자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표기된 건이 표시됩니다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marL="342900" lvl="0" indent="-342900" latinLnBrk="1">
              <a:lnSpc>
                <a:spcPct val="100000"/>
              </a:lnSpc>
              <a:buAutoNum type="arabicPeriod"/>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IF, ET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환급의 경우 환급신청인이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제조자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표기된 건이 표시됩니다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하단의 수출금액</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수출건수</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환급금액은 전체 수출 건 대비 오류 건에 대한 비율을 표시합니다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4" name="직사각형 3">
            <a:extLst>
              <a:ext uri="{FF2B5EF4-FFF2-40B4-BE49-F238E27FC236}">
                <a16:creationId xmlns:a16="http://schemas.microsoft.com/office/drawing/2014/main" id="{3D3F2D07-1580-86DD-C309-3289740DA361}"/>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5" name="직사각형 4">
            <a:extLst>
              <a:ext uri="{FF2B5EF4-FFF2-40B4-BE49-F238E27FC236}">
                <a16:creationId xmlns:a16="http://schemas.microsoft.com/office/drawing/2014/main" id="{9DED4429-47BC-9866-D8AF-FF874ED29DA5}"/>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8" name="직선 연결선 7">
            <a:extLst>
              <a:ext uri="{FF2B5EF4-FFF2-40B4-BE49-F238E27FC236}">
                <a16:creationId xmlns:a16="http://schemas.microsoft.com/office/drawing/2014/main" id="{8D366F74-8994-7FFA-24E2-DCE5B3E8CF19}"/>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BF55C71-651B-40EC-BA56-D754BB7688D1}"/>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제품코드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수출신고번호</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수출신고수리일자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제조자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환급신청인을 기준으로 검색하여 오류내역을 조회할 수 있음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0" name="그림 9">
            <a:extLst>
              <a:ext uri="{FF2B5EF4-FFF2-40B4-BE49-F238E27FC236}">
                <a16:creationId xmlns:a16="http://schemas.microsoft.com/office/drawing/2014/main" id="{7B53BDC5-93A0-DDD9-554E-57E3D33C3D25}"/>
              </a:ext>
            </a:extLst>
          </p:cNvPr>
          <p:cNvPicPr>
            <a:picLocks noChangeAspect="1"/>
          </p:cNvPicPr>
          <p:nvPr/>
        </p:nvPicPr>
        <p:blipFill>
          <a:blip r:embed="rId3"/>
          <a:stretch>
            <a:fillRect/>
          </a:stretch>
        </p:blipFill>
        <p:spPr>
          <a:xfrm>
            <a:off x="924686" y="5561624"/>
            <a:ext cx="657225" cy="215444"/>
          </a:xfrm>
          <a:prstGeom prst="rect">
            <a:avLst/>
          </a:prstGeom>
        </p:spPr>
      </p:pic>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7694273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en-US" altLang="ko-KR" dirty="0">
                <a:latin typeface="Arita Dotum KR Medium" panose="02020603020101020101" pitchFamily="18" charset="-127"/>
                <a:ea typeface="Arita Dotum KR Medium" panose="02020603020101020101" pitchFamily="18" charset="-127"/>
              </a:rPr>
              <a:t>BOM</a:t>
            </a:r>
            <a:r>
              <a:rPr lang="ko-KR" altLang="en-US" dirty="0">
                <a:latin typeface="Arita Dotum KR Medium" panose="02020603020101020101" pitchFamily="18" charset="-127"/>
                <a:ea typeface="Arita Dotum KR Medium" panose="02020603020101020101" pitchFamily="18" charset="-127"/>
              </a:rPr>
              <a:t>검증 </a:t>
            </a:r>
            <a:r>
              <a:rPr lang="ko-KR" altLang="en-US" dirty="0" err="1">
                <a:latin typeface="Arita Dotum KR Medium" panose="02020603020101020101" pitchFamily="18" charset="-127"/>
                <a:ea typeface="Arita Dotum KR Medium" panose="02020603020101020101" pitchFamily="18" charset="-127"/>
              </a:rPr>
              <a:t>레포트</a:t>
            </a:r>
            <a:endParaRPr lang="ko-KR" altLang="en-US" dirty="0">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2" name="그림 1"/>
          <p:cNvPicPr>
            <a:picLocks noChangeAspect="1"/>
          </p:cNvPicPr>
          <p:nvPr/>
        </p:nvPicPr>
        <p:blipFill>
          <a:blip r:embed="rId2"/>
          <a:stretch>
            <a:fillRect/>
          </a:stretch>
        </p:blipFill>
        <p:spPr>
          <a:xfrm>
            <a:off x="536552" y="1343717"/>
            <a:ext cx="6943084" cy="3348000"/>
          </a:xfrm>
          <a:prstGeom prst="rect">
            <a:avLst/>
          </a:prstGeom>
        </p:spPr>
      </p:pic>
      <p:sp>
        <p:nvSpPr>
          <p:cNvPr id="3" name="TextBox 2">
            <a:extLst>
              <a:ext uri="{FF2B5EF4-FFF2-40B4-BE49-F238E27FC236}">
                <a16:creationId xmlns:a16="http://schemas.microsoft.com/office/drawing/2014/main" id="{24FD9E8E-2EF4-2748-3262-444071A21115}"/>
              </a:ext>
            </a:extLst>
          </p:cNvPr>
          <p:cNvSpPr txBox="1"/>
          <p:nvPr/>
        </p:nvSpPr>
        <p:spPr>
          <a:xfrm>
            <a:off x="7558259" y="1802086"/>
            <a:ext cx="3140221" cy="236988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데이터를 업로드 한 후 분기별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구성부품 변경여부과</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소요량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신규자재</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삭제자재를 확인하는 레포트를 제공합니다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화면상단 부분에는 분기별 제품코드와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일자별 정보가 표시됩니다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화면 하단의 해당 제품코드 및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일자에 맞는 자재코드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구성부품</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내역이 표시되며</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변경된 구성부품</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변경된 소요량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단위</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BOM</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일자 등이 표시됩니다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sp>
        <p:nvSpPr>
          <p:cNvPr id="4" name="직사각형 3">
            <a:extLst>
              <a:ext uri="{FF2B5EF4-FFF2-40B4-BE49-F238E27FC236}">
                <a16:creationId xmlns:a16="http://schemas.microsoft.com/office/drawing/2014/main" id="{4D180882-386F-146A-86BC-F5E89199F55B}"/>
              </a:ext>
            </a:extLst>
          </p:cNvPr>
          <p:cNvSpPr/>
          <p:nvPr/>
        </p:nvSpPr>
        <p:spPr>
          <a:xfrm>
            <a:off x="536550" y="514560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기능</a:t>
            </a:r>
          </a:p>
        </p:txBody>
      </p:sp>
      <p:sp>
        <p:nvSpPr>
          <p:cNvPr id="5" name="직사각형 4">
            <a:extLst>
              <a:ext uri="{FF2B5EF4-FFF2-40B4-BE49-F238E27FC236}">
                <a16:creationId xmlns:a16="http://schemas.microsoft.com/office/drawing/2014/main" id="{0C644639-0559-2660-619D-AA4A3198C900}"/>
              </a:ext>
            </a:extLst>
          </p:cNvPr>
          <p:cNvSpPr/>
          <p:nvPr/>
        </p:nvSpPr>
        <p:spPr>
          <a:xfrm>
            <a:off x="2045681" y="514560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8" name="직선 연결선 7">
            <a:extLst>
              <a:ext uri="{FF2B5EF4-FFF2-40B4-BE49-F238E27FC236}">
                <a16:creationId xmlns:a16="http://schemas.microsoft.com/office/drawing/2014/main" id="{F215CB9D-60E4-22D6-CB75-761194890107}"/>
              </a:ext>
            </a:extLst>
          </p:cNvPr>
          <p:cNvCxnSpPr/>
          <p:nvPr/>
        </p:nvCxnSpPr>
        <p:spPr>
          <a:xfrm flipH="1">
            <a:off x="536550" y="585430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463A7B5-99CA-2706-ECC6-CDEEB537AB70}"/>
              </a:ext>
            </a:extLst>
          </p:cNvPr>
          <p:cNvSpPr txBox="1"/>
          <p:nvPr/>
        </p:nvSpPr>
        <p:spPr>
          <a:xfrm>
            <a:off x="2045681" y="556162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수출일자</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분기별</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제품코드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자재코드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신규자재 여부에 따라 조회하여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변경 건에 대한 결과를 볼 수 있음</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0" name="그림 9">
            <a:extLst>
              <a:ext uri="{FF2B5EF4-FFF2-40B4-BE49-F238E27FC236}">
                <a16:creationId xmlns:a16="http://schemas.microsoft.com/office/drawing/2014/main" id="{911A0ACB-1B5C-4381-F0C0-C0B2020255F0}"/>
              </a:ext>
            </a:extLst>
          </p:cNvPr>
          <p:cNvPicPr>
            <a:picLocks noChangeAspect="1"/>
          </p:cNvPicPr>
          <p:nvPr/>
        </p:nvPicPr>
        <p:blipFill>
          <a:blip r:embed="rId3"/>
          <a:stretch>
            <a:fillRect/>
          </a:stretch>
        </p:blipFill>
        <p:spPr>
          <a:xfrm>
            <a:off x="924686" y="5561624"/>
            <a:ext cx="657225" cy="215444"/>
          </a:xfrm>
          <a:prstGeom prst="rect">
            <a:avLst/>
          </a:prstGeom>
        </p:spPr>
      </p:pic>
      <p:sp>
        <p:nvSpPr>
          <p:cNvPr id="11" name="TextBox 1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err="1" smtClean="0">
                <a:solidFill>
                  <a:schemeClr val="bg1">
                    <a:lumMod val="75000"/>
                  </a:schemeClr>
                </a:solidFill>
                <a:latin typeface="Arita Dotum KR Medium" panose="02020603020101020101" pitchFamily="18" charset="-127"/>
                <a:ea typeface="Arita Dotum KR Medium" panose="02020603020101020101" pitchFamily="18" charset="-127"/>
              </a:rPr>
              <a:t>레포트</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586004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과다환급자진신고</a:t>
            </a: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826948"/>
            <a:ext cx="3005662" cy="1077218"/>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환급신청이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완료되어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환급금을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수령한 후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과다환급이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발생할 경우 이를 자진 신고하여 환급액을 반납하는 프로그램입니다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자진 신고는 환급액 지급 후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5</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년내에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신고 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7" name="직사각형 6"/>
          <p:cNvSpPr/>
          <p:nvPr/>
        </p:nvSpPr>
        <p:spPr>
          <a:xfrm>
            <a:off x="536550" y="4914403"/>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4914403"/>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2045681" y="5330424"/>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지급완료된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환급신청 데이터를 기초로 과다환급자진신고서를 작성합니다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3" name="그림 2"/>
          <p:cNvPicPr>
            <a:picLocks noChangeAspect="1"/>
          </p:cNvPicPr>
          <p:nvPr/>
        </p:nvPicPr>
        <p:blipFill>
          <a:blip r:embed="rId2"/>
          <a:stretch>
            <a:fillRect/>
          </a:stretch>
        </p:blipFill>
        <p:spPr>
          <a:xfrm>
            <a:off x="536550" y="1298418"/>
            <a:ext cx="6778110" cy="3528000"/>
          </a:xfrm>
          <a:prstGeom prst="rect">
            <a:avLst/>
          </a:prstGeom>
        </p:spPr>
      </p:pic>
      <p:sp>
        <p:nvSpPr>
          <p:cNvPr id="12" name="TextBox 11">
            <a:extLst>
              <a:ext uri="{FF2B5EF4-FFF2-40B4-BE49-F238E27FC236}">
                <a16:creationId xmlns:a16="http://schemas.microsoft.com/office/drawing/2014/main" id="{B90186AB-10F7-0A0A-4756-EF3C110F88A1}"/>
              </a:ext>
            </a:extLst>
          </p:cNvPr>
          <p:cNvSpPr txBox="1"/>
          <p:nvPr/>
        </p:nvSpPr>
        <p:spPr>
          <a:xfrm>
            <a:off x="7558259" y="3209093"/>
            <a:ext cx="3005662" cy="1508105"/>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지급완료된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환급신청건을 기초로 신고서를 작성하여 해당 데이터를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전송합니다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atinLnBrk="1">
              <a:lnSpc>
                <a:spcPct val="100000"/>
              </a:lnSpc>
              <a:defRPr/>
            </a:pP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UNIPASS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전송 및 수신은 </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IE</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모드에서만 가능합니다</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부록</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1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참조</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4" name="그림 3"/>
          <p:cNvPicPr>
            <a:picLocks noChangeAspect="1"/>
          </p:cNvPicPr>
          <p:nvPr/>
        </p:nvPicPr>
        <p:blipFill>
          <a:blip r:embed="rId3"/>
          <a:stretch>
            <a:fillRect/>
          </a:stretch>
        </p:blipFill>
        <p:spPr>
          <a:xfrm>
            <a:off x="572166" y="5330424"/>
            <a:ext cx="1362265" cy="228632"/>
          </a:xfrm>
          <a:prstGeom prst="rect">
            <a:avLst/>
          </a:prstGeom>
        </p:spPr>
      </p:pic>
      <p:pic>
        <p:nvPicPr>
          <p:cNvPr id="5" name="그림 4"/>
          <p:cNvPicPr>
            <a:picLocks noChangeAspect="1"/>
          </p:cNvPicPr>
          <p:nvPr/>
        </p:nvPicPr>
        <p:blipFill>
          <a:blip r:embed="rId4"/>
          <a:stretch>
            <a:fillRect/>
          </a:stretch>
        </p:blipFill>
        <p:spPr>
          <a:xfrm>
            <a:off x="2099573" y="5602641"/>
            <a:ext cx="2766057" cy="1749730"/>
          </a:xfrm>
          <a:prstGeom prst="rect">
            <a:avLst/>
          </a:prstGeom>
        </p:spPr>
      </p:pic>
      <p:sp>
        <p:nvSpPr>
          <p:cNvPr id="15" name="TextBox 14">
            <a:extLst>
              <a:ext uri="{FF2B5EF4-FFF2-40B4-BE49-F238E27FC236}">
                <a16:creationId xmlns:a16="http://schemas.microsoft.com/office/drawing/2014/main" id="{B90186AB-10F7-0A0A-4756-EF3C110F88A1}"/>
              </a:ext>
            </a:extLst>
          </p:cNvPr>
          <p:cNvSpPr txBox="1"/>
          <p:nvPr/>
        </p:nvSpPr>
        <p:spPr>
          <a:xfrm>
            <a:off x="5011906" y="5810606"/>
            <a:ext cx="5233818"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작성이 완료되면               을 클릭하여 내용을 저장합니다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8" name="그림 7"/>
          <p:cNvPicPr>
            <a:picLocks noChangeAspect="1"/>
          </p:cNvPicPr>
          <p:nvPr/>
        </p:nvPicPr>
        <p:blipFill>
          <a:blip r:embed="rId5"/>
          <a:stretch>
            <a:fillRect/>
          </a:stretch>
        </p:blipFill>
        <p:spPr>
          <a:xfrm>
            <a:off x="6245328" y="5810606"/>
            <a:ext cx="516624" cy="241091"/>
          </a:xfrm>
          <a:prstGeom prst="rect">
            <a:avLst/>
          </a:prstGeom>
        </p:spPr>
      </p:pic>
      <p:sp>
        <p:nvSpPr>
          <p:cNvPr id="14" name="TextBox 13">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문서관리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3885108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과다환급자진신고</a:t>
            </a:r>
            <a:r>
              <a:rPr lang="en-US" altLang="ko-KR" dirty="0" smtClean="0">
                <a:latin typeface="Arita Dotum KR Medium" panose="02020603020101020101" pitchFamily="18" charset="-127"/>
                <a:ea typeface="Arita Dotum KR Medium" panose="02020603020101020101" pitchFamily="18" charset="-127"/>
              </a:rPr>
              <a:t>(</a:t>
            </a:r>
            <a:r>
              <a:rPr lang="ko-KR" altLang="en-US" dirty="0" smtClean="0">
                <a:latin typeface="Arita Dotum KR Medium" panose="02020603020101020101" pitchFamily="18" charset="-127"/>
                <a:ea typeface="Arita Dotum KR Medium" panose="02020603020101020101" pitchFamily="18" charset="-127"/>
              </a:rPr>
              <a:t>계속</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7" name="직사각형 6"/>
          <p:cNvSpPr/>
          <p:nvPr/>
        </p:nvSpPr>
        <p:spPr>
          <a:xfrm>
            <a:off x="536550" y="1139154"/>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1139154"/>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2045681" y="1531564"/>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신고서의 작성이 완료되면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가산금액을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조회할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17" name="직선 연결선 16"/>
          <p:cNvCxnSpPr/>
          <p:nvPr/>
        </p:nvCxnSpPr>
        <p:spPr>
          <a:xfrm flipH="1">
            <a:off x="536550" y="279897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직선 연결선 24"/>
          <p:cNvCxnSpPr/>
          <p:nvPr/>
        </p:nvCxnSpPr>
        <p:spPr>
          <a:xfrm flipH="1">
            <a:off x="536550" y="1821163"/>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90186AB-10F7-0A0A-4756-EF3C110F88A1}"/>
              </a:ext>
            </a:extLst>
          </p:cNvPr>
          <p:cNvSpPr txBox="1"/>
          <p:nvPr/>
        </p:nvSpPr>
        <p:spPr>
          <a:xfrm>
            <a:off x="2045681" y="1946689"/>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작성된 신고서 내용을 바탕으로 신청서 양식을 출력합니다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31" name="직선 연결선 30"/>
          <p:cNvCxnSpPr/>
          <p:nvPr/>
        </p:nvCxnSpPr>
        <p:spPr>
          <a:xfrm flipH="1">
            <a:off x="536550" y="2310071"/>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90186AB-10F7-0A0A-4756-EF3C110F88A1}"/>
              </a:ext>
            </a:extLst>
          </p:cNvPr>
          <p:cNvSpPr txBox="1"/>
          <p:nvPr/>
        </p:nvSpPr>
        <p:spPr>
          <a:xfrm>
            <a:off x="2045681" y="244788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작성된 신고서를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전송합니다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sp>
        <p:nvSpPr>
          <p:cNvPr id="37" name="직사각형 36"/>
          <p:cNvSpPr/>
          <p:nvPr/>
        </p:nvSpPr>
        <p:spPr>
          <a:xfrm>
            <a:off x="536551" y="4060773"/>
            <a:ext cx="3738083"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전송 상태</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38" name="그림 37"/>
          <p:cNvPicPr>
            <a:picLocks noChangeAspect="1"/>
          </p:cNvPicPr>
          <p:nvPr/>
        </p:nvPicPr>
        <p:blipFill>
          <a:blip r:embed="rId2"/>
          <a:stretch>
            <a:fillRect/>
          </a:stretch>
        </p:blipFill>
        <p:spPr>
          <a:xfrm>
            <a:off x="996998" y="4831457"/>
            <a:ext cx="838317" cy="266737"/>
          </a:xfrm>
          <a:prstGeom prst="rect">
            <a:avLst/>
          </a:prstGeom>
        </p:spPr>
      </p:pic>
      <p:pic>
        <p:nvPicPr>
          <p:cNvPr id="39" name="그림 38"/>
          <p:cNvPicPr>
            <a:picLocks noChangeAspect="1"/>
          </p:cNvPicPr>
          <p:nvPr/>
        </p:nvPicPr>
        <p:blipFill>
          <a:blip r:embed="rId3"/>
          <a:stretch>
            <a:fillRect/>
          </a:stretch>
        </p:blipFill>
        <p:spPr>
          <a:xfrm>
            <a:off x="887445" y="5207697"/>
            <a:ext cx="1057423" cy="266737"/>
          </a:xfrm>
          <a:prstGeom prst="rect">
            <a:avLst/>
          </a:prstGeom>
        </p:spPr>
      </p:pic>
      <p:pic>
        <p:nvPicPr>
          <p:cNvPr id="40" name="그림 39"/>
          <p:cNvPicPr>
            <a:picLocks noChangeAspect="1"/>
          </p:cNvPicPr>
          <p:nvPr/>
        </p:nvPicPr>
        <p:blipFill>
          <a:blip r:embed="rId4"/>
          <a:stretch>
            <a:fillRect/>
          </a:stretch>
        </p:blipFill>
        <p:spPr>
          <a:xfrm>
            <a:off x="1011287" y="5583937"/>
            <a:ext cx="809738" cy="266737"/>
          </a:xfrm>
          <a:prstGeom prst="rect">
            <a:avLst/>
          </a:prstGeom>
        </p:spPr>
      </p:pic>
      <p:pic>
        <p:nvPicPr>
          <p:cNvPr id="42" name="그림 41"/>
          <p:cNvPicPr>
            <a:picLocks noChangeAspect="1"/>
          </p:cNvPicPr>
          <p:nvPr/>
        </p:nvPicPr>
        <p:blipFill>
          <a:blip r:embed="rId5"/>
          <a:stretch>
            <a:fillRect/>
          </a:stretch>
        </p:blipFill>
        <p:spPr>
          <a:xfrm>
            <a:off x="906498" y="5960177"/>
            <a:ext cx="1019317" cy="257211"/>
          </a:xfrm>
          <a:prstGeom prst="rect">
            <a:avLst/>
          </a:prstGeom>
        </p:spPr>
      </p:pic>
      <p:pic>
        <p:nvPicPr>
          <p:cNvPr id="44" name="그림 43"/>
          <p:cNvPicPr>
            <a:picLocks noChangeAspect="1"/>
          </p:cNvPicPr>
          <p:nvPr/>
        </p:nvPicPr>
        <p:blipFill>
          <a:blip r:embed="rId6"/>
          <a:stretch>
            <a:fillRect/>
          </a:stretch>
        </p:blipFill>
        <p:spPr>
          <a:xfrm>
            <a:off x="649287" y="6326891"/>
            <a:ext cx="1533739" cy="285790"/>
          </a:xfrm>
          <a:prstGeom prst="rect">
            <a:avLst/>
          </a:prstGeom>
        </p:spPr>
      </p:pic>
      <p:pic>
        <p:nvPicPr>
          <p:cNvPr id="45" name="그림 44"/>
          <p:cNvPicPr>
            <a:picLocks noChangeAspect="1"/>
          </p:cNvPicPr>
          <p:nvPr/>
        </p:nvPicPr>
        <p:blipFill>
          <a:blip r:embed="rId7"/>
          <a:stretch>
            <a:fillRect/>
          </a:stretch>
        </p:blipFill>
        <p:spPr>
          <a:xfrm>
            <a:off x="978692" y="4460481"/>
            <a:ext cx="874928" cy="261473"/>
          </a:xfrm>
          <a:prstGeom prst="rect">
            <a:avLst/>
          </a:prstGeom>
        </p:spPr>
      </p:pic>
      <p:sp>
        <p:nvSpPr>
          <p:cNvPr id="46" name="TextBox 45">
            <a:extLst>
              <a:ext uri="{FF2B5EF4-FFF2-40B4-BE49-F238E27FC236}">
                <a16:creationId xmlns:a16="http://schemas.microsoft.com/office/drawing/2014/main" id="{B90186AB-10F7-0A0A-4756-EF3C110F88A1}"/>
              </a:ext>
            </a:extLst>
          </p:cNvPr>
          <p:cNvSpPr txBox="1"/>
          <p:nvPr/>
        </p:nvSpPr>
        <p:spPr>
          <a:xfrm>
            <a:off x="2291008" y="4500436"/>
            <a:ext cx="1478104" cy="22121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7" name="TextBox 46">
            <a:extLst>
              <a:ext uri="{FF2B5EF4-FFF2-40B4-BE49-F238E27FC236}">
                <a16:creationId xmlns:a16="http://schemas.microsoft.com/office/drawing/2014/main" id="{B90186AB-10F7-0A0A-4756-EF3C110F88A1}"/>
              </a:ext>
            </a:extLst>
          </p:cNvPr>
          <p:cNvSpPr txBox="1"/>
          <p:nvPr/>
        </p:nvSpPr>
        <p:spPr>
          <a:xfrm>
            <a:off x="2291008" y="4878357"/>
            <a:ext cx="1478104" cy="22121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된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8" name="TextBox 47">
            <a:extLst>
              <a:ext uri="{FF2B5EF4-FFF2-40B4-BE49-F238E27FC236}">
                <a16:creationId xmlns:a16="http://schemas.microsoft.com/office/drawing/2014/main" id="{B90186AB-10F7-0A0A-4756-EF3C110F88A1}"/>
              </a:ext>
            </a:extLst>
          </p:cNvPr>
          <p:cNvSpPr txBox="1"/>
          <p:nvPr/>
        </p:nvSpPr>
        <p:spPr>
          <a:xfrm>
            <a:off x="2291007" y="5256278"/>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후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오류통보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9" name="TextBox 48">
            <a:extLst>
              <a:ext uri="{FF2B5EF4-FFF2-40B4-BE49-F238E27FC236}">
                <a16:creationId xmlns:a16="http://schemas.microsoft.com/office/drawing/2014/main" id="{B90186AB-10F7-0A0A-4756-EF3C110F88A1}"/>
              </a:ext>
            </a:extLst>
          </p:cNvPr>
          <p:cNvSpPr txBox="1"/>
          <p:nvPr/>
        </p:nvSpPr>
        <p:spPr>
          <a:xfrm>
            <a:off x="2291007" y="5628433"/>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정상 접수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0" name="TextBox 49">
            <a:extLst>
              <a:ext uri="{FF2B5EF4-FFF2-40B4-BE49-F238E27FC236}">
                <a16:creationId xmlns:a16="http://schemas.microsoft.com/office/drawing/2014/main" id="{B90186AB-10F7-0A0A-4756-EF3C110F88A1}"/>
              </a:ext>
            </a:extLst>
          </p:cNvPr>
          <p:cNvSpPr txBox="1"/>
          <p:nvPr/>
        </p:nvSpPr>
        <p:spPr>
          <a:xfrm>
            <a:off x="2291007" y="6000588"/>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 보완이 필요한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1" name="TextBox 50">
            <a:extLst>
              <a:ext uri="{FF2B5EF4-FFF2-40B4-BE49-F238E27FC236}">
                <a16:creationId xmlns:a16="http://schemas.microsoft.com/office/drawing/2014/main" id="{B90186AB-10F7-0A0A-4756-EF3C110F88A1}"/>
              </a:ext>
            </a:extLst>
          </p:cNvPr>
          <p:cNvSpPr txBox="1"/>
          <p:nvPr/>
        </p:nvSpPr>
        <p:spPr>
          <a:xfrm>
            <a:off x="2291007" y="6372743"/>
            <a:ext cx="198362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완료통보후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자료제출 요청</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2" name="TextBox 51">
            <a:extLst>
              <a:ext uri="{FF2B5EF4-FFF2-40B4-BE49-F238E27FC236}">
                <a16:creationId xmlns:a16="http://schemas.microsoft.com/office/drawing/2014/main" id="{B90186AB-10F7-0A0A-4756-EF3C110F88A1}"/>
              </a:ext>
            </a:extLst>
          </p:cNvPr>
          <p:cNvSpPr txBox="1"/>
          <p:nvPr/>
        </p:nvSpPr>
        <p:spPr>
          <a:xfrm>
            <a:off x="2291007" y="6744897"/>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신청 완료</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53" name="직선 연결선 52"/>
          <p:cNvCxnSpPr/>
          <p:nvPr/>
        </p:nvCxnSpPr>
        <p:spPr>
          <a:xfrm flipH="1">
            <a:off x="536550" y="4747688"/>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4" name="직선 연결선 53"/>
          <p:cNvCxnSpPr/>
          <p:nvPr/>
        </p:nvCxnSpPr>
        <p:spPr>
          <a:xfrm flipH="1">
            <a:off x="536550" y="5175229"/>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직선 연결선 54"/>
          <p:cNvCxnSpPr/>
          <p:nvPr/>
        </p:nvCxnSpPr>
        <p:spPr>
          <a:xfrm flipH="1">
            <a:off x="536550" y="5584892"/>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직선 연결선 55"/>
          <p:cNvCxnSpPr/>
          <p:nvPr/>
        </p:nvCxnSpPr>
        <p:spPr>
          <a:xfrm flipH="1">
            <a:off x="536550" y="5924855"/>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직선 연결선 56"/>
          <p:cNvCxnSpPr/>
          <p:nvPr/>
        </p:nvCxnSpPr>
        <p:spPr>
          <a:xfrm flipH="1">
            <a:off x="536550" y="6326732"/>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직선 연결선 57"/>
          <p:cNvCxnSpPr/>
          <p:nvPr/>
        </p:nvCxnSpPr>
        <p:spPr>
          <a:xfrm flipH="1">
            <a:off x="536550" y="6650126"/>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직선 연결선 58"/>
          <p:cNvCxnSpPr/>
          <p:nvPr/>
        </p:nvCxnSpPr>
        <p:spPr>
          <a:xfrm flipH="1">
            <a:off x="536550" y="7008945"/>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60" name="직사각형 59"/>
          <p:cNvSpPr/>
          <p:nvPr/>
        </p:nvSpPr>
        <p:spPr>
          <a:xfrm>
            <a:off x="4513819" y="4060773"/>
            <a:ext cx="5931157"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전송 </a:t>
            </a:r>
            <a:r>
              <a:rPr lang="en-US" altLang="ko-KR" sz="1400" dirty="0" smtClean="0">
                <a:solidFill>
                  <a:schemeClr val="bg1"/>
                </a:solidFill>
                <a:latin typeface="Arita Dotum KR Medium" panose="02020603020101020101" pitchFamily="18" charset="-127"/>
                <a:ea typeface="Arita Dotum KR Medium" panose="02020603020101020101" pitchFamily="18" charset="-127"/>
              </a:rPr>
              <a:t>PROCESS</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61" name="그림 60"/>
          <p:cNvPicPr>
            <a:picLocks noChangeAspect="1"/>
          </p:cNvPicPr>
          <p:nvPr/>
        </p:nvPicPr>
        <p:blipFill>
          <a:blip r:embed="rId7"/>
          <a:stretch>
            <a:fillRect/>
          </a:stretch>
        </p:blipFill>
        <p:spPr>
          <a:xfrm>
            <a:off x="6662791" y="4460481"/>
            <a:ext cx="874928" cy="261473"/>
          </a:xfrm>
          <a:prstGeom prst="rect">
            <a:avLst/>
          </a:prstGeom>
        </p:spPr>
      </p:pic>
      <p:pic>
        <p:nvPicPr>
          <p:cNvPr id="62" name="그림 61"/>
          <p:cNvPicPr>
            <a:picLocks noChangeAspect="1"/>
          </p:cNvPicPr>
          <p:nvPr/>
        </p:nvPicPr>
        <p:blipFill>
          <a:blip r:embed="rId2"/>
          <a:stretch>
            <a:fillRect/>
          </a:stretch>
        </p:blipFill>
        <p:spPr>
          <a:xfrm>
            <a:off x="6681097" y="4975689"/>
            <a:ext cx="838317" cy="266737"/>
          </a:xfrm>
          <a:prstGeom prst="rect">
            <a:avLst/>
          </a:prstGeom>
        </p:spPr>
      </p:pic>
      <p:pic>
        <p:nvPicPr>
          <p:cNvPr id="63" name="그림 62"/>
          <p:cNvPicPr>
            <a:picLocks noChangeAspect="1"/>
          </p:cNvPicPr>
          <p:nvPr/>
        </p:nvPicPr>
        <p:blipFill>
          <a:blip r:embed="rId3"/>
          <a:stretch>
            <a:fillRect/>
          </a:stretch>
        </p:blipFill>
        <p:spPr>
          <a:xfrm>
            <a:off x="5848245" y="5498874"/>
            <a:ext cx="1057423" cy="266737"/>
          </a:xfrm>
          <a:prstGeom prst="rect">
            <a:avLst/>
          </a:prstGeom>
        </p:spPr>
      </p:pic>
      <p:pic>
        <p:nvPicPr>
          <p:cNvPr id="64" name="그림 63"/>
          <p:cNvPicPr>
            <a:picLocks noChangeAspect="1"/>
          </p:cNvPicPr>
          <p:nvPr/>
        </p:nvPicPr>
        <p:blipFill>
          <a:blip r:embed="rId4"/>
          <a:stretch>
            <a:fillRect/>
          </a:stretch>
        </p:blipFill>
        <p:spPr>
          <a:xfrm>
            <a:off x="7652035" y="5496162"/>
            <a:ext cx="809738" cy="266737"/>
          </a:xfrm>
          <a:prstGeom prst="rect">
            <a:avLst/>
          </a:prstGeom>
        </p:spPr>
      </p:pic>
      <p:pic>
        <p:nvPicPr>
          <p:cNvPr id="65" name="그림 64"/>
          <p:cNvPicPr>
            <a:picLocks noChangeAspect="1"/>
          </p:cNvPicPr>
          <p:nvPr/>
        </p:nvPicPr>
        <p:blipFill>
          <a:blip r:embed="rId5"/>
          <a:stretch>
            <a:fillRect/>
          </a:stretch>
        </p:blipFill>
        <p:spPr>
          <a:xfrm>
            <a:off x="7547246" y="6087426"/>
            <a:ext cx="1019317" cy="257211"/>
          </a:xfrm>
          <a:prstGeom prst="rect">
            <a:avLst/>
          </a:prstGeom>
        </p:spPr>
      </p:pic>
      <p:cxnSp>
        <p:nvCxnSpPr>
          <p:cNvPr id="9" name="직선 화살표 연결선 8"/>
          <p:cNvCxnSpPr>
            <a:stCxn id="61" idx="2"/>
            <a:endCxn id="62" idx="0"/>
          </p:cNvCxnSpPr>
          <p:nvPr/>
        </p:nvCxnSpPr>
        <p:spPr>
          <a:xfrm>
            <a:off x="7100255" y="4721954"/>
            <a:ext cx="1" cy="253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꺾인 연결선 15"/>
          <p:cNvCxnSpPr>
            <a:stCxn id="62" idx="2"/>
            <a:endCxn id="64" idx="0"/>
          </p:cNvCxnSpPr>
          <p:nvPr/>
        </p:nvCxnSpPr>
        <p:spPr>
          <a:xfrm rot="16200000" flipH="1">
            <a:off x="7451712" y="4890970"/>
            <a:ext cx="253736" cy="9566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꺾인 연결선 68"/>
          <p:cNvCxnSpPr>
            <a:stCxn id="62" idx="2"/>
            <a:endCxn id="63" idx="0"/>
          </p:cNvCxnSpPr>
          <p:nvPr/>
        </p:nvCxnSpPr>
        <p:spPr>
          <a:xfrm rot="5400000">
            <a:off x="6610383" y="5009001"/>
            <a:ext cx="256448" cy="7232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꺾인 연결선 70"/>
          <p:cNvCxnSpPr>
            <a:stCxn id="63" idx="1"/>
            <a:endCxn id="62" idx="1"/>
          </p:cNvCxnSpPr>
          <p:nvPr/>
        </p:nvCxnSpPr>
        <p:spPr>
          <a:xfrm rot="10800000" flipH="1">
            <a:off x="5848245" y="5109059"/>
            <a:ext cx="832852" cy="523185"/>
          </a:xfrm>
          <a:prstGeom prst="bentConnector3">
            <a:avLst>
              <a:gd name="adj1" fmla="val -2744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꺾인 연결선 72"/>
          <p:cNvCxnSpPr>
            <a:stCxn id="64" idx="2"/>
            <a:endCxn id="65" idx="0"/>
          </p:cNvCxnSpPr>
          <p:nvPr/>
        </p:nvCxnSpPr>
        <p:spPr>
          <a:xfrm rot="16200000" flipH="1">
            <a:off x="7894641" y="5925161"/>
            <a:ext cx="324527"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꺾인 연결선 76"/>
          <p:cNvCxnSpPr>
            <a:stCxn id="65" idx="1"/>
            <a:endCxn id="62" idx="1"/>
          </p:cNvCxnSpPr>
          <p:nvPr/>
        </p:nvCxnSpPr>
        <p:spPr>
          <a:xfrm rot="10800000">
            <a:off x="6681098" y="5109058"/>
            <a:ext cx="866149" cy="1106974"/>
          </a:xfrm>
          <a:prstGeom prst="bentConnector3">
            <a:avLst>
              <a:gd name="adj1" fmla="val 28346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꺾인 연결선 79"/>
          <p:cNvCxnSpPr>
            <a:stCxn id="65" idx="2"/>
            <a:endCxn id="67" idx="0"/>
          </p:cNvCxnSpPr>
          <p:nvPr/>
        </p:nvCxnSpPr>
        <p:spPr>
          <a:xfrm rot="5400000">
            <a:off x="7873528" y="6528014"/>
            <a:ext cx="366754"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꺾인 연결선 83"/>
          <p:cNvCxnSpPr>
            <a:stCxn id="65" idx="3"/>
            <a:endCxn id="66" idx="1"/>
          </p:cNvCxnSpPr>
          <p:nvPr/>
        </p:nvCxnSpPr>
        <p:spPr>
          <a:xfrm flipV="1">
            <a:off x="8566563" y="6216031"/>
            <a:ext cx="386260"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그림 1"/>
          <p:cNvPicPr>
            <a:picLocks noChangeAspect="1"/>
          </p:cNvPicPr>
          <p:nvPr/>
        </p:nvPicPr>
        <p:blipFill>
          <a:blip r:embed="rId8"/>
          <a:stretch>
            <a:fillRect/>
          </a:stretch>
        </p:blipFill>
        <p:spPr>
          <a:xfrm>
            <a:off x="8948683" y="6107660"/>
            <a:ext cx="1038370" cy="228632"/>
          </a:xfrm>
          <a:prstGeom prst="rect">
            <a:avLst/>
          </a:prstGeom>
        </p:spPr>
      </p:pic>
      <p:pic>
        <p:nvPicPr>
          <p:cNvPr id="68" name="그림 67"/>
          <p:cNvPicPr>
            <a:picLocks noChangeAspect="1"/>
          </p:cNvPicPr>
          <p:nvPr/>
        </p:nvPicPr>
        <p:blipFill>
          <a:blip r:embed="rId8"/>
          <a:stretch>
            <a:fillRect/>
          </a:stretch>
        </p:blipFill>
        <p:spPr>
          <a:xfrm>
            <a:off x="7576105" y="6703057"/>
            <a:ext cx="1038370" cy="228632"/>
          </a:xfrm>
          <a:prstGeom prst="rect">
            <a:avLst/>
          </a:prstGeom>
        </p:spPr>
      </p:pic>
      <p:pic>
        <p:nvPicPr>
          <p:cNvPr id="70" name="그림 69"/>
          <p:cNvPicPr>
            <a:picLocks noChangeAspect="1"/>
          </p:cNvPicPr>
          <p:nvPr/>
        </p:nvPicPr>
        <p:blipFill>
          <a:blip r:embed="rId8"/>
          <a:stretch>
            <a:fillRect/>
          </a:stretch>
        </p:blipFill>
        <p:spPr>
          <a:xfrm>
            <a:off x="896971" y="6703057"/>
            <a:ext cx="1038370" cy="228632"/>
          </a:xfrm>
          <a:prstGeom prst="rect">
            <a:avLst/>
          </a:prstGeom>
        </p:spPr>
      </p:pic>
      <p:cxnSp>
        <p:nvCxnSpPr>
          <p:cNvPr id="72" name="직선 연결선 71"/>
          <p:cNvCxnSpPr/>
          <p:nvPr/>
        </p:nvCxnSpPr>
        <p:spPr>
          <a:xfrm flipH="1">
            <a:off x="536550" y="3282890"/>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B90186AB-10F7-0A0A-4756-EF3C110F88A1}"/>
              </a:ext>
            </a:extLst>
          </p:cNvPr>
          <p:cNvSpPr txBox="1"/>
          <p:nvPr/>
        </p:nvSpPr>
        <p:spPr>
          <a:xfrm>
            <a:off x="2045681" y="2931794"/>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신고서 전송 후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의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통보결과를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수신합니다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75" name="직선 연결선 74"/>
          <p:cNvCxnSpPr/>
          <p:nvPr/>
        </p:nvCxnSpPr>
        <p:spPr>
          <a:xfrm flipH="1">
            <a:off x="536550" y="3773557"/>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B90186AB-10F7-0A0A-4756-EF3C110F88A1}"/>
              </a:ext>
            </a:extLst>
          </p:cNvPr>
          <p:cNvSpPr txBox="1"/>
          <p:nvPr/>
        </p:nvSpPr>
        <p:spPr>
          <a:xfrm>
            <a:off x="2045681" y="3422461"/>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전송상태에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따른 상세 정보를 조회합니다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5" name="그림 4"/>
          <p:cNvPicPr>
            <a:picLocks noChangeAspect="1"/>
          </p:cNvPicPr>
          <p:nvPr/>
        </p:nvPicPr>
        <p:blipFill>
          <a:blip r:embed="rId9"/>
          <a:stretch>
            <a:fillRect/>
          </a:stretch>
        </p:blipFill>
        <p:spPr>
          <a:xfrm>
            <a:off x="693555" y="1496383"/>
            <a:ext cx="1162212" cy="247685"/>
          </a:xfrm>
          <a:prstGeom prst="rect">
            <a:avLst/>
          </a:prstGeom>
        </p:spPr>
      </p:pic>
      <p:pic>
        <p:nvPicPr>
          <p:cNvPr id="6" name="그림 5"/>
          <p:cNvPicPr>
            <a:picLocks noChangeAspect="1"/>
          </p:cNvPicPr>
          <p:nvPr/>
        </p:nvPicPr>
        <p:blipFill>
          <a:blip r:embed="rId10"/>
          <a:stretch>
            <a:fillRect/>
          </a:stretch>
        </p:blipFill>
        <p:spPr>
          <a:xfrm>
            <a:off x="810323" y="1947410"/>
            <a:ext cx="885949" cy="238158"/>
          </a:xfrm>
          <a:prstGeom prst="rect">
            <a:avLst/>
          </a:prstGeom>
        </p:spPr>
      </p:pic>
      <p:pic>
        <p:nvPicPr>
          <p:cNvPr id="8" name="그림 7"/>
          <p:cNvPicPr>
            <a:picLocks noChangeAspect="1"/>
          </p:cNvPicPr>
          <p:nvPr/>
        </p:nvPicPr>
        <p:blipFill>
          <a:blip r:embed="rId11"/>
          <a:stretch>
            <a:fillRect/>
          </a:stretch>
        </p:blipFill>
        <p:spPr>
          <a:xfrm>
            <a:off x="915112" y="2438076"/>
            <a:ext cx="676369" cy="238158"/>
          </a:xfrm>
          <a:prstGeom prst="rect">
            <a:avLst/>
          </a:prstGeom>
        </p:spPr>
      </p:pic>
      <p:pic>
        <p:nvPicPr>
          <p:cNvPr id="10" name="그림 9"/>
          <p:cNvPicPr>
            <a:picLocks noChangeAspect="1"/>
          </p:cNvPicPr>
          <p:nvPr/>
        </p:nvPicPr>
        <p:blipFill>
          <a:blip r:embed="rId12"/>
          <a:stretch>
            <a:fillRect/>
          </a:stretch>
        </p:blipFill>
        <p:spPr>
          <a:xfrm>
            <a:off x="929566" y="2926983"/>
            <a:ext cx="704948" cy="238158"/>
          </a:xfrm>
          <a:prstGeom prst="rect">
            <a:avLst/>
          </a:prstGeom>
        </p:spPr>
      </p:pic>
      <p:pic>
        <p:nvPicPr>
          <p:cNvPr id="11" name="그림 10"/>
          <p:cNvPicPr>
            <a:picLocks noChangeAspect="1"/>
          </p:cNvPicPr>
          <p:nvPr/>
        </p:nvPicPr>
        <p:blipFill>
          <a:blip r:embed="rId13"/>
          <a:stretch>
            <a:fillRect/>
          </a:stretch>
        </p:blipFill>
        <p:spPr>
          <a:xfrm>
            <a:off x="824776" y="3404880"/>
            <a:ext cx="914528" cy="238158"/>
          </a:xfrm>
          <a:prstGeom prst="rect">
            <a:avLst/>
          </a:prstGeom>
        </p:spPr>
      </p:pic>
      <p:sp>
        <p:nvSpPr>
          <p:cNvPr id="66" name="TextBox 65">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문서관리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247971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가산금액지급신청</a:t>
            </a: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748136"/>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과다환급자진신고 후 발생한 가산금에 대해서 환급을 신청하는 프로그램입니다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7" name="직사각형 6"/>
          <p:cNvSpPr/>
          <p:nvPr/>
        </p:nvSpPr>
        <p:spPr>
          <a:xfrm>
            <a:off x="536550" y="4914403"/>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4914403"/>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2045681" y="5285820"/>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지급완료된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환급신청 데이터를 기초로 과다환급자진신고서를 작성합니다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2" name="TextBox 11">
            <a:extLst>
              <a:ext uri="{FF2B5EF4-FFF2-40B4-BE49-F238E27FC236}">
                <a16:creationId xmlns:a16="http://schemas.microsoft.com/office/drawing/2014/main" id="{B90186AB-10F7-0A0A-4756-EF3C110F88A1}"/>
              </a:ext>
            </a:extLst>
          </p:cNvPr>
          <p:cNvSpPr txBox="1"/>
          <p:nvPr/>
        </p:nvSpPr>
        <p:spPr>
          <a:xfrm>
            <a:off x="7558259" y="2511575"/>
            <a:ext cx="3005662" cy="1723549"/>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과다환급자진신고 프로세스가 완료 된 데이터에 대해서 신청할 수 있으며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신청시에는</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신고서를 작성한 후 전송합니다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atinLnBrk="1">
              <a:lnSpc>
                <a:spcPct val="100000"/>
              </a:lnSpc>
              <a:defRPr/>
            </a:pP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UNIPASS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전송 및 수신은 </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IE</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모드에서만 가능합니다</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부록</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1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참조</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4" name="그림 3"/>
          <p:cNvPicPr>
            <a:picLocks noChangeAspect="1"/>
          </p:cNvPicPr>
          <p:nvPr/>
        </p:nvPicPr>
        <p:blipFill>
          <a:blip r:embed="rId2"/>
          <a:stretch>
            <a:fillRect/>
          </a:stretch>
        </p:blipFill>
        <p:spPr>
          <a:xfrm>
            <a:off x="572166" y="5285820"/>
            <a:ext cx="1362265" cy="228632"/>
          </a:xfrm>
          <a:prstGeom prst="rect">
            <a:avLst/>
          </a:prstGeom>
        </p:spPr>
      </p:pic>
      <p:pic>
        <p:nvPicPr>
          <p:cNvPr id="2" name="그림 1"/>
          <p:cNvPicPr>
            <a:picLocks noChangeAspect="1"/>
          </p:cNvPicPr>
          <p:nvPr/>
        </p:nvPicPr>
        <p:blipFill>
          <a:blip r:embed="rId3"/>
          <a:stretch>
            <a:fillRect/>
          </a:stretch>
        </p:blipFill>
        <p:spPr>
          <a:xfrm>
            <a:off x="572166" y="1311573"/>
            <a:ext cx="6754634" cy="3528000"/>
          </a:xfrm>
          <a:prstGeom prst="rect">
            <a:avLst/>
          </a:prstGeom>
        </p:spPr>
      </p:pic>
      <p:cxnSp>
        <p:nvCxnSpPr>
          <p:cNvPr id="16" name="직선 연결선 15"/>
          <p:cNvCxnSpPr/>
          <p:nvPr/>
        </p:nvCxnSpPr>
        <p:spPr>
          <a:xfrm flipH="1">
            <a:off x="536550" y="5586844"/>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직선 연결선 16"/>
          <p:cNvCxnSpPr/>
          <p:nvPr/>
        </p:nvCxnSpPr>
        <p:spPr>
          <a:xfrm flipH="1">
            <a:off x="536550" y="6056135"/>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90186AB-10F7-0A0A-4756-EF3C110F88A1}"/>
              </a:ext>
            </a:extLst>
          </p:cNvPr>
          <p:cNvSpPr txBox="1"/>
          <p:nvPr/>
        </p:nvSpPr>
        <p:spPr>
          <a:xfrm>
            <a:off x="2045681" y="5713648"/>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작성된 신고서를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전송합니다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cxnSp>
        <p:nvCxnSpPr>
          <p:cNvPr id="19" name="직선 연결선 18"/>
          <p:cNvCxnSpPr/>
          <p:nvPr/>
        </p:nvCxnSpPr>
        <p:spPr>
          <a:xfrm flipH="1">
            <a:off x="536550" y="6532860"/>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90186AB-10F7-0A0A-4756-EF3C110F88A1}"/>
              </a:ext>
            </a:extLst>
          </p:cNvPr>
          <p:cNvSpPr txBox="1"/>
          <p:nvPr/>
        </p:nvSpPr>
        <p:spPr>
          <a:xfrm>
            <a:off x="2045681" y="6175257"/>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신고서 전송 후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의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통보결과를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수신합니다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21" name="직선 연결선 20"/>
          <p:cNvCxnSpPr/>
          <p:nvPr/>
        </p:nvCxnSpPr>
        <p:spPr>
          <a:xfrm flipH="1">
            <a:off x="536550" y="6994718"/>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90186AB-10F7-0A0A-4756-EF3C110F88A1}"/>
              </a:ext>
            </a:extLst>
          </p:cNvPr>
          <p:cNvSpPr txBox="1"/>
          <p:nvPr/>
        </p:nvSpPr>
        <p:spPr>
          <a:xfrm>
            <a:off x="2045681" y="6643622"/>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전송상태에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따른 상세 정보를 조회합니다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24" name="그림 23"/>
          <p:cNvPicPr>
            <a:picLocks noChangeAspect="1"/>
          </p:cNvPicPr>
          <p:nvPr/>
        </p:nvPicPr>
        <p:blipFill>
          <a:blip r:embed="rId4"/>
          <a:stretch>
            <a:fillRect/>
          </a:stretch>
        </p:blipFill>
        <p:spPr>
          <a:xfrm>
            <a:off x="915112" y="5703841"/>
            <a:ext cx="676369" cy="238158"/>
          </a:xfrm>
          <a:prstGeom prst="rect">
            <a:avLst/>
          </a:prstGeom>
        </p:spPr>
      </p:pic>
      <p:pic>
        <p:nvPicPr>
          <p:cNvPr id="25" name="그림 24"/>
          <p:cNvPicPr>
            <a:picLocks noChangeAspect="1"/>
          </p:cNvPicPr>
          <p:nvPr/>
        </p:nvPicPr>
        <p:blipFill>
          <a:blip r:embed="rId5"/>
          <a:stretch>
            <a:fillRect/>
          </a:stretch>
        </p:blipFill>
        <p:spPr>
          <a:xfrm>
            <a:off x="929566" y="6177880"/>
            <a:ext cx="704948" cy="238158"/>
          </a:xfrm>
          <a:prstGeom prst="rect">
            <a:avLst/>
          </a:prstGeom>
        </p:spPr>
      </p:pic>
      <p:pic>
        <p:nvPicPr>
          <p:cNvPr id="26" name="그림 25"/>
          <p:cNvPicPr>
            <a:picLocks noChangeAspect="1"/>
          </p:cNvPicPr>
          <p:nvPr/>
        </p:nvPicPr>
        <p:blipFill>
          <a:blip r:embed="rId6"/>
          <a:stretch>
            <a:fillRect/>
          </a:stretch>
        </p:blipFill>
        <p:spPr>
          <a:xfrm>
            <a:off x="824776" y="6626041"/>
            <a:ext cx="914528" cy="238158"/>
          </a:xfrm>
          <a:prstGeom prst="rect">
            <a:avLst/>
          </a:prstGeom>
        </p:spPr>
      </p:pic>
      <p:sp>
        <p:nvSpPr>
          <p:cNvPr id="27" name="TextBox 26">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문서관리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8959557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조견표</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748136"/>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과다환급자진신고 후 발생한 가산금에 대해서 환급을 신청하는 프로그램입니다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311573"/>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7" name="직사각형 6"/>
          <p:cNvSpPr/>
          <p:nvPr/>
        </p:nvSpPr>
        <p:spPr>
          <a:xfrm>
            <a:off x="536550" y="4914403"/>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4914403"/>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2045681" y="5285820"/>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작성된 조견표를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PDF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양식으로 출력합니다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2" name="TextBox 11">
            <a:extLst>
              <a:ext uri="{FF2B5EF4-FFF2-40B4-BE49-F238E27FC236}">
                <a16:creationId xmlns:a16="http://schemas.microsoft.com/office/drawing/2014/main" id="{B90186AB-10F7-0A0A-4756-EF3C110F88A1}"/>
              </a:ext>
            </a:extLst>
          </p:cNvPr>
          <p:cNvSpPr txBox="1"/>
          <p:nvPr/>
        </p:nvSpPr>
        <p:spPr>
          <a:xfrm>
            <a:off x="7558259" y="2511575"/>
            <a:ext cx="3005662" cy="1723549"/>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과다환급자진신고 프로세스가 완료 된 데이터에 대해서 신청할 수 있으며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신청시에는</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신고서를 작성한 후 전송합니다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atinLnBrk="1">
              <a:lnSpc>
                <a:spcPct val="100000"/>
              </a:lnSpc>
              <a:defRPr/>
            </a:pP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UNIPASS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전송 및 수신은 </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IE</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모드에서만 가능합니다</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부록</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1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참조</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16" name="직선 연결선 15"/>
          <p:cNvCxnSpPr/>
          <p:nvPr/>
        </p:nvCxnSpPr>
        <p:spPr>
          <a:xfrm flipH="1">
            <a:off x="536550" y="5586844"/>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직선 연결선 16"/>
          <p:cNvCxnSpPr/>
          <p:nvPr/>
        </p:nvCxnSpPr>
        <p:spPr>
          <a:xfrm flipH="1">
            <a:off x="536550" y="6056135"/>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90186AB-10F7-0A0A-4756-EF3C110F88A1}"/>
              </a:ext>
            </a:extLst>
          </p:cNvPr>
          <p:cNvSpPr txBox="1"/>
          <p:nvPr/>
        </p:nvSpPr>
        <p:spPr>
          <a:xfrm>
            <a:off x="2045681" y="5713648"/>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작성된 조견표를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전송합니다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cxnSp>
        <p:nvCxnSpPr>
          <p:cNvPr id="19" name="직선 연결선 18"/>
          <p:cNvCxnSpPr/>
          <p:nvPr/>
        </p:nvCxnSpPr>
        <p:spPr>
          <a:xfrm flipH="1">
            <a:off x="536550" y="6532860"/>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90186AB-10F7-0A0A-4756-EF3C110F88A1}"/>
              </a:ext>
            </a:extLst>
          </p:cNvPr>
          <p:cNvSpPr txBox="1"/>
          <p:nvPr/>
        </p:nvSpPr>
        <p:spPr>
          <a:xfrm>
            <a:off x="2045681" y="6175257"/>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조견표 전송 후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의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통보결과를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수신합니다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21" name="직선 연결선 20"/>
          <p:cNvCxnSpPr/>
          <p:nvPr/>
        </p:nvCxnSpPr>
        <p:spPr>
          <a:xfrm flipH="1">
            <a:off x="536550" y="6994718"/>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90186AB-10F7-0A0A-4756-EF3C110F88A1}"/>
              </a:ext>
            </a:extLst>
          </p:cNvPr>
          <p:cNvSpPr txBox="1"/>
          <p:nvPr/>
        </p:nvSpPr>
        <p:spPr>
          <a:xfrm>
            <a:off x="2045681" y="6643622"/>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전송상태에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따른 상세 정보를 조회합니다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24" name="그림 23"/>
          <p:cNvPicPr>
            <a:picLocks noChangeAspect="1"/>
          </p:cNvPicPr>
          <p:nvPr/>
        </p:nvPicPr>
        <p:blipFill>
          <a:blip r:embed="rId2"/>
          <a:stretch>
            <a:fillRect/>
          </a:stretch>
        </p:blipFill>
        <p:spPr>
          <a:xfrm>
            <a:off x="915112" y="5703841"/>
            <a:ext cx="676369" cy="238158"/>
          </a:xfrm>
          <a:prstGeom prst="rect">
            <a:avLst/>
          </a:prstGeom>
        </p:spPr>
      </p:pic>
      <p:pic>
        <p:nvPicPr>
          <p:cNvPr id="25" name="그림 24"/>
          <p:cNvPicPr>
            <a:picLocks noChangeAspect="1"/>
          </p:cNvPicPr>
          <p:nvPr/>
        </p:nvPicPr>
        <p:blipFill>
          <a:blip r:embed="rId3"/>
          <a:stretch>
            <a:fillRect/>
          </a:stretch>
        </p:blipFill>
        <p:spPr>
          <a:xfrm>
            <a:off x="929566" y="6177880"/>
            <a:ext cx="704948" cy="238158"/>
          </a:xfrm>
          <a:prstGeom prst="rect">
            <a:avLst/>
          </a:prstGeom>
        </p:spPr>
      </p:pic>
      <p:pic>
        <p:nvPicPr>
          <p:cNvPr id="26" name="그림 25"/>
          <p:cNvPicPr>
            <a:picLocks noChangeAspect="1"/>
          </p:cNvPicPr>
          <p:nvPr/>
        </p:nvPicPr>
        <p:blipFill>
          <a:blip r:embed="rId4"/>
          <a:stretch>
            <a:fillRect/>
          </a:stretch>
        </p:blipFill>
        <p:spPr>
          <a:xfrm>
            <a:off x="824776" y="6626041"/>
            <a:ext cx="914528" cy="238158"/>
          </a:xfrm>
          <a:prstGeom prst="rect">
            <a:avLst/>
          </a:prstGeom>
        </p:spPr>
      </p:pic>
      <p:pic>
        <p:nvPicPr>
          <p:cNvPr id="3" name="그림 2"/>
          <p:cNvPicPr>
            <a:picLocks noChangeAspect="1"/>
          </p:cNvPicPr>
          <p:nvPr/>
        </p:nvPicPr>
        <p:blipFill>
          <a:blip r:embed="rId5"/>
          <a:stretch>
            <a:fillRect/>
          </a:stretch>
        </p:blipFill>
        <p:spPr>
          <a:xfrm>
            <a:off x="536550" y="1311573"/>
            <a:ext cx="6808801" cy="3371939"/>
          </a:xfrm>
          <a:prstGeom prst="rect">
            <a:avLst/>
          </a:prstGeom>
        </p:spPr>
      </p:pic>
      <p:pic>
        <p:nvPicPr>
          <p:cNvPr id="5" name="그림 4"/>
          <p:cNvPicPr>
            <a:picLocks noChangeAspect="1"/>
          </p:cNvPicPr>
          <p:nvPr/>
        </p:nvPicPr>
        <p:blipFill>
          <a:blip r:embed="rId6"/>
          <a:stretch>
            <a:fillRect/>
          </a:stretch>
        </p:blipFill>
        <p:spPr>
          <a:xfrm>
            <a:off x="781742" y="5263990"/>
            <a:ext cx="943107" cy="276264"/>
          </a:xfrm>
          <a:prstGeom prst="rect">
            <a:avLst/>
          </a:prstGeom>
        </p:spPr>
      </p:pic>
      <p:sp>
        <p:nvSpPr>
          <p:cNvPr id="27" name="TextBox 26">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문서관리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5500882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그림 20"/>
          <p:cNvPicPr>
            <a:picLocks noChangeAspect="1"/>
          </p:cNvPicPr>
          <p:nvPr/>
        </p:nvPicPr>
        <p:blipFill>
          <a:blip r:embed="rId2"/>
          <a:stretch>
            <a:fillRect/>
          </a:stretch>
        </p:blipFill>
        <p:spPr>
          <a:xfrm>
            <a:off x="2055379" y="1905164"/>
            <a:ext cx="4249421" cy="3092400"/>
          </a:xfrm>
          <a:prstGeom prst="rect">
            <a:avLst/>
          </a:prstGeom>
        </p:spPr>
      </p:pic>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조견표</a:t>
            </a:r>
            <a:r>
              <a:rPr lang="en-US" altLang="ko-KR" dirty="0" smtClean="0">
                <a:latin typeface="Arita Dotum KR Medium" panose="02020603020101020101" pitchFamily="18" charset="-127"/>
                <a:ea typeface="Arita Dotum KR Medium" panose="02020603020101020101" pitchFamily="18" charset="-127"/>
              </a:rPr>
              <a:t>(</a:t>
            </a:r>
            <a:r>
              <a:rPr lang="ko-KR" altLang="en-US" dirty="0" smtClean="0">
                <a:latin typeface="Arita Dotum KR Medium" panose="02020603020101020101" pitchFamily="18" charset="-127"/>
                <a:ea typeface="Arita Dotum KR Medium" panose="02020603020101020101" pitchFamily="18" charset="-127"/>
              </a:rPr>
              <a:t>계속</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7" name="직사각형 6"/>
          <p:cNvSpPr/>
          <p:nvPr/>
        </p:nvSpPr>
        <p:spPr>
          <a:xfrm>
            <a:off x="536550" y="1139154"/>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1139154"/>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2045681" y="1531564"/>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신고서의 작성이 완료되면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가산금액을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조회할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3" name="그림 2"/>
          <p:cNvPicPr>
            <a:picLocks noChangeAspect="1"/>
          </p:cNvPicPr>
          <p:nvPr/>
        </p:nvPicPr>
        <p:blipFill>
          <a:blip r:embed="rId3"/>
          <a:stretch>
            <a:fillRect/>
          </a:stretch>
        </p:blipFill>
        <p:spPr>
          <a:xfrm>
            <a:off x="879543" y="1531564"/>
            <a:ext cx="685896" cy="257211"/>
          </a:xfrm>
          <a:prstGeom prst="rect">
            <a:avLst/>
          </a:prstGeom>
        </p:spPr>
      </p:pic>
      <p:sp>
        <p:nvSpPr>
          <p:cNvPr id="66" name="TextBox 65">
            <a:extLst>
              <a:ext uri="{FF2B5EF4-FFF2-40B4-BE49-F238E27FC236}">
                <a16:creationId xmlns:a16="http://schemas.microsoft.com/office/drawing/2014/main" id="{B90186AB-10F7-0A0A-4756-EF3C110F88A1}"/>
              </a:ext>
            </a:extLst>
          </p:cNvPr>
          <p:cNvSpPr txBox="1"/>
          <p:nvPr/>
        </p:nvSpPr>
        <p:spPr>
          <a:xfrm>
            <a:off x="6416015" y="1920032"/>
            <a:ext cx="3927656"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환급심사요구자료문서번호</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요구자료문서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_</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행번호</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67" name="TextBox 66">
            <a:extLst>
              <a:ext uri="{FF2B5EF4-FFF2-40B4-BE49-F238E27FC236}">
                <a16:creationId xmlns:a16="http://schemas.microsoft.com/office/drawing/2014/main" id="{B90186AB-10F7-0A0A-4756-EF3C110F88A1}"/>
              </a:ext>
            </a:extLst>
          </p:cNvPr>
          <p:cNvSpPr txBox="1"/>
          <p:nvPr/>
        </p:nvSpPr>
        <p:spPr>
          <a:xfrm>
            <a:off x="6423572" y="2658419"/>
            <a:ext cx="3927656" cy="1938992"/>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서식구분</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기납</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접수번호를 입력한 후</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을 클릭하면 환급신청</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기납증발급</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건에 </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대한 정보를 자동으로 조회되어집니다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요청받은</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환급심사요구자료문서번호</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요구자료문서</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_</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행번호를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입력한 뒤                을 클릭합니다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18" name="Rectangle 2"/>
          <p:cNvSpPr>
            <a:spLocks noChangeArrowheads="1"/>
          </p:cNvSpPr>
          <p:nvPr/>
        </p:nvSpPr>
        <p:spPr bwMode="auto">
          <a:xfrm>
            <a:off x="1693863" y="3998010"/>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800" b="0" i="0" u="none" strike="noStrike" cap="none" normalizeH="0" baseline="0" smtClean="0">
                <a:ln>
                  <a:noFill/>
                </a:ln>
                <a:solidFill>
                  <a:schemeClr val="tx1"/>
                </a:solidFill>
                <a:effectLst/>
                <a:latin typeface="Arita Dotum KR Medium" panose="02020603020101020101" pitchFamily="18" charset="-127"/>
                <a:ea typeface="Arita Dotum KR Medium" panose="02020603020101020101" pitchFamily="18" charset="-127"/>
              </a:rPr>
              <a:t/>
            </a:r>
            <a:br>
              <a:rPr kumimoji="0" lang="ko-KR" altLang="ko-KR" sz="1800" b="0" i="0" u="none" strike="noStrike" cap="none" normalizeH="0" baseline="0" smtClean="0">
                <a:ln>
                  <a:noFill/>
                </a:ln>
                <a:solidFill>
                  <a:schemeClr val="tx1"/>
                </a:solidFill>
                <a:effectLst/>
                <a:latin typeface="Arita Dotum KR Medium" panose="02020603020101020101" pitchFamily="18" charset="-127"/>
                <a:ea typeface="Arita Dotum KR Medium" panose="02020603020101020101" pitchFamily="18" charset="-127"/>
              </a:rPr>
            </a:br>
            <a:endParaRPr kumimoji="0" lang="ko-KR" altLang="ko-KR" sz="1800" b="0" i="0" u="none" strike="noStrike" cap="none" normalizeH="0" baseline="0" smtClean="0">
              <a:ln>
                <a:noFill/>
              </a:ln>
              <a:solidFill>
                <a:schemeClr val="tx1"/>
              </a:solidFill>
              <a:effectLst/>
              <a:latin typeface="Arita Dotum KR Medium" panose="02020603020101020101" pitchFamily="18" charset="-127"/>
              <a:ea typeface="Arita Dotum KR Medium" panose="02020603020101020101" pitchFamily="18" charset="-127"/>
            </a:endParaRPr>
          </a:p>
        </p:txBody>
      </p:sp>
      <p:pic>
        <p:nvPicPr>
          <p:cNvPr id="19" name="그림 18"/>
          <p:cNvPicPr>
            <a:picLocks noChangeAspect="1"/>
          </p:cNvPicPr>
          <p:nvPr/>
        </p:nvPicPr>
        <p:blipFill>
          <a:blip r:embed="rId4"/>
          <a:stretch>
            <a:fillRect/>
          </a:stretch>
        </p:blipFill>
        <p:spPr>
          <a:xfrm>
            <a:off x="6423572" y="2904600"/>
            <a:ext cx="741773" cy="159990"/>
          </a:xfrm>
          <a:prstGeom prst="rect">
            <a:avLst/>
          </a:prstGeom>
        </p:spPr>
      </p:pic>
      <p:sp>
        <p:nvSpPr>
          <p:cNvPr id="78" name="직사각형 77"/>
          <p:cNvSpPr/>
          <p:nvPr/>
        </p:nvSpPr>
        <p:spPr>
          <a:xfrm>
            <a:off x="2082234" y="2584325"/>
            <a:ext cx="3627189" cy="1291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79" name="직사각형 78"/>
          <p:cNvSpPr/>
          <p:nvPr/>
        </p:nvSpPr>
        <p:spPr>
          <a:xfrm>
            <a:off x="2082234" y="2887549"/>
            <a:ext cx="2090991" cy="30677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pic>
        <p:nvPicPr>
          <p:cNvPr id="20" name="그림 19"/>
          <p:cNvPicPr>
            <a:picLocks noChangeAspect="1"/>
          </p:cNvPicPr>
          <p:nvPr/>
        </p:nvPicPr>
        <p:blipFill>
          <a:blip r:embed="rId5"/>
          <a:stretch>
            <a:fillRect/>
          </a:stretch>
        </p:blipFill>
        <p:spPr>
          <a:xfrm>
            <a:off x="7922173" y="3761412"/>
            <a:ext cx="530451" cy="197219"/>
          </a:xfrm>
          <a:prstGeom prst="rect">
            <a:avLst/>
          </a:prstGeom>
        </p:spPr>
      </p:pic>
      <p:cxnSp>
        <p:nvCxnSpPr>
          <p:cNvPr id="81" name="직선 연결선 80"/>
          <p:cNvCxnSpPr/>
          <p:nvPr/>
        </p:nvCxnSpPr>
        <p:spPr>
          <a:xfrm flipH="1">
            <a:off x="536550" y="5188221"/>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22" name="그림 21"/>
          <p:cNvPicPr>
            <a:picLocks noChangeAspect="1"/>
          </p:cNvPicPr>
          <p:nvPr/>
        </p:nvPicPr>
        <p:blipFill>
          <a:blip r:embed="rId6"/>
          <a:stretch>
            <a:fillRect/>
          </a:stretch>
        </p:blipFill>
        <p:spPr>
          <a:xfrm>
            <a:off x="915114" y="5259800"/>
            <a:ext cx="676369" cy="238158"/>
          </a:xfrm>
          <a:prstGeom prst="rect">
            <a:avLst/>
          </a:prstGeom>
        </p:spPr>
      </p:pic>
      <p:sp>
        <p:nvSpPr>
          <p:cNvPr id="82" name="TextBox 81">
            <a:extLst>
              <a:ext uri="{FF2B5EF4-FFF2-40B4-BE49-F238E27FC236}">
                <a16:creationId xmlns:a16="http://schemas.microsoft.com/office/drawing/2014/main" id="{B90186AB-10F7-0A0A-4756-EF3C110F88A1}"/>
              </a:ext>
            </a:extLst>
          </p:cNvPr>
          <p:cNvSpPr txBox="1"/>
          <p:nvPr/>
        </p:nvSpPr>
        <p:spPr>
          <a:xfrm>
            <a:off x="2045681" y="5293378"/>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작성된 내용을 조회합니다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3" name="TextBox 22">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문서관리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0875034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조견표</a:t>
            </a:r>
            <a:r>
              <a:rPr lang="en-US" altLang="ko-KR" dirty="0">
                <a:latin typeface="Arita Dotum KR Medium" panose="02020603020101020101" pitchFamily="18" charset="-127"/>
                <a:ea typeface="Arita Dotum KR Medium" panose="02020603020101020101" pitchFamily="18" charset="-127"/>
              </a:rPr>
              <a:t> (</a:t>
            </a:r>
            <a:r>
              <a:rPr lang="ko-KR" altLang="en-US" dirty="0">
                <a:latin typeface="Arita Dotum KR Medium" panose="02020603020101020101" pitchFamily="18" charset="-127"/>
                <a:ea typeface="Arita Dotum KR Medium" panose="02020603020101020101" pitchFamily="18" charset="-127"/>
              </a:rPr>
              <a:t>계속</a:t>
            </a:r>
            <a:r>
              <a:rPr lang="en-US" altLang="ko-KR" dirty="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37" name="직사각형 36"/>
          <p:cNvSpPr/>
          <p:nvPr/>
        </p:nvSpPr>
        <p:spPr>
          <a:xfrm>
            <a:off x="536551" y="1258100"/>
            <a:ext cx="3738083"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전송 상태</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38" name="그림 37"/>
          <p:cNvPicPr>
            <a:picLocks noChangeAspect="1"/>
          </p:cNvPicPr>
          <p:nvPr/>
        </p:nvPicPr>
        <p:blipFill>
          <a:blip r:embed="rId2"/>
          <a:stretch>
            <a:fillRect/>
          </a:stretch>
        </p:blipFill>
        <p:spPr>
          <a:xfrm>
            <a:off x="996998" y="2028784"/>
            <a:ext cx="838317" cy="266737"/>
          </a:xfrm>
          <a:prstGeom prst="rect">
            <a:avLst/>
          </a:prstGeom>
        </p:spPr>
      </p:pic>
      <p:pic>
        <p:nvPicPr>
          <p:cNvPr id="39" name="그림 38"/>
          <p:cNvPicPr>
            <a:picLocks noChangeAspect="1"/>
          </p:cNvPicPr>
          <p:nvPr/>
        </p:nvPicPr>
        <p:blipFill>
          <a:blip r:embed="rId3"/>
          <a:stretch>
            <a:fillRect/>
          </a:stretch>
        </p:blipFill>
        <p:spPr>
          <a:xfrm>
            <a:off x="887445" y="2405024"/>
            <a:ext cx="1057423" cy="266737"/>
          </a:xfrm>
          <a:prstGeom prst="rect">
            <a:avLst/>
          </a:prstGeom>
        </p:spPr>
      </p:pic>
      <p:pic>
        <p:nvPicPr>
          <p:cNvPr id="40" name="그림 39"/>
          <p:cNvPicPr>
            <a:picLocks noChangeAspect="1"/>
          </p:cNvPicPr>
          <p:nvPr/>
        </p:nvPicPr>
        <p:blipFill>
          <a:blip r:embed="rId4"/>
          <a:stretch>
            <a:fillRect/>
          </a:stretch>
        </p:blipFill>
        <p:spPr>
          <a:xfrm>
            <a:off x="1011287" y="2781264"/>
            <a:ext cx="809738" cy="266737"/>
          </a:xfrm>
          <a:prstGeom prst="rect">
            <a:avLst/>
          </a:prstGeom>
        </p:spPr>
      </p:pic>
      <p:pic>
        <p:nvPicPr>
          <p:cNvPr id="42" name="그림 41"/>
          <p:cNvPicPr>
            <a:picLocks noChangeAspect="1"/>
          </p:cNvPicPr>
          <p:nvPr/>
        </p:nvPicPr>
        <p:blipFill>
          <a:blip r:embed="rId5"/>
          <a:stretch>
            <a:fillRect/>
          </a:stretch>
        </p:blipFill>
        <p:spPr>
          <a:xfrm>
            <a:off x="906498" y="3157504"/>
            <a:ext cx="1019317" cy="257211"/>
          </a:xfrm>
          <a:prstGeom prst="rect">
            <a:avLst/>
          </a:prstGeom>
        </p:spPr>
      </p:pic>
      <p:pic>
        <p:nvPicPr>
          <p:cNvPr id="44" name="그림 43"/>
          <p:cNvPicPr>
            <a:picLocks noChangeAspect="1"/>
          </p:cNvPicPr>
          <p:nvPr/>
        </p:nvPicPr>
        <p:blipFill>
          <a:blip r:embed="rId6"/>
          <a:stretch>
            <a:fillRect/>
          </a:stretch>
        </p:blipFill>
        <p:spPr>
          <a:xfrm>
            <a:off x="649287" y="3524218"/>
            <a:ext cx="1533739" cy="285790"/>
          </a:xfrm>
          <a:prstGeom prst="rect">
            <a:avLst/>
          </a:prstGeom>
        </p:spPr>
      </p:pic>
      <p:pic>
        <p:nvPicPr>
          <p:cNvPr id="45" name="그림 44"/>
          <p:cNvPicPr>
            <a:picLocks noChangeAspect="1"/>
          </p:cNvPicPr>
          <p:nvPr/>
        </p:nvPicPr>
        <p:blipFill>
          <a:blip r:embed="rId7"/>
          <a:stretch>
            <a:fillRect/>
          </a:stretch>
        </p:blipFill>
        <p:spPr>
          <a:xfrm>
            <a:off x="978692" y="1657808"/>
            <a:ext cx="874928" cy="261473"/>
          </a:xfrm>
          <a:prstGeom prst="rect">
            <a:avLst/>
          </a:prstGeom>
        </p:spPr>
      </p:pic>
      <p:sp>
        <p:nvSpPr>
          <p:cNvPr id="46" name="TextBox 45">
            <a:extLst>
              <a:ext uri="{FF2B5EF4-FFF2-40B4-BE49-F238E27FC236}">
                <a16:creationId xmlns:a16="http://schemas.microsoft.com/office/drawing/2014/main" id="{B90186AB-10F7-0A0A-4756-EF3C110F88A1}"/>
              </a:ext>
            </a:extLst>
          </p:cNvPr>
          <p:cNvSpPr txBox="1"/>
          <p:nvPr/>
        </p:nvSpPr>
        <p:spPr>
          <a:xfrm>
            <a:off x="2291008" y="1697763"/>
            <a:ext cx="1478104" cy="22121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7" name="TextBox 46">
            <a:extLst>
              <a:ext uri="{FF2B5EF4-FFF2-40B4-BE49-F238E27FC236}">
                <a16:creationId xmlns:a16="http://schemas.microsoft.com/office/drawing/2014/main" id="{B90186AB-10F7-0A0A-4756-EF3C110F88A1}"/>
              </a:ext>
            </a:extLst>
          </p:cNvPr>
          <p:cNvSpPr txBox="1"/>
          <p:nvPr/>
        </p:nvSpPr>
        <p:spPr>
          <a:xfrm>
            <a:off x="2291008" y="2075684"/>
            <a:ext cx="1478104" cy="22121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된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8" name="TextBox 47">
            <a:extLst>
              <a:ext uri="{FF2B5EF4-FFF2-40B4-BE49-F238E27FC236}">
                <a16:creationId xmlns:a16="http://schemas.microsoft.com/office/drawing/2014/main" id="{B90186AB-10F7-0A0A-4756-EF3C110F88A1}"/>
              </a:ext>
            </a:extLst>
          </p:cNvPr>
          <p:cNvSpPr txBox="1"/>
          <p:nvPr/>
        </p:nvSpPr>
        <p:spPr>
          <a:xfrm>
            <a:off x="2291007" y="2453605"/>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후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오류통보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9" name="TextBox 48">
            <a:extLst>
              <a:ext uri="{FF2B5EF4-FFF2-40B4-BE49-F238E27FC236}">
                <a16:creationId xmlns:a16="http://schemas.microsoft.com/office/drawing/2014/main" id="{B90186AB-10F7-0A0A-4756-EF3C110F88A1}"/>
              </a:ext>
            </a:extLst>
          </p:cNvPr>
          <p:cNvSpPr txBox="1"/>
          <p:nvPr/>
        </p:nvSpPr>
        <p:spPr>
          <a:xfrm>
            <a:off x="2291007" y="2825760"/>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정상 접수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0" name="TextBox 49">
            <a:extLst>
              <a:ext uri="{FF2B5EF4-FFF2-40B4-BE49-F238E27FC236}">
                <a16:creationId xmlns:a16="http://schemas.microsoft.com/office/drawing/2014/main" id="{B90186AB-10F7-0A0A-4756-EF3C110F88A1}"/>
              </a:ext>
            </a:extLst>
          </p:cNvPr>
          <p:cNvSpPr txBox="1"/>
          <p:nvPr/>
        </p:nvSpPr>
        <p:spPr>
          <a:xfrm>
            <a:off x="2291007" y="3197915"/>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 보완이 필요한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1" name="TextBox 50">
            <a:extLst>
              <a:ext uri="{FF2B5EF4-FFF2-40B4-BE49-F238E27FC236}">
                <a16:creationId xmlns:a16="http://schemas.microsoft.com/office/drawing/2014/main" id="{B90186AB-10F7-0A0A-4756-EF3C110F88A1}"/>
              </a:ext>
            </a:extLst>
          </p:cNvPr>
          <p:cNvSpPr txBox="1"/>
          <p:nvPr/>
        </p:nvSpPr>
        <p:spPr>
          <a:xfrm>
            <a:off x="2291007" y="3570070"/>
            <a:ext cx="198362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완료통보후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자료제출 요청</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2" name="TextBox 51">
            <a:extLst>
              <a:ext uri="{FF2B5EF4-FFF2-40B4-BE49-F238E27FC236}">
                <a16:creationId xmlns:a16="http://schemas.microsoft.com/office/drawing/2014/main" id="{B90186AB-10F7-0A0A-4756-EF3C110F88A1}"/>
              </a:ext>
            </a:extLst>
          </p:cNvPr>
          <p:cNvSpPr txBox="1"/>
          <p:nvPr/>
        </p:nvSpPr>
        <p:spPr>
          <a:xfrm>
            <a:off x="2291007" y="3942224"/>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신청 완료</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53" name="직선 연결선 52"/>
          <p:cNvCxnSpPr/>
          <p:nvPr/>
        </p:nvCxnSpPr>
        <p:spPr>
          <a:xfrm flipH="1">
            <a:off x="536550" y="1945015"/>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4" name="직선 연결선 53"/>
          <p:cNvCxnSpPr/>
          <p:nvPr/>
        </p:nvCxnSpPr>
        <p:spPr>
          <a:xfrm flipH="1">
            <a:off x="536550" y="2372556"/>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직선 연결선 54"/>
          <p:cNvCxnSpPr/>
          <p:nvPr/>
        </p:nvCxnSpPr>
        <p:spPr>
          <a:xfrm flipH="1">
            <a:off x="536550" y="2782219"/>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직선 연결선 55"/>
          <p:cNvCxnSpPr/>
          <p:nvPr/>
        </p:nvCxnSpPr>
        <p:spPr>
          <a:xfrm flipH="1">
            <a:off x="536550" y="3122182"/>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직선 연결선 56"/>
          <p:cNvCxnSpPr/>
          <p:nvPr/>
        </p:nvCxnSpPr>
        <p:spPr>
          <a:xfrm flipH="1">
            <a:off x="536550" y="3524059"/>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직선 연결선 57"/>
          <p:cNvCxnSpPr/>
          <p:nvPr/>
        </p:nvCxnSpPr>
        <p:spPr>
          <a:xfrm flipH="1">
            <a:off x="536550" y="3847453"/>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직선 연결선 58"/>
          <p:cNvCxnSpPr/>
          <p:nvPr/>
        </p:nvCxnSpPr>
        <p:spPr>
          <a:xfrm flipH="1">
            <a:off x="536550" y="4206272"/>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60" name="직사각형 59"/>
          <p:cNvSpPr/>
          <p:nvPr/>
        </p:nvSpPr>
        <p:spPr>
          <a:xfrm>
            <a:off x="4513819" y="1258100"/>
            <a:ext cx="5931157"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전송 </a:t>
            </a:r>
            <a:r>
              <a:rPr lang="en-US" altLang="ko-KR" sz="1400" dirty="0" smtClean="0">
                <a:solidFill>
                  <a:schemeClr val="bg1"/>
                </a:solidFill>
                <a:latin typeface="Arita Dotum KR Medium" panose="02020603020101020101" pitchFamily="18" charset="-127"/>
                <a:ea typeface="Arita Dotum KR Medium" panose="02020603020101020101" pitchFamily="18" charset="-127"/>
              </a:rPr>
              <a:t>PROCESS</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61" name="그림 60"/>
          <p:cNvPicPr>
            <a:picLocks noChangeAspect="1"/>
          </p:cNvPicPr>
          <p:nvPr/>
        </p:nvPicPr>
        <p:blipFill>
          <a:blip r:embed="rId7"/>
          <a:stretch>
            <a:fillRect/>
          </a:stretch>
        </p:blipFill>
        <p:spPr>
          <a:xfrm>
            <a:off x="6662791" y="1657808"/>
            <a:ext cx="874928" cy="261473"/>
          </a:xfrm>
          <a:prstGeom prst="rect">
            <a:avLst/>
          </a:prstGeom>
        </p:spPr>
      </p:pic>
      <p:pic>
        <p:nvPicPr>
          <p:cNvPr id="62" name="그림 61"/>
          <p:cNvPicPr>
            <a:picLocks noChangeAspect="1"/>
          </p:cNvPicPr>
          <p:nvPr/>
        </p:nvPicPr>
        <p:blipFill>
          <a:blip r:embed="rId2"/>
          <a:stretch>
            <a:fillRect/>
          </a:stretch>
        </p:blipFill>
        <p:spPr>
          <a:xfrm>
            <a:off x="6681097" y="2173016"/>
            <a:ext cx="838317" cy="266737"/>
          </a:xfrm>
          <a:prstGeom prst="rect">
            <a:avLst/>
          </a:prstGeom>
        </p:spPr>
      </p:pic>
      <p:pic>
        <p:nvPicPr>
          <p:cNvPr id="63" name="그림 62"/>
          <p:cNvPicPr>
            <a:picLocks noChangeAspect="1"/>
          </p:cNvPicPr>
          <p:nvPr/>
        </p:nvPicPr>
        <p:blipFill>
          <a:blip r:embed="rId3"/>
          <a:stretch>
            <a:fillRect/>
          </a:stretch>
        </p:blipFill>
        <p:spPr>
          <a:xfrm>
            <a:off x="5848245" y="2696201"/>
            <a:ext cx="1057423" cy="266737"/>
          </a:xfrm>
          <a:prstGeom prst="rect">
            <a:avLst/>
          </a:prstGeom>
        </p:spPr>
      </p:pic>
      <p:pic>
        <p:nvPicPr>
          <p:cNvPr id="64" name="그림 63"/>
          <p:cNvPicPr>
            <a:picLocks noChangeAspect="1"/>
          </p:cNvPicPr>
          <p:nvPr/>
        </p:nvPicPr>
        <p:blipFill>
          <a:blip r:embed="rId4"/>
          <a:stretch>
            <a:fillRect/>
          </a:stretch>
        </p:blipFill>
        <p:spPr>
          <a:xfrm>
            <a:off x="7652035" y="2693489"/>
            <a:ext cx="809738" cy="266737"/>
          </a:xfrm>
          <a:prstGeom prst="rect">
            <a:avLst/>
          </a:prstGeom>
        </p:spPr>
      </p:pic>
      <p:pic>
        <p:nvPicPr>
          <p:cNvPr id="65" name="그림 64"/>
          <p:cNvPicPr>
            <a:picLocks noChangeAspect="1"/>
          </p:cNvPicPr>
          <p:nvPr/>
        </p:nvPicPr>
        <p:blipFill>
          <a:blip r:embed="rId5"/>
          <a:stretch>
            <a:fillRect/>
          </a:stretch>
        </p:blipFill>
        <p:spPr>
          <a:xfrm>
            <a:off x="7547246" y="3284753"/>
            <a:ext cx="1019317" cy="257211"/>
          </a:xfrm>
          <a:prstGeom prst="rect">
            <a:avLst/>
          </a:prstGeom>
        </p:spPr>
      </p:pic>
      <p:cxnSp>
        <p:nvCxnSpPr>
          <p:cNvPr id="9" name="직선 화살표 연결선 8"/>
          <p:cNvCxnSpPr>
            <a:stCxn id="61" idx="2"/>
            <a:endCxn id="62" idx="0"/>
          </p:cNvCxnSpPr>
          <p:nvPr/>
        </p:nvCxnSpPr>
        <p:spPr>
          <a:xfrm>
            <a:off x="7100255" y="1919281"/>
            <a:ext cx="1" cy="253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꺾인 연결선 15"/>
          <p:cNvCxnSpPr>
            <a:stCxn id="62" idx="2"/>
            <a:endCxn id="64" idx="0"/>
          </p:cNvCxnSpPr>
          <p:nvPr/>
        </p:nvCxnSpPr>
        <p:spPr>
          <a:xfrm rot="16200000" flipH="1">
            <a:off x="7451712" y="2088297"/>
            <a:ext cx="253736" cy="9566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꺾인 연결선 68"/>
          <p:cNvCxnSpPr>
            <a:stCxn id="62" idx="2"/>
            <a:endCxn id="63" idx="0"/>
          </p:cNvCxnSpPr>
          <p:nvPr/>
        </p:nvCxnSpPr>
        <p:spPr>
          <a:xfrm rot="5400000">
            <a:off x="6610383" y="2206328"/>
            <a:ext cx="256448" cy="7232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꺾인 연결선 70"/>
          <p:cNvCxnSpPr>
            <a:stCxn id="63" idx="1"/>
            <a:endCxn id="62" idx="1"/>
          </p:cNvCxnSpPr>
          <p:nvPr/>
        </p:nvCxnSpPr>
        <p:spPr>
          <a:xfrm rot="10800000" flipH="1">
            <a:off x="5848245" y="2306386"/>
            <a:ext cx="832852" cy="523185"/>
          </a:xfrm>
          <a:prstGeom prst="bentConnector3">
            <a:avLst>
              <a:gd name="adj1" fmla="val -2744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꺾인 연결선 72"/>
          <p:cNvCxnSpPr>
            <a:stCxn id="64" idx="2"/>
            <a:endCxn id="65" idx="0"/>
          </p:cNvCxnSpPr>
          <p:nvPr/>
        </p:nvCxnSpPr>
        <p:spPr>
          <a:xfrm rot="16200000" flipH="1">
            <a:off x="7894641" y="3122488"/>
            <a:ext cx="324527"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꺾인 연결선 76"/>
          <p:cNvCxnSpPr>
            <a:stCxn id="65" idx="1"/>
            <a:endCxn id="62" idx="1"/>
          </p:cNvCxnSpPr>
          <p:nvPr/>
        </p:nvCxnSpPr>
        <p:spPr>
          <a:xfrm rot="10800000">
            <a:off x="6681098" y="2306385"/>
            <a:ext cx="866149" cy="1106974"/>
          </a:xfrm>
          <a:prstGeom prst="bentConnector3">
            <a:avLst>
              <a:gd name="adj1" fmla="val 28346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꺾인 연결선 79"/>
          <p:cNvCxnSpPr>
            <a:stCxn id="65" idx="2"/>
          </p:cNvCxnSpPr>
          <p:nvPr/>
        </p:nvCxnSpPr>
        <p:spPr>
          <a:xfrm rot="5400000">
            <a:off x="7873528" y="3725341"/>
            <a:ext cx="366754"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꺾인 연결선 83"/>
          <p:cNvCxnSpPr>
            <a:stCxn id="65" idx="3"/>
          </p:cNvCxnSpPr>
          <p:nvPr/>
        </p:nvCxnSpPr>
        <p:spPr>
          <a:xfrm flipV="1">
            <a:off x="8566563" y="3413358"/>
            <a:ext cx="386260"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그림 1"/>
          <p:cNvPicPr>
            <a:picLocks noChangeAspect="1"/>
          </p:cNvPicPr>
          <p:nvPr/>
        </p:nvPicPr>
        <p:blipFill>
          <a:blip r:embed="rId8"/>
          <a:stretch>
            <a:fillRect/>
          </a:stretch>
        </p:blipFill>
        <p:spPr>
          <a:xfrm>
            <a:off x="8948683" y="3304987"/>
            <a:ext cx="1038370" cy="228632"/>
          </a:xfrm>
          <a:prstGeom prst="rect">
            <a:avLst/>
          </a:prstGeom>
        </p:spPr>
      </p:pic>
      <p:pic>
        <p:nvPicPr>
          <p:cNvPr id="68" name="그림 67"/>
          <p:cNvPicPr>
            <a:picLocks noChangeAspect="1"/>
          </p:cNvPicPr>
          <p:nvPr/>
        </p:nvPicPr>
        <p:blipFill>
          <a:blip r:embed="rId8"/>
          <a:stretch>
            <a:fillRect/>
          </a:stretch>
        </p:blipFill>
        <p:spPr>
          <a:xfrm>
            <a:off x="7576105" y="3900384"/>
            <a:ext cx="1038370" cy="228632"/>
          </a:xfrm>
          <a:prstGeom prst="rect">
            <a:avLst/>
          </a:prstGeom>
        </p:spPr>
      </p:pic>
      <p:pic>
        <p:nvPicPr>
          <p:cNvPr id="70" name="그림 69"/>
          <p:cNvPicPr>
            <a:picLocks noChangeAspect="1"/>
          </p:cNvPicPr>
          <p:nvPr/>
        </p:nvPicPr>
        <p:blipFill>
          <a:blip r:embed="rId8"/>
          <a:stretch>
            <a:fillRect/>
          </a:stretch>
        </p:blipFill>
        <p:spPr>
          <a:xfrm>
            <a:off x="896971" y="3900384"/>
            <a:ext cx="1038370" cy="228632"/>
          </a:xfrm>
          <a:prstGeom prst="rect">
            <a:avLst/>
          </a:prstGeom>
        </p:spPr>
      </p:pic>
      <p:sp>
        <p:nvSpPr>
          <p:cNvPr id="41" name="TextBox 40">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문서관리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5952407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en-US" altLang="ko-KR" dirty="0" smtClean="0">
                <a:latin typeface="Arita Dotum KR Medium" panose="02020603020101020101" pitchFamily="18" charset="-127"/>
                <a:ea typeface="Arita Dotum KR Medium" panose="02020603020101020101" pitchFamily="18" charset="-127"/>
              </a:rPr>
              <a:t>BOM</a:t>
            </a:r>
            <a:r>
              <a:rPr lang="ko-KR" altLang="en-US" dirty="0" smtClean="0">
                <a:latin typeface="Arita Dotum KR Medium" panose="02020603020101020101" pitchFamily="18" charset="-127"/>
                <a:ea typeface="Arita Dotum KR Medium" panose="02020603020101020101" pitchFamily="18" charset="-127"/>
              </a:rPr>
              <a:t>제출</a:t>
            </a:r>
            <a:r>
              <a:rPr lang="en-US" altLang="ko-KR" dirty="0">
                <a:latin typeface="Arita Dotum KR Medium" panose="02020603020101020101" pitchFamily="18" charset="-127"/>
                <a:ea typeface="Arita Dotum KR Medium" panose="02020603020101020101" pitchFamily="18" charset="-127"/>
              </a:rPr>
              <a:t> </a:t>
            </a:r>
            <a:r>
              <a:rPr lang="en-US" altLang="ko-KR" dirty="0" smtClean="0">
                <a:latin typeface="Arita Dotum KR Medium" panose="02020603020101020101" pitchFamily="18" charset="-127"/>
                <a:ea typeface="Arita Dotum KR Medium" panose="02020603020101020101" pitchFamily="18" charset="-127"/>
              </a:rPr>
              <a:t>/ </a:t>
            </a:r>
            <a:r>
              <a:rPr lang="ko-KR" altLang="en-US" dirty="0" err="1" smtClean="0">
                <a:latin typeface="Arita Dotum KR Medium" panose="02020603020101020101" pitchFamily="18" charset="-127"/>
                <a:ea typeface="Arita Dotum KR Medium" panose="02020603020101020101" pitchFamily="18" charset="-127"/>
              </a:rPr>
              <a:t>환급신청서</a:t>
            </a:r>
            <a:r>
              <a:rPr lang="en-US" altLang="ko-KR" dirty="0" smtClean="0">
                <a:latin typeface="Arita Dotum KR Medium" panose="02020603020101020101" pitchFamily="18" charset="-127"/>
                <a:ea typeface="Arita Dotum KR Medium" panose="02020603020101020101" pitchFamily="18" charset="-127"/>
              </a:rPr>
              <a:t>, </a:t>
            </a:r>
            <a:r>
              <a:rPr lang="ko-KR" altLang="en-US" dirty="0" err="1" smtClean="0">
                <a:latin typeface="Arita Dotum KR Medium" panose="02020603020101020101" pitchFamily="18" charset="-127"/>
                <a:ea typeface="Arita Dotum KR Medium" panose="02020603020101020101" pitchFamily="18" charset="-127"/>
              </a:rPr>
              <a:t>기납증</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532545"/>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과다환급자진신고 후 발생한 가산금에 대해서 환급을 신청하는 프로그램입니다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095982"/>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7" name="직사각형 6"/>
          <p:cNvSpPr/>
          <p:nvPr/>
        </p:nvSpPr>
        <p:spPr>
          <a:xfrm>
            <a:off x="536550" y="4698812"/>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4698812"/>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2045681" y="5070229"/>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선택한 데이터에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환급심사</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요구자료 문서번호 및 요구자료 문서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행번호를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입력할 수 있는 창이 나타납니다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2" name="TextBox 11">
            <a:extLst>
              <a:ext uri="{FF2B5EF4-FFF2-40B4-BE49-F238E27FC236}">
                <a16:creationId xmlns:a16="http://schemas.microsoft.com/office/drawing/2014/main" id="{B90186AB-10F7-0A0A-4756-EF3C110F88A1}"/>
              </a:ext>
            </a:extLst>
          </p:cNvPr>
          <p:cNvSpPr txBox="1"/>
          <p:nvPr/>
        </p:nvSpPr>
        <p:spPr>
          <a:xfrm>
            <a:off x="7558259" y="2295984"/>
            <a:ext cx="3005662" cy="1723549"/>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과다환급자진신고 프로세스가 완료 된 데이터에 대해서 신청할 수 있으며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신청시에는</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신고서를 작성한 후 전송합니다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atinLnBrk="1">
              <a:lnSpc>
                <a:spcPct val="100000"/>
              </a:lnSpc>
              <a:defRPr/>
            </a:pP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UNIPASS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전송 및 수신은 </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IE</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모드에서만 가능합니다</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부록</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1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참조</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16" name="직선 연결선 15"/>
          <p:cNvCxnSpPr/>
          <p:nvPr/>
        </p:nvCxnSpPr>
        <p:spPr>
          <a:xfrm flipH="1">
            <a:off x="536550" y="7237223"/>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2" name="그림 1"/>
          <p:cNvPicPr>
            <a:picLocks noChangeAspect="1"/>
          </p:cNvPicPr>
          <p:nvPr/>
        </p:nvPicPr>
        <p:blipFill>
          <a:blip r:embed="rId2"/>
          <a:stretch>
            <a:fillRect/>
          </a:stretch>
        </p:blipFill>
        <p:spPr>
          <a:xfrm>
            <a:off x="522624" y="1089995"/>
            <a:ext cx="6766358" cy="3528000"/>
          </a:xfrm>
          <a:prstGeom prst="rect">
            <a:avLst/>
          </a:prstGeom>
        </p:spPr>
      </p:pic>
      <p:pic>
        <p:nvPicPr>
          <p:cNvPr id="4" name="그림 3"/>
          <p:cNvPicPr>
            <a:picLocks noChangeAspect="1"/>
          </p:cNvPicPr>
          <p:nvPr/>
        </p:nvPicPr>
        <p:blipFill>
          <a:blip r:embed="rId3"/>
          <a:stretch>
            <a:fillRect/>
          </a:stretch>
        </p:blipFill>
        <p:spPr>
          <a:xfrm>
            <a:off x="2045681" y="5427372"/>
            <a:ext cx="3138265" cy="1089162"/>
          </a:xfrm>
          <a:prstGeom prst="rect">
            <a:avLst/>
          </a:prstGeom>
        </p:spPr>
      </p:pic>
      <p:pic>
        <p:nvPicPr>
          <p:cNvPr id="6" name="그림 5"/>
          <p:cNvPicPr>
            <a:picLocks noChangeAspect="1"/>
          </p:cNvPicPr>
          <p:nvPr/>
        </p:nvPicPr>
        <p:blipFill>
          <a:blip r:embed="rId4"/>
          <a:stretch>
            <a:fillRect/>
          </a:stretch>
        </p:blipFill>
        <p:spPr>
          <a:xfrm>
            <a:off x="560152" y="5061726"/>
            <a:ext cx="1409897" cy="266737"/>
          </a:xfrm>
          <a:prstGeom prst="rect">
            <a:avLst/>
          </a:prstGeom>
        </p:spPr>
      </p:pic>
      <p:sp>
        <p:nvSpPr>
          <p:cNvPr id="27" name="TextBox 26">
            <a:extLst>
              <a:ext uri="{FF2B5EF4-FFF2-40B4-BE49-F238E27FC236}">
                <a16:creationId xmlns:a16="http://schemas.microsoft.com/office/drawing/2014/main" id="{B90186AB-10F7-0A0A-4756-EF3C110F88A1}"/>
              </a:ext>
            </a:extLst>
          </p:cNvPr>
          <p:cNvSpPr txBox="1"/>
          <p:nvPr/>
        </p:nvSpPr>
        <p:spPr>
          <a:xfrm>
            <a:off x="5350159" y="5535094"/>
            <a:ext cx="3600553"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환급심사</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요구자료 문서번호 및 요구자료 문서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행번호를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입력</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후 저장 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4" name="TextBox 13">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문서관리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13958686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en-US" altLang="ko-KR" dirty="0">
                <a:latin typeface="Arita Dotum KR Medium" panose="02020603020101020101" pitchFamily="18" charset="-127"/>
                <a:ea typeface="Arita Dotum KR Medium" panose="02020603020101020101" pitchFamily="18" charset="-127"/>
              </a:rPr>
              <a:t>BOM</a:t>
            </a:r>
            <a:r>
              <a:rPr lang="ko-KR" altLang="en-US" dirty="0">
                <a:latin typeface="Arita Dotum KR Medium" panose="02020603020101020101" pitchFamily="18" charset="-127"/>
                <a:ea typeface="Arita Dotum KR Medium" panose="02020603020101020101" pitchFamily="18" charset="-127"/>
              </a:rPr>
              <a:t>제출</a:t>
            </a:r>
            <a:r>
              <a:rPr lang="en-US" altLang="ko-KR" dirty="0">
                <a:latin typeface="Arita Dotum KR Medium" panose="02020603020101020101" pitchFamily="18" charset="-127"/>
                <a:ea typeface="Arita Dotum KR Medium" panose="02020603020101020101" pitchFamily="18" charset="-127"/>
              </a:rPr>
              <a:t> / </a:t>
            </a:r>
            <a:r>
              <a:rPr lang="ko-KR" altLang="en-US" dirty="0" err="1">
                <a:latin typeface="Arita Dotum KR Medium" panose="02020603020101020101" pitchFamily="18" charset="-127"/>
                <a:ea typeface="Arita Dotum KR Medium" panose="02020603020101020101" pitchFamily="18" charset="-127"/>
              </a:rPr>
              <a:t>환급신청서</a:t>
            </a:r>
            <a:r>
              <a:rPr lang="en-US" altLang="ko-KR" dirty="0">
                <a:latin typeface="Arita Dotum KR Medium" panose="02020603020101020101" pitchFamily="18" charset="-127"/>
                <a:ea typeface="Arita Dotum KR Medium" panose="02020603020101020101" pitchFamily="18" charset="-127"/>
              </a:rPr>
              <a:t>, </a:t>
            </a:r>
            <a:r>
              <a:rPr lang="ko-KR" altLang="en-US" dirty="0" err="1">
                <a:latin typeface="Arita Dotum KR Medium" panose="02020603020101020101" pitchFamily="18" charset="-127"/>
                <a:ea typeface="Arita Dotum KR Medium" panose="02020603020101020101" pitchFamily="18" charset="-127"/>
              </a:rPr>
              <a:t>기납증</a:t>
            </a:r>
            <a:endParaRPr lang="ko-KR" altLang="en-US" dirty="0">
              <a:latin typeface="Arita Dotum KR Medium" panose="02020603020101020101" pitchFamily="18" charset="-127"/>
              <a:ea typeface="Arita Dotum KR Medium" panose="02020603020101020101" pitchFamily="18" charset="-127"/>
            </a:endParaRPr>
          </a:p>
        </p:txBody>
      </p:sp>
      <p:sp>
        <p:nvSpPr>
          <p:cNvPr id="7" name="직사각형 6"/>
          <p:cNvSpPr/>
          <p:nvPr/>
        </p:nvSpPr>
        <p:spPr>
          <a:xfrm>
            <a:off x="536550" y="1139154"/>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81" y="1139154"/>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17" name="직선 연결선 16"/>
          <p:cNvCxnSpPr/>
          <p:nvPr/>
        </p:nvCxnSpPr>
        <p:spPr>
          <a:xfrm flipH="1">
            <a:off x="536550" y="2424932"/>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90186AB-10F7-0A0A-4756-EF3C110F88A1}"/>
              </a:ext>
            </a:extLst>
          </p:cNvPr>
          <p:cNvSpPr txBox="1"/>
          <p:nvPr/>
        </p:nvSpPr>
        <p:spPr>
          <a:xfrm>
            <a:off x="2045681" y="1572642"/>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요구자료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정보입력</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후 요구자료 정보가 기입된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자재명세서</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양식이 출력 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31" name="직선 연결선 30"/>
          <p:cNvCxnSpPr/>
          <p:nvPr/>
        </p:nvCxnSpPr>
        <p:spPr>
          <a:xfrm flipH="1">
            <a:off x="536550" y="1936024"/>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B90186AB-10F7-0A0A-4756-EF3C110F88A1}"/>
              </a:ext>
            </a:extLst>
          </p:cNvPr>
          <p:cNvSpPr txBox="1"/>
          <p:nvPr/>
        </p:nvSpPr>
        <p:spPr>
          <a:xfrm>
            <a:off x="2045681" y="2073836"/>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작성된 신고서를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전송합니다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sp>
        <p:nvSpPr>
          <p:cNvPr id="37" name="직사각형 36"/>
          <p:cNvSpPr/>
          <p:nvPr/>
        </p:nvSpPr>
        <p:spPr>
          <a:xfrm>
            <a:off x="536551" y="4060773"/>
            <a:ext cx="3738083"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전송 상태</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38" name="그림 37"/>
          <p:cNvPicPr>
            <a:picLocks noChangeAspect="1"/>
          </p:cNvPicPr>
          <p:nvPr/>
        </p:nvPicPr>
        <p:blipFill>
          <a:blip r:embed="rId2"/>
          <a:stretch>
            <a:fillRect/>
          </a:stretch>
        </p:blipFill>
        <p:spPr>
          <a:xfrm>
            <a:off x="996998" y="4831457"/>
            <a:ext cx="838317" cy="266737"/>
          </a:xfrm>
          <a:prstGeom prst="rect">
            <a:avLst/>
          </a:prstGeom>
        </p:spPr>
      </p:pic>
      <p:pic>
        <p:nvPicPr>
          <p:cNvPr id="39" name="그림 38"/>
          <p:cNvPicPr>
            <a:picLocks noChangeAspect="1"/>
          </p:cNvPicPr>
          <p:nvPr/>
        </p:nvPicPr>
        <p:blipFill>
          <a:blip r:embed="rId3"/>
          <a:stretch>
            <a:fillRect/>
          </a:stretch>
        </p:blipFill>
        <p:spPr>
          <a:xfrm>
            <a:off x="887445" y="5207697"/>
            <a:ext cx="1057423" cy="266737"/>
          </a:xfrm>
          <a:prstGeom prst="rect">
            <a:avLst/>
          </a:prstGeom>
        </p:spPr>
      </p:pic>
      <p:pic>
        <p:nvPicPr>
          <p:cNvPr id="40" name="그림 39"/>
          <p:cNvPicPr>
            <a:picLocks noChangeAspect="1"/>
          </p:cNvPicPr>
          <p:nvPr/>
        </p:nvPicPr>
        <p:blipFill>
          <a:blip r:embed="rId4"/>
          <a:stretch>
            <a:fillRect/>
          </a:stretch>
        </p:blipFill>
        <p:spPr>
          <a:xfrm>
            <a:off x="1011287" y="5583937"/>
            <a:ext cx="809738" cy="266737"/>
          </a:xfrm>
          <a:prstGeom prst="rect">
            <a:avLst/>
          </a:prstGeom>
        </p:spPr>
      </p:pic>
      <p:pic>
        <p:nvPicPr>
          <p:cNvPr id="42" name="그림 41"/>
          <p:cNvPicPr>
            <a:picLocks noChangeAspect="1"/>
          </p:cNvPicPr>
          <p:nvPr/>
        </p:nvPicPr>
        <p:blipFill>
          <a:blip r:embed="rId5"/>
          <a:stretch>
            <a:fillRect/>
          </a:stretch>
        </p:blipFill>
        <p:spPr>
          <a:xfrm>
            <a:off x="906498" y="5960177"/>
            <a:ext cx="1019317" cy="257211"/>
          </a:xfrm>
          <a:prstGeom prst="rect">
            <a:avLst/>
          </a:prstGeom>
        </p:spPr>
      </p:pic>
      <p:pic>
        <p:nvPicPr>
          <p:cNvPr id="44" name="그림 43"/>
          <p:cNvPicPr>
            <a:picLocks noChangeAspect="1"/>
          </p:cNvPicPr>
          <p:nvPr/>
        </p:nvPicPr>
        <p:blipFill>
          <a:blip r:embed="rId6"/>
          <a:stretch>
            <a:fillRect/>
          </a:stretch>
        </p:blipFill>
        <p:spPr>
          <a:xfrm>
            <a:off x="649287" y="6326891"/>
            <a:ext cx="1533739" cy="285790"/>
          </a:xfrm>
          <a:prstGeom prst="rect">
            <a:avLst/>
          </a:prstGeom>
        </p:spPr>
      </p:pic>
      <p:pic>
        <p:nvPicPr>
          <p:cNvPr id="45" name="그림 44"/>
          <p:cNvPicPr>
            <a:picLocks noChangeAspect="1"/>
          </p:cNvPicPr>
          <p:nvPr/>
        </p:nvPicPr>
        <p:blipFill>
          <a:blip r:embed="rId7"/>
          <a:stretch>
            <a:fillRect/>
          </a:stretch>
        </p:blipFill>
        <p:spPr>
          <a:xfrm>
            <a:off x="978692" y="4460481"/>
            <a:ext cx="874928" cy="261473"/>
          </a:xfrm>
          <a:prstGeom prst="rect">
            <a:avLst/>
          </a:prstGeom>
        </p:spPr>
      </p:pic>
      <p:sp>
        <p:nvSpPr>
          <p:cNvPr id="46" name="TextBox 45">
            <a:extLst>
              <a:ext uri="{FF2B5EF4-FFF2-40B4-BE49-F238E27FC236}">
                <a16:creationId xmlns:a16="http://schemas.microsoft.com/office/drawing/2014/main" id="{B90186AB-10F7-0A0A-4756-EF3C110F88A1}"/>
              </a:ext>
            </a:extLst>
          </p:cNvPr>
          <p:cNvSpPr txBox="1"/>
          <p:nvPr/>
        </p:nvSpPr>
        <p:spPr>
          <a:xfrm>
            <a:off x="2291008" y="4500436"/>
            <a:ext cx="1478104" cy="22121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7" name="TextBox 46">
            <a:extLst>
              <a:ext uri="{FF2B5EF4-FFF2-40B4-BE49-F238E27FC236}">
                <a16:creationId xmlns:a16="http://schemas.microsoft.com/office/drawing/2014/main" id="{B90186AB-10F7-0A0A-4756-EF3C110F88A1}"/>
              </a:ext>
            </a:extLst>
          </p:cNvPr>
          <p:cNvSpPr txBox="1"/>
          <p:nvPr/>
        </p:nvSpPr>
        <p:spPr>
          <a:xfrm>
            <a:off x="2291008" y="4878357"/>
            <a:ext cx="1478104" cy="221210"/>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된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8" name="TextBox 47">
            <a:extLst>
              <a:ext uri="{FF2B5EF4-FFF2-40B4-BE49-F238E27FC236}">
                <a16:creationId xmlns:a16="http://schemas.microsoft.com/office/drawing/2014/main" id="{B90186AB-10F7-0A0A-4756-EF3C110F88A1}"/>
              </a:ext>
            </a:extLst>
          </p:cNvPr>
          <p:cNvSpPr txBox="1"/>
          <p:nvPr/>
        </p:nvSpPr>
        <p:spPr>
          <a:xfrm>
            <a:off x="2291007" y="5256278"/>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후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오류통보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49" name="TextBox 48">
            <a:extLst>
              <a:ext uri="{FF2B5EF4-FFF2-40B4-BE49-F238E27FC236}">
                <a16:creationId xmlns:a16="http://schemas.microsoft.com/office/drawing/2014/main" id="{B90186AB-10F7-0A0A-4756-EF3C110F88A1}"/>
              </a:ext>
            </a:extLst>
          </p:cNvPr>
          <p:cNvSpPr txBox="1"/>
          <p:nvPr/>
        </p:nvSpPr>
        <p:spPr>
          <a:xfrm>
            <a:off x="2291007" y="5628433"/>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정상 접수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0" name="TextBox 49">
            <a:extLst>
              <a:ext uri="{FF2B5EF4-FFF2-40B4-BE49-F238E27FC236}">
                <a16:creationId xmlns:a16="http://schemas.microsoft.com/office/drawing/2014/main" id="{B90186AB-10F7-0A0A-4756-EF3C110F88A1}"/>
              </a:ext>
            </a:extLst>
          </p:cNvPr>
          <p:cNvSpPr txBox="1"/>
          <p:nvPr/>
        </p:nvSpPr>
        <p:spPr>
          <a:xfrm>
            <a:off x="2291007" y="6000588"/>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 보완이 필요한 상태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1" name="TextBox 50">
            <a:extLst>
              <a:ext uri="{FF2B5EF4-FFF2-40B4-BE49-F238E27FC236}">
                <a16:creationId xmlns:a16="http://schemas.microsoft.com/office/drawing/2014/main" id="{B90186AB-10F7-0A0A-4756-EF3C110F88A1}"/>
              </a:ext>
            </a:extLst>
          </p:cNvPr>
          <p:cNvSpPr txBox="1"/>
          <p:nvPr/>
        </p:nvSpPr>
        <p:spPr>
          <a:xfrm>
            <a:off x="2291007" y="6372743"/>
            <a:ext cx="198362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완료통보후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자료제출 요청</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52" name="TextBox 51">
            <a:extLst>
              <a:ext uri="{FF2B5EF4-FFF2-40B4-BE49-F238E27FC236}">
                <a16:creationId xmlns:a16="http://schemas.microsoft.com/office/drawing/2014/main" id="{B90186AB-10F7-0A0A-4756-EF3C110F88A1}"/>
              </a:ext>
            </a:extLst>
          </p:cNvPr>
          <p:cNvSpPr txBox="1"/>
          <p:nvPr/>
        </p:nvSpPr>
        <p:spPr>
          <a:xfrm>
            <a:off x="2291007" y="6744897"/>
            <a:ext cx="1812641"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신청 완료</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53" name="직선 연결선 52"/>
          <p:cNvCxnSpPr/>
          <p:nvPr/>
        </p:nvCxnSpPr>
        <p:spPr>
          <a:xfrm flipH="1">
            <a:off x="536550" y="4747688"/>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4" name="직선 연결선 53"/>
          <p:cNvCxnSpPr/>
          <p:nvPr/>
        </p:nvCxnSpPr>
        <p:spPr>
          <a:xfrm flipH="1">
            <a:off x="536550" y="5175229"/>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직선 연결선 54"/>
          <p:cNvCxnSpPr/>
          <p:nvPr/>
        </p:nvCxnSpPr>
        <p:spPr>
          <a:xfrm flipH="1">
            <a:off x="536550" y="5584892"/>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직선 연결선 55"/>
          <p:cNvCxnSpPr/>
          <p:nvPr/>
        </p:nvCxnSpPr>
        <p:spPr>
          <a:xfrm flipH="1">
            <a:off x="536550" y="5924855"/>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직선 연결선 56"/>
          <p:cNvCxnSpPr/>
          <p:nvPr/>
        </p:nvCxnSpPr>
        <p:spPr>
          <a:xfrm flipH="1">
            <a:off x="536550" y="6326732"/>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직선 연결선 57"/>
          <p:cNvCxnSpPr/>
          <p:nvPr/>
        </p:nvCxnSpPr>
        <p:spPr>
          <a:xfrm flipH="1">
            <a:off x="536550" y="6650126"/>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직선 연결선 58"/>
          <p:cNvCxnSpPr/>
          <p:nvPr/>
        </p:nvCxnSpPr>
        <p:spPr>
          <a:xfrm flipH="1">
            <a:off x="536550" y="7008945"/>
            <a:ext cx="3672000"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60" name="직사각형 59"/>
          <p:cNvSpPr/>
          <p:nvPr/>
        </p:nvSpPr>
        <p:spPr>
          <a:xfrm>
            <a:off x="4513819" y="4060773"/>
            <a:ext cx="5931157"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전송 </a:t>
            </a:r>
            <a:r>
              <a:rPr lang="en-US" altLang="ko-KR" sz="1400" dirty="0" smtClean="0">
                <a:solidFill>
                  <a:schemeClr val="bg1"/>
                </a:solidFill>
                <a:latin typeface="Arita Dotum KR Medium" panose="02020603020101020101" pitchFamily="18" charset="-127"/>
                <a:ea typeface="Arita Dotum KR Medium" panose="02020603020101020101" pitchFamily="18" charset="-127"/>
              </a:rPr>
              <a:t>PROCESS</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61" name="그림 60"/>
          <p:cNvPicPr>
            <a:picLocks noChangeAspect="1"/>
          </p:cNvPicPr>
          <p:nvPr/>
        </p:nvPicPr>
        <p:blipFill>
          <a:blip r:embed="rId7"/>
          <a:stretch>
            <a:fillRect/>
          </a:stretch>
        </p:blipFill>
        <p:spPr>
          <a:xfrm>
            <a:off x="6662791" y="4460481"/>
            <a:ext cx="874928" cy="261473"/>
          </a:xfrm>
          <a:prstGeom prst="rect">
            <a:avLst/>
          </a:prstGeom>
        </p:spPr>
      </p:pic>
      <p:pic>
        <p:nvPicPr>
          <p:cNvPr id="62" name="그림 61"/>
          <p:cNvPicPr>
            <a:picLocks noChangeAspect="1"/>
          </p:cNvPicPr>
          <p:nvPr/>
        </p:nvPicPr>
        <p:blipFill>
          <a:blip r:embed="rId2"/>
          <a:stretch>
            <a:fillRect/>
          </a:stretch>
        </p:blipFill>
        <p:spPr>
          <a:xfrm>
            <a:off x="6681097" y="4975689"/>
            <a:ext cx="838317" cy="266737"/>
          </a:xfrm>
          <a:prstGeom prst="rect">
            <a:avLst/>
          </a:prstGeom>
        </p:spPr>
      </p:pic>
      <p:pic>
        <p:nvPicPr>
          <p:cNvPr id="63" name="그림 62"/>
          <p:cNvPicPr>
            <a:picLocks noChangeAspect="1"/>
          </p:cNvPicPr>
          <p:nvPr/>
        </p:nvPicPr>
        <p:blipFill>
          <a:blip r:embed="rId3"/>
          <a:stretch>
            <a:fillRect/>
          </a:stretch>
        </p:blipFill>
        <p:spPr>
          <a:xfrm>
            <a:off x="5848245" y="5498874"/>
            <a:ext cx="1057423" cy="266737"/>
          </a:xfrm>
          <a:prstGeom prst="rect">
            <a:avLst/>
          </a:prstGeom>
        </p:spPr>
      </p:pic>
      <p:pic>
        <p:nvPicPr>
          <p:cNvPr id="64" name="그림 63"/>
          <p:cNvPicPr>
            <a:picLocks noChangeAspect="1"/>
          </p:cNvPicPr>
          <p:nvPr/>
        </p:nvPicPr>
        <p:blipFill>
          <a:blip r:embed="rId4"/>
          <a:stretch>
            <a:fillRect/>
          </a:stretch>
        </p:blipFill>
        <p:spPr>
          <a:xfrm>
            <a:off x="7652035" y="5496162"/>
            <a:ext cx="809738" cy="266737"/>
          </a:xfrm>
          <a:prstGeom prst="rect">
            <a:avLst/>
          </a:prstGeom>
        </p:spPr>
      </p:pic>
      <p:pic>
        <p:nvPicPr>
          <p:cNvPr id="65" name="그림 64"/>
          <p:cNvPicPr>
            <a:picLocks noChangeAspect="1"/>
          </p:cNvPicPr>
          <p:nvPr/>
        </p:nvPicPr>
        <p:blipFill>
          <a:blip r:embed="rId5"/>
          <a:stretch>
            <a:fillRect/>
          </a:stretch>
        </p:blipFill>
        <p:spPr>
          <a:xfrm>
            <a:off x="7547246" y="6087426"/>
            <a:ext cx="1019317" cy="257211"/>
          </a:xfrm>
          <a:prstGeom prst="rect">
            <a:avLst/>
          </a:prstGeom>
        </p:spPr>
      </p:pic>
      <p:cxnSp>
        <p:nvCxnSpPr>
          <p:cNvPr id="9" name="직선 화살표 연결선 8"/>
          <p:cNvCxnSpPr>
            <a:stCxn id="61" idx="2"/>
            <a:endCxn id="62" idx="0"/>
          </p:cNvCxnSpPr>
          <p:nvPr/>
        </p:nvCxnSpPr>
        <p:spPr>
          <a:xfrm>
            <a:off x="7100255" y="4721954"/>
            <a:ext cx="1" cy="253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꺾인 연결선 15"/>
          <p:cNvCxnSpPr>
            <a:stCxn id="62" idx="2"/>
            <a:endCxn id="64" idx="0"/>
          </p:cNvCxnSpPr>
          <p:nvPr/>
        </p:nvCxnSpPr>
        <p:spPr>
          <a:xfrm rot="16200000" flipH="1">
            <a:off x="7451712" y="4890970"/>
            <a:ext cx="253736" cy="9566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꺾인 연결선 68"/>
          <p:cNvCxnSpPr>
            <a:stCxn id="62" idx="2"/>
            <a:endCxn id="63" idx="0"/>
          </p:cNvCxnSpPr>
          <p:nvPr/>
        </p:nvCxnSpPr>
        <p:spPr>
          <a:xfrm rot="5400000">
            <a:off x="6610383" y="5009001"/>
            <a:ext cx="256448" cy="7232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꺾인 연결선 70"/>
          <p:cNvCxnSpPr>
            <a:stCxn id="63" idx="1"/>
            <a:endCxn id="62" idx="1"/>
          </p:cNvCxnSpPr>
          <p:nvPr/>
        </p:nvCxnSpPr>
        <p:spPr>
          <a:xfrm rot="10800000" flipH="1">
            <a:off x="5848245" y="5109059"/>
            <a:ext cx="832852" cy="523185"/>
          </a:xfrm>
          <a:prstGeom prst="bentConnector3">
            <a:avLst>
              <a:gd name="adj1" fmla="val -2744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꺾인 연결선 72"/>
          <p:cNvCxnSpPr>
            <a:stCxn id="64" idx="2"/>
            <a:endCxn id="65" idx="0"/>
          </p:cNvCxnSpPr>
          <p:nvPr/>
        </p:nvCxnSpPr>
        <p:spPr>
          <a:xfrm rot="16200000" flipH="1">
            <a:off x="7894641" y="5925161"/>
            <a:ext cx="324527"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꺾인 연결선 76"/>
          <p:cNvCxnSpPr>
            <a:stCxn id="65" idx="1"/>
            <a:endCxn id="62" idx="1"/>
          </p:cNvCxnSpPr>
          <p:nvPr/>
        </p:nvCxnSpPr>
        <p:spPr>
          <a:xfrm rot="10800000">
            <a:off x="6681098" y="5109058"/>
            <a:ext cx="866149" cy="1106974"/>
          </a:xfrm>
          <a:prstGeom prst="bentConnector3">
            <a:avLst>
              <a:gd name="adj1" fmla="val 28346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꺾인 연결선 79"/>
          <p:cNvCxnSpPr>
            <a:stCxn id="65" idx="2"/>
            <a:endCxn id="67" idx="0"/>
          </p:cNvCxnSpPr>
          <p:nvPr/>
        </p:nvCxnSpPr>
        <p:spPr>
          <a:xfrm rot="5400000">
            <a:off x="7873528" y="6528014"/>
            <a:ext cx="366754"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꺾인 연결선 83"/>
          <p:cNvCxnSpPr>
            <a:stCxn id="65" idx="3"/>
            <a:endCxn id="66" idx="1"/>
          </p:cNvCxnSpPr>
          <p:nvPr/>
        </p:nvCxnSpPr>
        <p:spPr>
          <a:xfrm flipV="1">
            <a:off x="8566563" y="6216031"/>
            <a:ext cx="386260"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 name="그림 1"/>
          <p:cNvPicPr>
            <a:picLocks noChangeAspect="1"/>
          </p:cNvPicPr>
          <p:nvPr/>
        </p:nvPicPr>
        <p:blipFill>
          <a:blip r:embed="rId8"/>
          <a:stretch>
            <a:fillRect/>
          </a:stretch>
        </p:blipFill>
        <p:spPr>
          <a:xfrm>
            <a:off x="8948683" y="6107660"/>
            <a:ext cx="1038370" cy="228632"/>
          </a:xfrm>
          <a:prstGeom prst="rect">
            <a:avLst/>
          </a:prstGeom>
        </p:spPr>
      </p:pic>
      <p:pic>
        <p:nvPicPr>
          <p:cNvPr id="68" name="그림 67"/>
          <p:cNvPicPr>
            <a:picLocks noChangeAspect="1"/>
          </p:cNvPicPr>
          <p:nvPr/>
        </p:nvPicPr>
        <p:blipFill>
          <a:blip r:embed="rId8"/>
          <a:stretch>
            <a:fillRect/>
          </a:stretch>
        </p:blipFill>
        <p:spPr>
          <a:xfrm>
            <a:off x="7576105" y="6703057"/>
            <a:ext cx="1038370" cy="228632"/>
          </a:xfrm>
          <a:prstGeom prst="rect">
            <a:avLst/>
          </a:prstGeom>
        </p:spPr>
      </p:pic>
      <p:pic>
        <p:nvPicPr>
          <p:cNvPr id="70" name="그림 69"/>
          <p:cNvPicPr>
            <a:picLocks noChangeAspect="1"/>
          </p:cNvPicPr>
          <p:nvPr/>
        </p:nvPicPr>
        <p:blipFill>
          <a:blip r:embed="rId8"/>
          <a:stretch>
            <a:fillRect/>
          </a:stretch>
        </p:blipFill>
        <p:spPr>
          <a:xfrm>
            <a:off x="896971" y="6703057"/>
            <a:ext cx="1038370" cy="228632"/>
          </a:xfrm>
          <a:prstGeom prst="rect">
            <a:avLst/>
          </a:prstGeom>
        </p:spPr>
      </p:pic>
      <p:cxnSp>
        <p:nvCxnSpPr>
          <p:cNvPr id="72" name="직선 연결선 71"/>
          <p:cNvCxnSpPr/>
          <p:nvPr/>
        </p:nvCxnSpPr>
        <p:spPr>
          <a:xfrm flipH="1">
            <a:off x="536550" y="2908843"/>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B90186AB-10F7-0A0A-4756-EF3C110F88A1}"/>
              </a:ext>
            </a:extLst>
          </p:cNvPr>
          <p:cNvSpPr txBox="1"/>
          <p:nvPr/>
        </p:nvSpPr>
        <p:spPr>
          <a:xfrm>
            <a:off x="2045681" y="2557747"/>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신고서 전송 후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의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통보결과를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수신합니다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cxnSp>
        <p:nvCxnSpPr>
          <p:cNvPr id="75" name="직선 연결선 74"/>
          <p:cNvCxnSpPr/>
          <p:nvPr/>
        </p:nvCxnSpPr>
        <p:spPr>
          <a:xfrm flipH="1">
            <a:off x="536550" y="3399510"/>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B90186AB-10F7-0A0A-4756-EF3C110F88A1}"/>
              </a:ext>
            </a:extLst>
          </p:cNvPr>
          <p:cNvSpPr txBox="1"/>
          <p:nvPr/>
        </p:nvSpPr>
        <p:spPr>
          <a:xfrm>
            <a:off x="2045681" y="3048414"/>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전송상태에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따른 상세 정보를 조회합니다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6" name="그림 5"/>
          <p:cNvPicPr>
            <a:picLocks noChangeAspect="1"/>
          </p:cNvPicPr>
          <p:nvPr/>
        </p:nvPicPr>
        <p:blipFill>
          <a:blip r:embed="rId9"/>
          <a:stretch>
            <a:fillRect/>
          </a:stretch>
        </p:blipFill>
        <p:spPr>
          <a:xfrm>
            <a:off x="810323" y="1573363"/>
            <a:ext cx="885949" cy="238158"/>
          </a:xfrm>
          <a:prstGeom prst="rect">
            <a:avLst/>
          </a:prstGeom>
        </p:spPr>
      </p:pic>
      <p:pic>
        <p:nvPicPr>
          <p:cNvPr id="8" name="그림 7"/>
          <p:cNvPicPr>
            <a:picLocks noChangeAspect="1"/>
          </p:cNvPicPr>
          <p:nvPr/>
        </p:nvPicPr>
        <p:blipFill>
          <a:blip r:embed="rId10"/>
          <a:stretch>
            <a:fillRect/>
          </a:stretch>
        </p:blipFill>
        <p:spPr>
          <a:xfrm>
            <a:off x="915112" y="2064029"/>
            <a:ext cx="676369" cy="238158"/>
          </a:xfrm>
          <a:prstGeom prst="rect">
            <a:avLst/>
          </a:prstGeom>
        </p:spPr>
      </p:pic>
      <p:pic>
        <p:nvPicPr>
          <p:cNvPr id="10" name="그림 9"/>
          <p:cNvPicPr>
            <a:picLocks noChangeAspect="1"/>
          </p:cNvPicPr>
          <p:nvPr/>
        </p:nvPicPr>
        <p:blipFill>
          <a:blip r:embed="rId11"/>
          <a:stretch>
            <a:fillRect/>
          </a:stretch>
        </p:blipFill>
        <p:spPr>
          <a:xfrm>
            <a:off x="929566" y="2552936"/>
            <a:ext cx="704948" cy="238158"/>
          </a:xfrm>
          <a:prstGeom prst="rect">
            <a:avLst/>
          </a:prstGeom>
        </p:spPr>
      </p:pic>
      <p:pic>
        <p:nvPicPr>
          <p:cNvPr id="11" name="그림 10"/>
          <p:cNvPicPr>
            <a:picLocks noChangeAspect="1"/>
          </p:cNvPicPr>
          <p:nvPr/>
        </p:nvPicPr>
        <p:blipFill>
          <a:blip r:embed="rId12"/>
          <a:stretch>
            <a:fillRect/>
          </a:stretch>
        </p:blipFill>
        <p:spPr>
          <a:xfrm>
            <a:off x="824776" y="3030833"/>
            <a:ext cx="914528" cy="238158"/>
          </a:xfrm>
          <a:prstGeom prst="rect">
            <a:avLst/>
          </a:prstGeom>
        </p:spPr>
      </p:pic>
      <p:sp>
        <p:nvSpPr>
          <p:cNvPr id="66" name="TextBox 65">
            <a:extLst>
              <a:ext uri="{FF2B5EF4-FFF2-40B4-BE49-F238E27FC236}">
                <a16:creationId xmlns:a16="http://schemas.microsoft.com/office/drawing/2014/main" id="{7C49267A-5354-4D03-BDAD-B95113459E3F}"/>
              </a:ext>
            </a:extLst>
          </p:cNvPr>
          <p:cNvSpPr txBox="1"/>
          <p:nvPr/>
        </p:nvSpPr>
        <p:spPr>
          <a:xfrm>
            <a:off x="9740022" y="696489"/>
            <a:ext cx="823899"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문서관리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92303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수</a:t>
            </a:r>
            <a:r>
              <a:rPr lang="en-US" altLang="ko-KR" dirty="0">
                <a:latin typeface="Arita Dotum KR Medium" panose="02020603020101020101" pitchFamily="18" charset="-127"/>
                <a:ea typeface="Arita Dotum KR Medium" panose="02020603020101020101" pitchFamily="18" charset="-127"/>
              </a:rPr>
              <a:t>/</a:t>
            </a:r>
            <a:r>
              <a:rPr lang="ko-KR" altLang="en-US" dirty="0">
                <a:latin typeface="Arita Dotum KR Medium" panose="02020603020101020101" pitchFamily="18" charset="-127"/>
                <a:ea typeface="Arita Dotum KR Medium" panose="02020603020101020101" pitchFamily="18" charset="-127"/>
              </a:rPr>
              <a:t>출입 업로드</a:t>
            </a: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636621"/>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관세법인으로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부터</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전달받은 수입</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 데이터를 업로드하는 프로그램</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7" name="직사각형 6"/>
          <p:cNvSpPr/>
          <p:nvPr/>
        </p:nvSpPr>
        <p:spPr>
          <a:xfrm>
            <a:off x="536548" y="5533639"/>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045679" y="5533639"/>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3" name="그림 2"/>
          <p:cNvPicPr>
            <a:picLocks noChangeAspect="1"/>
          </p:cNvPicPr>
          <p:nvPr/>
        </p:nvPicPr>
        <p:blipFill>
          <a:blip r:embed="rId2"/>
          <a:stretch>
            <a:fillRect/>
          </a:stretch>
        </p:blipFill>
        <p:spPr>
          <a:xfrm>
            <a:off x="649287" y="1671386"/>
            <a:ext cx="6660582" cy="1880961"/>
          </a:xfrm>
          <a:prstGeom prst="rect">
            <a:avLst/>
          </a:prstGeom>
        </p:spPr>
      </p:pic>
      <p:pic>
        <p:nvPicPr>
          <p:cNvPr id="5" name="그림 4"/>
          <p:cNvPicPr>
            <a:picLocks noChangeAspect="1"/>
          </p:cNvPicPr>
          <p:nvPr/>
        </p:nvPicPr>
        <p:blipFill>
          <a:blip r:embed="rId3"/>
          <a:stretch>
            <a:fillRect/>
          </a:stretch>
        </p:blipFill>
        <p:spPr>
          <a:xfrm>
            <a:off x="770817" y="5945431"/>
            <a:ext cx="1057982" cy="278749"/>
          </a:xfrm>
          <a:prstGeom prst="rect">
            <a:avLst/>
          </a:prstGeom>
        </p:spPr>
      </p:pic>
      <p:sp>
        <p:nvSpPr>
          <p:cNvPr id="17" name="TextBox 16">
            <a:extLst>
              <a:ext uri="{FF2B5EF4-FFF2-40B4-BE49-F238E27FC236}">
                <a16:creationId xmlns:a16="http://schemas.microsoft.com/office/drawing/2014/main" id="{B90186AB-10F7-0A0A-4756-EF3C110F88A1}"/>
              </a:ext>
            </a:extLst>
          </p:cNvPr>
          <p:cNvSpPr txBox="1"/>
          <p:nvPr/>
        </p:nvSpPr>
        <p:spPr>
          <a:xfrm>
            <a:off x="2045679" y="5973699"/>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선택한 파일을 업로드합니다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9" name="TextBox 18">
            <a:extLst>
              <a:ext uri="{FF2B5EF4-FFF2-40B4-BE49-F238E27FC236}">
                <a16:creationId xmlns:a16="http://schemas.microsoft.com/office/drawing/2014/main" id="{B90186AB-10F7-0A0A-4756-EF3C110F88A1}"/>
              </a:ext>
            </a:extLst>
          </p:cNvPr>
          <p:cNvSpPr txBox="1"/>
          <p:nvPr/>
        </p:nvSpPr>
        <p:spPr>
          <a:xfrm>
            <a:off x="649286" y="3813612"/>
            <a:ext cx="9795689" cy="86177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marL="285750" lvl="0" indent="-285750" latinLnBrk="1">
              <a:lnSpc>
                <a:spcPct val="100000"/>
              </a:lnSpc>
              <a:buFont typeface="Arial" panose="020B0604020202020204" pitchFamily="34" charset="0"/>
              <a:buChar char="•"/>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분기마다 주기적으로 업로드 해야하며 수입원재료가 추가된 경우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인터페이스를 재 수행 해야합니다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marL="285750" lvl="0" indent="-285750" latinLnBrk="1">
              <a:lnSpc>
                <a:spcPct val="100000"/>
              </a:lnSpc>
              <a:buFont typeface="Arial" panose="020B0604020202020204" pitchFamily="34" charset="0"/>
              <a:buChar char="•"/>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수출데이터</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업로드 시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1200, 1300</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법인의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기납증관련</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을 자동으로 생성합니다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marL="285750" lvl="0" indent="-285750" latinLnBrk="1">
              <a:lnSpc>
                <a:spcPct val="100000"/>
              </a:lnSpc>
              <a:buFont typeface="Arial" panose="020B0604020202020204" pitchFamily="34" charset="0"/>
              <a:buChar char="•"/>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업로드 후 각종 신고서 발행 후 동일한 월을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재업로드</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하는 경우 업로드 되지 않습니다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a:p>
            <a:pPr marL="285750" lvl="0" indent="-285750" latinLnBrk="1">
              <a:lnSpc>
                <a:spcPct val="100000"/>
              </a:lnSpc>
              <a:buFont typeface="Arial" panose="020B0604020202020204" pitchFamily="34" charset="0"/>
              <a:buChar char="•"/>
              <a:defRPr/>
            </a:pP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재 업로드를 위해서는 각종 </a:t>
            </a:r>
            <a:r>
              <a:rPr lang="ko-KR" altLang="en-US" sz="1400" spc="-50" dirty="0" err="1">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신고건을</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 모두 취소처리 해야 다시 업로드  할 수 있습니다</a:t>
            </a:r>
            <a:r>
              <a:rPr lang="en-US" altLang="ko-KR"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환급 잔량 체크</a:t>
            </a:r>
            <a:r>
              <a:rPr lang="en-US" altLang="ko-KR"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11" name="TextBox 10">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기초정보관리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17670304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수입신고</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636621"/>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업로드 한 수입신고 데이터를 조회 할 수 있는 프로그램</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19" name="TextBox 18">
            <a:extLst>
              <a:ext uri="{FF2B5EF4-FFF2-40B4-BE49-F238E27FC236}">
                <a16:creationId xmlns:a16="http://schemas.microsoft.com/office/drawing/2014/main" id="{B90186AB-10F7-0A0A-4756-EF3C110F88A1}"/>
              </a:ext>
            </a:extLst>
          </p:cNvPr>
          <p:cNvSpPr txBox="1"/>
          <p:nvPr/>
        </p:nvSpPr>
        <p:spPr>
          <a:xfrm>
            <a:off x="649286" y="4948882"/>
            <a:ext cx="9795689"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marL="285750" lvl="0" indent="-285750" latinLnBrk="1">
              <a:lnSpc>
                <a:spcPct val="100000"/>
              </a:lnSpc>
              <a:buFont typeface="Arial" panose="020B0604020202020204" pitchFamily="34" charset="0"/>
              <a:buChar char="•"/>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수입신고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번호단위의</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수입물품에 대한 정보를 조회할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marL="285750" lvl="0" indent="-285750" latinLnBrk="1">
              <a:lnSpc>
                <a:spcPct val="100000"/>
              </a:lnSpc>
              <a:buFont typeface="Arial" panose="020B0604020202020204" pitchFamily="34" charset="0"/>
              <a:buChar char="•"/>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환급업무에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사용된 수입원재료의 경우 마지막으로 사용한 일자를 확인할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a:p>
            <a:pPr marL="285750" lvl="0" indent="-285750" latinLnBrk="1">
              <a:lnSpc>
                <a:spcPct val="100000"/>
              </a:lnSpc>
              <a:buFont typeface="Arial" panose="020B0604020202020204" pitchFamily="34" charset="0"/>
              <a:buChar char="•"/>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더블클릭하여 수입신고 데이터의 란</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행 단위의 상세데이터를 확인할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2" name="그림 1"/>
          <p:cNvPicPr>
            <a:picLocks noChangeAspect="1"/>
          </p:cNvPicPr>
          <p:nvPr/>
        </p:nvPicPr>
        <p:blipFill>
          <a:blip r:embed="rId2"/>
          <a:stretch>
            <a:fillRect/>
          </a:stretch>
        </p:blipFill>
        <p:spPr>
          <a:xfrm>
            <a:off x="649286" y="1200058"/>
            <a:ext cx="6019143" cy="3122903"/>
          </a:xfrm>
          <a:prstGeom prst="rect">
            <a:avLst/>
          </a:prstGeom>
        </p:spPr>
      </p:pic>
      <p:sp>
        <p:nvSpPr>
          <p:cNvPr id="12" name="직사각형 11"/>
          <p:cNvSpPr/>
          <p:nvPr/>
        </p:nvSpPr>
        <p:spPr>
          <a:xfrm>
            <a:off x="536548" y="5888473"/>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3" name="직사각형 12"/>
          <p:cNvSpPr/>
          <p:nvPr/>
        </p:nvSpPr>
        <p:spPr>
          <a:xfrm>
            <a:off x="2045679" y="5888473"/>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5" name="TextBox 14">
            <a:extLst>
              <a:ext uri="{FF2B5EF4-FFF2-40B4-BE49-F238E27FC236}">
                <a16:creationId xmlns:a16="http://schemas.microsoft.com/office/drawing/2014/main" id="{B90186AB-10F7-0A0A-4756-EF3C110F88A1}"/>
              </a:ext>
            </a:extLst>
          </p:cNvPr>
          <p:cNvSpPr txBox="1"/>
          <p:nvPr/>
        </p:nvSpPr>
        <p:spPr>
          <a:xfrm>
            <a:off x="2045679" y="632853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상세 내용을 조회합니다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6" name="TextBox 15">
            <a:extLst>
              <a:ext uri="{FF2B5EF4-FFF2-40B4-BE49-F238E27FC236}">
                <a16:creationId xmlns:a16="http://schemas.microsoft.com/office/drawing/2014/main" id="{B90186AB-10F7-0A0A-4756-EF3C110F88A1}"/>
              </a:ext>
            </a:extLst>
          </p:cNvPr>
          <p:cNvSpPr txBox="1"/>
          <p:nvPr/>
        </p:nvSpPr>
        <p:spPr>
          <a:xfrm>
            <a:off x="873599" y="6346636"/>
            <a:ext cx="843689"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더블클릭</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3" name="그림 2"/>
          <p:cNvPicPr>
            <a:picLocks noChangeAspect="1"/>
          </p:cNvPicPr>
          <p:nvPr/>
        </p:nvPicPr>
        <p:blipFill>
          <a:blip r:embed="rId3"/>
          <a:stretch>
            <a:fillRect/>
          </a:stretch>
        </p:blipFill>
        <p:spPr>
          <a:xfrm>
            <a:off x="2631062" y="2018849"/>
            <a:ext cx="4654402" cy="2787339"/>
          </a:xfrm>
          <a:prstGeom prst="rect">
            <a:avLst/>
          </a:prstGeom>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기초정보관리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4587407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수출신고</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636621"/>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업로드 한 수출신고 데이터를 조회 할 수 있는 프로그램</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19" name="TextBox 18">
            <a:extLst>
              <a:ext uri="{FF2B5EF4-FFF2-40B4-BE49-F238E27FC236}">
                <a16:creationId xmlns:a16="http://schemas.microsoft.com/office/drawing/2014/main" id="{B90186AB-10F7-0A0A-4756-EF3C110F88A1}"/>
              </a:ext>
            </a:extLst>
          </p:cNvPr>
          <p:cNvSpPr txBox="1"/>
          <p:nvPr/>
        </p:nvSpPr>
        <p:spPr>
          <a:xfrm>
            <a:off x="649286" y="4958027"/>
            <a:ext cx="9795689"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marL="285750" lvl="0" indent="-285750" latinLnBrk="1">
              <a:lnSpc>
                <a:spcPct val="100000"/>
              </a:lnSpc>
              <a:buFont typeface="Arial" panose="020B0604020202020204" pitchFamily="34" charset="0"/>
              <a:buChar char="•"/>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수출신고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번호단위의</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수출물품에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대한 정보를 조회할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marL="285750" lvl="0" indent="-285750" latinLnBrk="1">
              <a:lnSpc>
                <a:spcPct val="100000"/>
              </a:lnSpc>
              <a:buFont typeface="Arial" panose="020B0604020202020204" pitchFamily="34" charset="0"/>
              <a:buChar char="•"/>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더블클릭하여 수입신고 데이터의 란</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행 단위의 상세데이터를 확인할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2" name="직사각형 11"/>
          <p:cNvSpPr/>
          <p:nvPr/>
        </p:nvSpPr>
        <p:spPr>
          <a:xfrm>
            <a:off x="536548" y="5888473"/>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3" name="직사각형 12"/>
          <p:cNvSpPr/>
          <p:nvPr/>
        </p:nvSpPr>
        <p:spPr>
          <a:xfrm>
            <a:off x="2045679" y="5888473"/>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5" name="TextBox 14">
            <a:extLst>
              <a:ext uri="{FF2B5EF4-FFF2-40B4-BE49-F238E27FC236}">
                <a16:creationId xmlns:a16="http://schemas.microsoft.com/office/drawing/2014/main" id="{B90186AB-10F7-0A0A-4756-EF3C110F88A1}"/>
              </a:ext>
            </a:extLst>
          </p:cNvPr>
          <p:cNvSpPr txBox="1"/>
          <p:nvPr/>
        </p:nvSpPr>
        <p:spPr>
          <a:xfrm>
            <a:off x="2045679" y="6328533"/>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상세 내용을 조회합니다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6" name="TextBox 15">
            <a:extLst>
              <a:ext uri="{FF2B5EF4-FFF2-40B4-BE49-F238E27FC236}">
                <a16:creationId xmlns:a16="http://schemas.microsoft.com/office/drawing/2014/main" id="{B90186AB-10F7-0A0A-4756-EF3C110F88A1}"/>
              </a:ext>
            </a:extLst>
          </p:cNvPr>
          <p:cNvSpPr txBox="1"/>
          <p:nvPr/>
        </p:nvSpPr>
        <p:spPr>
          <a:xfrm>
            <a:off x="873599" y="6346636"/>
            <a:ext cx="843689"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더블클릭</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4" name="그림 3"/>
          <p:cNvPicPr>
            <a:picLocks noChangeAspect="1"/>
          </p:cNvPicPr>
          <p:nvPr/>
        </p:nvPicPr>
        <p:blipFill>
          <a:blip r:embed="rId2"/>
          <a:stretch>
            <a:fillRect/>
          </a:stretch>
        </p:blipFill>
        <p:spPr>
          <a:xfrm>
            <a:off x="536549" y="1183435"/>
            <a:ext cx="5455374" cy="2834974"/>
          </a:xfrm>
          <a:prstGeom prst="rect">
            <a:avLst/>
          </a:prstGeom>
        </p:spPr>
      </p:pic>
      <p:pic>
        <p:nvPicPr>
          <p:cNvPr id="6" name="그림 5"/>
          <p:cNvPicPr>
            <a:picLocks noChangeAspect="1"/>
          </p:cNvPicPr>
          <p:nvPr/>
        </p:nvPicPr>
        <p:blipFill>
          <a:blip r:embed="rId3"/>
          <a:stretch>
            <a:fillRect/>
          </a:stretch>
        </p:blipFill>
        <p:spPr>
          <a:xfrm>
            <a:off x="2835335" y="2244021"/>
            <a:ext cx="4166029" cy="2528349"/>
          </a:xfrm>
          <a:prstGeom prst="rect">
            <a:avLst/>
          </a:prstGeom>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기초정보관리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9383012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양수자 통보</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607534"/>
            <a:ext cx="3005662" cy="1723549"/>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를 통해 양수자 통보를 받고 받은 데이터를 조회할 수 있는 프로그램</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분증</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기납증을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구분하여 검색합니다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atinLnBrk="1">
              <a:lnSpc>
                <a:spcPct val="100000"/>
              </a:lnSpc>
              <a:defRPr/>
            </a:pPr>
            <a:r>
              <a:rPr lang="en-US" altLang="ko-KR" sz="1400" spc="-50" dirty="0" smtClean="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UNIPASS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전송 및 수신은 </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IE</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모드에서만 가능합니다</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부록</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1 </a:t>
            </a:r>
            <a:r>
              <a:rPr lang="ko-KR" altLang="en-US"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참조</a:t>
            </a:r>
            <a:r>
              <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19" name="TextBox 18">
            <a:extLst>
              <a:ext uri="{FF2B5EF4-FFF2-40B4-BE49-F238E27FC236}">
                <a16:creationId xmlns:a16="http://schemas.microsoft.com/office/drawing/2014/main" id="{B90186AB-10F7-0A0A-4756-EF3C110F88A1}"/>
              </a:ext>
            </a:extLst>
          </p:cNvPr>
          <p:cNvSpPr txBox="1"/>
          <p:nvPr/>
        </p:nvSpPr>
        <p:spPr>
          <a:xfrm>
            <a:off x="649286" y="4958027"/>
            <a:ext cx="9795689"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marL="285750" lvl="0" indent="-285750" latinLnBrk="1">
              <a:lnSpc>
                <a:spcPct val="100000"/>
              </a:lnSpc>
              <a:buFont typeface="Arial" panose="020B0604020202020204" pitchFamily="34" charset="0"/>
              <a:buChar char="•"/>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접수번호번호단위</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갑지</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의 양수자 통보 된 물품에 대한 정보를 조회할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marL="285750" lvl="0" indent="-285750" latinLnBrk="1">
              <a:lnSpc>
                <a:spcPct val="100000"/>
              </a:lnSpc>
              <a:buFont typeface="Arial" panose="020B0604020202020204" pitchFamily="34" charset="0"/>
              <a:buChar char="•"/>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더블클릭하여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양수자통보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데이터의 상세데이터를 확인할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2" name="직사각형 11"/>
          <p:cNvSpPr/>
          <p:nvPr/>
        </p:nvSpPr>
        <p:spPr>
          <a:xfrm>
            <a:off x="536548" y="5888473"/>
            <a:ext cx="1433499"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기능</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3" name="직사각형 12"/>
          <p:cNvSpPr/>
          <p:nvPr/>
        </p:nvSpPr>
        <p:spPr>
          <a:xfrm>
            <a:off x="2045679" y="5888473"/>
            <a:ext cx="8399295"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bg1"/>
                </a:solidFill>
                <a:latin typeface="Arita Dotum KR Medium" panose="02020603020101020101" pitchFamily="18" charset="-127"/>
                <a:ea typeface="Arita Dotum KR Medium" panose="02020603020101020101" pitchFamily="18" charset="-127"/>
              </a:rPr>
              <a:t>기능설명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pic>
        <p:nvPicPr>
          <p:cNvPr id="2" name="그림 1"/>
          <p:cNvPicPr>
            <a:picLocks noChangeAspect="1"/>
          </p:cNvPicPr>
          <p:nvPr/>
        </p:nvPicPr>
        <p:blipFill>
          <a:blip r:embed="rId2"/>
          <a:stretch>
            <a:fillRect/>
          </a:stretch>
        </p:blipFill>
        <p:spPr>
          <a:xfrm>
            <a:off x="649286" y="1200058"/>
            <a:ext cx="6096896" cy="3528000"/>
          </a:xfrm>
          <a:prstGeom prst="rect">
            <a:avLst/>
          </a:prstGeom>
        </p:spPr>
      </p:pic>
      <p:pic>
        <p:nvPicPr>
          <p:cNvPr id="3" name="그림 2"/>
          <p:cNvPicPr>
            <a:picLocks noChangeAspect="1"/>
          </p:cNvPicPr>
          <p:nvPr/>
        </p:nvPicPr>
        <p:blipFill>
          <a:blip r:embed="rId3"/>
          <a:stretch>
            <a:fillRect/>
          </a:stretch>
        </p:blipFill>
        <p:spPr>
          <a:xfrm>
            <a:off x="3247649" y="2726724"/>
            <a:ext cx="4071734" cy="2088000"/>
          </a:xfrm>
          <a:prstGeom prst="rect">
            <a:avLst/>
          </a:prstGeom>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B90186AB-10F7-0A0A-4756-EF3C110F88A1}"/>
              </a:ext>
            </a:extLst>
          </p:cNvPr>
          <p:cNvSpPr txBox="1"/>
          <p:nvPr/>
        </p:nvSpPr>
        <p:spPr>
          <a:xfrm>
            <a:off x="2045681" y="6273647"/>
            <a:ext cx="8297990"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의 양수자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통보결과를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수신합니다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17" name="그림 16"/>
          <p:cNvPicPr>
            <a:picLocks noChangeAspect="1"/>
          </p:cNvPicPr>
          <p:nvPr/>
        </p:nvPicPr>
        <p:blipFill>
          <a:blip r:embed="rId4"/>
          <a:stretch>
            <a:fillRect/>
          </a:stretch>
        </p:blipFill>
        <p:spPr>
          <a:xfrm>
            <a:off x="929566" y="6276270"/>
            <a:ext cx="704948" cy="238158"/>
          </a:xfrm>
          <a:prstGeom prst="rect">
            <a:avLst/>
          </a:prstGeom>
        </p:spPr>
      </p:pic>
      <p:sp>
        <p:nvSpPr>
          <p:cNvPr id="18" name="TextBox 17">
            <a:extLst>
              <a:ext uri="{FF2B5EF4-FFF2-40B4-BE49-F238E27FC236}">
                <a16:creationId xmlns:a16="http://schemas.microsoft.com/office/drawing/2014/main" id="{B90186AB-10F7-0A0A-4756-EF3C110F88A1}"/>
              </a:ext>
            </a:extLst>
          </p:cNvPr>
          <p:cNvSpPr txBox="1"/>
          <p:nvPr/>
        </p:nvSpPr>
        <p:spPr>
          <a:xfrm>
            <a:off x="7558259" y="3438806"/>
            <a:ext cx="3005662" cy="1508105"/>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분증</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AP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 CV</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endParaRPr>
          </a:p>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기납증</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a:t>
            </a:r>
          </a:p>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CV  AP, ET, IF</a:t>
            </a:r>
          </a:p>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AP  ET, IF</a:t>
            </a:r>
            <a:endParaRPr lang="en-US" altLang="ko-KR" sz="1400" spc="-50" dirty="0">
              <a:ln>
                <a:solidFill>
                  <a:schemeClr val="accent1">
                    <a:shade val="50000"/>
                    <a:alpha val="0"/>
                  </a:schemeClr>
                </a:solidFill>
              </a:ln>
              <a:solidFill>
                <a:srgbClr val="FF0000"/>
              </a:solidFill>
              <a:latin typeface="Arita Dotum KR Medium" panose="02020603020101020101" pitchFamily="18" charset="-127"/>
              <a:ea typeface="Arita Dotum KR Medium" panose="02020603020101020101" pitchFamily="18" charset="-127"/>
            </a:endParaRP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15" name="TextBox 14">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기초정보관리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1956439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표준</a:t>
            </a:r>
            <a:r>
              <a:rPr lang="en-US" altLang="ko-KR" dirty="0" smtClean="0">
                <a:latin typeface="Arita Dotum KR Medium" panose="02020603020101020101" pitchFamily="18" charset="-127"/>
                <a:ea typeface="Arita Dotum KR Medium" panose="02020603020101020101" pitchFamily="18" charset="-127"/>
              </a:rPr>
              <a:t>BOM</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607534"/>
            <a:ext cx="3005662"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ERP</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에서 인터페이스 받은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데이터와 수입데이터를 활용하여 생성된 환급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정보를 조회할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4" name="그림 3"/>
          <p:cNvPicPr>
            <a:picLocks noChangeAspect="1"/>
          </p:cNvPicPr>
          <p:nvPr/>
        </p:nvPicPr>
        <p:blipFill>
          <a:blip r:embed="rId2"/>
          <a:stretch>
            <a:fillRect/>
          </a:stretch>
        </p:blipFill>
        <p:spPr>
          <a:xfrm>
            <a:off x="592298" y="1200058"/>
            <a:ext cx="6804678" cy="3960066"/>
          </a:xfrm>
          <a:prstGeom prst="rect">
            <a:avLst/>
          </a:prstGeom>
        </p:spPr>
      </p:pic>
      <p:sp>
        <p:nvSpPr>
          <p:cNvPr id="15" name="TextBox 14">
            <a:extLst>
              <a:ext uri="{FF2B5EF4-FFF2-40B4-BE49-F238E27FC236}">
                <a16:creationId xmlns:a16="http://schemas.microsoft.com/office/drawing/2014/main" id="{B90186AB-10F7-0A0A-4756-EF3C110F88A1}"/>
              </a:ext>
            </a:extLst>
          </p:cNvPr>
          <p:cNvSpPr txBox="1"/>
          <p:nvPr/>
        </p:nvSpPr>
        <p:spPr>
          <a:xfrm>
            <a:off x="7558259" y="2475515"/>
            <a:ext cx="3005662"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시점 별로 변경되는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을 조회 할 수 있으며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 LIST</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 보여지는 원재료는 환급에 사용되는 원재료만 출력됩니다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6" name="TextBox 15">
            <a:extLst>
              <a:ext uri="{FF2B5EF4-FFF2-40B4-BE49-F238E27FC236}">
                <a16:creationId xmlns:a16="http://schemas.microsoft.com/office/drawing/2014/main" id="{B90186AB-10F7-0A0A-4756-EF3C110F88A1}"/>
              </a:ext>
            </a:extLst>
          </p:cNvPr>
          <p:cNvSpPr txBox="1"/>
          <p:nvPr/>
        </p:nvSpPr>
        <p:spPr>
          <a:xfrm>
            <a:off x="7558259" y="3657397"/>
            <a:ext cx="3005662"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2"/>
                </a:solidFill>
                <a:latin typeface="Arita Dotum KR Medium" panose="02020603020101020101" pitchFamily="18" charset="-127"/>
                <a:ea typeface="Arita Dotum KR Medium" panose="02020603020101020101" pitchFamily="18" charset="-127"/>
              </a:rPr>
              <a:t>부록</a:t>
            </a:r>
            <a:r>
              <a:rPr lang="en-US" altLang="ko-KR" sz="1400" spc="-50" dirty="0" smtClean="0">
                <a:ln>
                  <a:solidFill>
                    <a:schemeClr val="accent1">
                      <a:shade val="50000"/>
                      <a:alpha val="0"/>
                    </a:schemeClr>
                  </a:solidFill>
                </a:ln>
                <a:solidFill>
                  <a:schemeClr val="tx2"/>
                </a:solidFill>
                <a:latin typeface="Arita Dotum KR Medium" panose="02020603020101020101" pitchFamily="18" charset="-127"/>
                <a:ea typeface="Arita Dotum KR Medium" panose="02020603020101020101" pitchFamily="18" charset="-127"/>
              </a:rPr>
              <a:t>2. </a:t>
            </a:r>
            <a:r>
              <a:rPr lang="ko-KR" altLang="en-US" sz="1400" spc="-50" dirty="0">
                <a:ln>
                  <a:solidFill>
                    <a:schemeClr val="accent1">
                      <a:shade val="50000"/>
                      <a:alpha val="0"/>
                    </a:schemeClr>
                  </a:solidFill>
                </a:ln>
                <a:solidFill>
                  <a:schemeClr val="tx2"/>
                </a:solidFill>
                <a:latin typeface="Arita Dotum KR Medium" panose="02020603020101020101" pitchFamily="18" charset="-127"/>
                <a:ea typeface="Arita Dotum KR Medium" panose="02020603020101020101" pitchFamily="18" charset="-127"/>
              </a:rPr>
              <a:t>인터페이스 모듈</a:t>
            </a:r>
            <a:r>
              <a:rPr lang="en-US" altLang="ko-KR" sz="1400" spc="-50" dirty="0">
                <a:ln>
                  <a:solidFill>
                    <a:schemeClr val="accent1">
                      <a:shade val="50000"/>
                      <a:alpha val="0"/>
                    </a:schemeClr>
                  </a:solidFill>
                </a:ln>
                <a:solidFill>
                  <a:schemeClr val="tx2"/>
                </a:solidFill>
                <a:latin typeface="Arita Dotum KR Medium" panose="02020603020101020101" pitchFamily="18" charset="-127"/>
                <a:ea typeface="Arita Dotum KR Medium" panose="02020603020101020101" pitchFamily="18" charset="-127"/>
              </a:rPr>
              <a:t>(BOM</a:t>
            </a:r>
            <a:r>
              <a:rPr lang="en-US" altLang="ko-KR" sz="1400" spc="-50" dirty="0" smtClean="0">
                <a:ln>
                  <a:solidFill>
                    <a:schemeClr val="accent1">
                      <a:shade val="50000"/>
                      <a:alpha val="0"/>
                    </a:schemeClr>
                  </a:solidFill>
                </a:ln>
                <a:solidFill>
                  <a:schemeClr val="tx2"/>
                </a:solidFill>
                <a:latin typeface="Arita Dotum KR Medium" panose="02020603020101020101" pitchFamily="18" charset="-127"/>
                <a:ea typeface="Arita Dotum KR Medium" panose="02020603020101020101" pitchFamily="18" charset="-127"/>
              </a:rPr>
              <a:t>)</a:t>
            </a:r>
            <a:r>
              <a:rPr lang="en-US" altLang="ko-KR" sz="1400" spc="-50" dirty="0">
                <a:ln>
                  <a:solidFill>
                    <a:schemeClr val="accent1">
                      <a:shade val="50000"/>
                      <a:alpha val="0"/>
                    </a:schemeClr>
                  </a:solidFill>
                </a:ln>
                <a:solidFill>
                  <a:schemeClr val="tx2"/>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2"/>
                </a:solidFill>
                <a:latin typeface="Arita Dotum KR Medium" panose="02020603020101020101" pitchFamily="18" charset="-127"/>
                <a:ea typeface="Arita Dotum KR Medium" panose="02020603020101020101" pitchFamily="18" charset="-127"/>
              </a:rPr>
              <a:t>참조</a:t>
            </a:r>
            <a:endParaRPr lang="en-US" altLang="ko-KR" sz="1400" spc="-50" dirty="0">
              <a:ln>
                <a:solidFill>
                  <a:schemeClr val="accent1">
                    <a:shade val="50000"/>
                    <a:alpha val="0"/>
                  </a:schemeClr>
                </a:solidFill>
              </a:ln>
              <a:solidFill>
                <a:schemeClr val="tx2"/>
              </a:solidFill>
              <a:latin typeface="Arita Dotum KR Medium" panose="02020603020101020101" pitchFamily="18" charset="-127"/>
              <a:ea typeface="Arita Dotum KR Medium" panose="02020603020101020101" pitchFamily="18" charset="-127"/>
            </a:endParaRPr>
          </a:p>
        </p:txBody>
      </p:sp>
      <p:sp>
        <p:nvSpPr>
          <p:cNvPr id="8" name="TextBox 7">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기초정보관리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48558557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smtClean="0">
                <a:latin typeface="Arita Dotum KR Medium" panose="02020603020101020101" pitchFamily="18" charset="-127"/>
                <a:ea typeface="Arita Dotum KR Medium" panose="02020603020101020101" pitchFamily="18" charset="-127"/>
              </a:rPr>
              <a:t>매입원장</a:t>
            </a:r>
            <a:r>
              <a:rPr lang="ko-KR" altLang="en-US" dirty="0" smtClean="0">
                <a:latin typeface="Arita Dotum KR Medium" panose="02020603020101020101" pitchFamily="18" charset="-127"/>
                <a:ea typeface="Arita Dotum KR Medium" panose="02020603020101020101" pitchFamily="18" charset="-127"/>
              </a:rPr>
              <a:t> 관리</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637418"/>
            <a:ext cx="3005662" cy="1077218"/>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구매 데이터를 조회 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수입</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데이터에 대한 구매데이터를 확인 할 수 있으며 수입데이터에 대해서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확인용도로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사용됩니다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2" name="그림 1"/>
          <p:cNvPicPr>
            <a:picLocks noChangeAspect="1"/>
          </p:cNvPicPr>
          <p:nvPr/>
        </p:nvPicPr>
        <p:blipFill>
          <a:blip r:embed="rId2"/>
          <a:stretch>
            <a:fillRect/>
          </a:stretch>
        </p:blipFill>
        <p:spPr>
          <a:xfrm>
            <a:off x="649287" y="1200057"/>
            <a:ext cx="6785971" cy="4026147"/>
          </a:xfrm>
          <a:prstGeom prst="rect">
            <a:avLst/>
          </a:prstGeom>
        </p:spPr>
      </p:pic>
      <p:sp>
        <p:nvSpPr>
          <p:cNvPr id="6" name="TextBox 5">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기초정보관리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6966185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smtClean="0">
                <a:latin typeface="Arita Dotum KR Medium" panose="02020603020101020101" pitchFamily="18" charset="-127"/>
                <a:ea typeface="Arita Dotum KR Medium" panose="02020603020101020101" pitchFamily="18" charset="-127"/>
              </a:rPr>
              <a:t>매출내역</a:t>
            </a:r>
            <a:r>
              <a:rPr lang="ko-KR" altLang="en-US" dirty="0" smtClean="0">
                <a:latin typeface="Arita Dotum KR Medium" panose="02020603020101020101" pitchFamily="18" charset="-127"/>
                <a:ea typeface="Arita Dotum KR Medium" panose="02020603020101020101" pitchFamily="18" charset="-127"/>
              </a:rPr>
              <a:t> 관리</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637419"/>
            <a:ext cx="3005662" cy="1077218"/>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법인간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매출거래내역을 조회합니다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매출데이터는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ERP</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에서 인터페이스 받은 데이터로 인터페이스는 현재시점부터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3</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개월 이전데이터를 주기적</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매달</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으로 인터페이스 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4" name="그림 3"/>
          <p:cNvPicPr>
            <a:picLocks noChangeAspect="1"/>
          </p:cNvPicPr>
          <p:nvPr/>
        </p:nvPicPr>
        <p:blipFill>
          <a:blip r:embed="rId2"/>
          <a:stretch>
            <a:fillRect/>
          </a:stretch>
        </p:blipFill>
        <p:spPr>
          <a:xfrm>
            <a:off x="649287" y="1200057"/>
            <a:ext cx="6816143" cy="3922069"/>
          </a:xfrm>
          <a:prstGeom prst="rect">
            <a:avLst/>
          </a:prstGeom>
        </p:spPr>
      </p:pic>
      <p:sp>
        <p:nvSpPr>
          <p:cNvPr id="8" name="TextBox 7">
            <a:extLst>
              <a:ext uri="{FF2B5EF4-FFF2-40B4-BE49-F238E27FC236}">
                <a16:creationId xmlns:a16="http://schemas.microsoft.com/office/drawing/2014/main" id="{B90186AB-10F7-0A0A-4756-EF3C110F88A1}"/>
              </a:ext>
            </a:extLst>
          </p:cNvPr>
          <p:cNvSpPr txBox="1"/>
          <p:nvPr/>
        </p:nvSpPr>
        <p:spPr>
          <a:xfrm>
            <a:off x="7558259" y="3209522"/>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매출 데이터는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법인간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기납증</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분증</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발행시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환급모듈에서 데이터를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사용하게됩니다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7" name="TextBox 6">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기초정보관리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19905928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smtClean="0">
                <a:latin typeface="Arita Dotum KR Medium" panose="02020603020101020101" pitchFamily="18" charset="-127"/>
                <a:ea typeface="Arita Dotum KR Medium" panose="02020603020101020101" pitchFamily="18" charset="-127"/>
              </a:rPr>
              <a:t>자재수불부</a:t>
            </a:r>
            <a:r>
              <a:rPr lang="ko-KR" altLang="en-US" dirty="0" smtClean="0">
                <a:latin typeface="Arita Dotum KR Medium" panose="02020603020101020101" pitchFamily="18" charset="-127"/>
                <a:ea typeface="Arita Dotum KR Medium" panose="02020603020101020101" pitchFamily="18" charset="-127"/>
              </a:rPr>
              <a:t> 관리</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708412"/>
            <a:ext cx="3005662" cy="2154436"/>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ERP</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에서 인터페이스 받은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자재수불부</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데이터를 조회하는 프로그램입니다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인터페이스는 현재시점부터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3</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개월 이전데이터를 주기적</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매달</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으로 인터페이스 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환급모듈에서 해당 데이터를 사용하지는 않지만 추 후 심사 대응 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자료재출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요구에 활용하게 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2" name="그림 1"/>
          <p:cNvPicPr>
            <a:picLocks noChangeAspect="1"/>
          </p:cNvPicPr>
          <p:nvPr/>
        </p:nvPicPr>
        <p:blipFill>
          <a:blip r:embed="rId2"/>
          <a:stretch>
            <a:fillRect/>
          </a:stretch>
        </p:blipFill>
        <p:spPr>
          <a:xfrm>
            <a:off x="649287" y="1200058"/>
            <a:ext cx="6680529" cy="3924000"/>
          </a:xfrm>
          <a:prstGeom prst="rect">
            <a:avLst/>
          </a:prstGeom>
        </p:spPr>
      </p:pic>
      <p:sp>
        <p:nvSpPr>
          <p:cNvPr id="6" name="TextBox 5">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기초정보관리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09847795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smtClean="0">
                <a:latin typeface="Arita Dotum KR Medium" panose="02020603020101020101" pitchFamily="18" charset="-127"/>
                <a:ea typeface="Arita Dotum KR Medium" panose="02020603020101020101" pitchFamily="18" charset="-127"/>
              </a:rPr>
              <a:t>매각원장</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685162"/>
            <a:ext cx="3005662" cy="1508105"/>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ERP</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에서 인터페이스 받은 매각데이터를 조회하는 프로그램 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atinLnBrk="1">
              <a:lnSpc>
                <a:spcPct val="10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인터페이스는 현재시점부터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3</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개월 이전데이터를 주기적</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매달</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으로 인터페이스 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3" name="그림 2"/>
          <p:cNvPicPr>
            <a:picLocks noChangeAspect="1"/>
          </p:cNvPicPr>
          <p:nvPr/>
        </p:nvPicPr>
        <p:blipFill>
          <a:blip r:embed="rId2"/>
          <a:stretch>
            <a:fillRect/>
          </a:stretch>
        </p:blipFill>
        <p:spPr>
          <a:xfrm>
            <a:off x="573248" y="1200058"/>
            <a:ext cx="6816241" cy="3924000"/>
          </a:xfrm>
          <a:prstGeom prst="rect">
            <a:avLst/>
          </a:prstGeom>
        </p:spPr>
      </p:pic>
      <p:sp>
        <p:nvSpPr>
          <p:cNvPr id="8" name="TextBox 7">
            <a:extLst>
              <a:ext uri="{FF2B5EF4-FFF2-40B4-BE49-F238E27FC236}">
                <a16:creationId xmlns:a16="http://schemas.microsoft.com/office/drawing/2014/main" id="{B90186AB-10F7-0A0A-4756-EF3C110F88A1}"/>
              </a:ext>
            </a:extLst>
          </p:cNvPr>
          <p:cNvSpPr txBox="1"/>
          <p:nvPr/>
        </p:nvSpPr>
        <p:spPr>
          <a:xfrm>
            <a:off x="7558259" y="3358703"/>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매각 데이터는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AP</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CV</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분증을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발급할때</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 근거자료로 사용됩니다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7" name="TextBox 6">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기초정보관리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76066132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smtClean="0">
                <a:latin typeface="Arita Dotum KR Medium" panose="02020603020101020101" pitchFamily="18" charset="-127"/>
                <a:ea typeface="Arita Dotum KR Medium" panose="02020603020101020101" pitchFamily="18" charset="-127"/>
              </a:rPr>
              <a:t>회사관리</a:t>
            </a:r>
            <a:endParaRPr lang="ko-KR" altLang="en-US" dirty="0">
              <a:latin typeface="Arita Dotum KR Medium" panose="02020603020101020101" pitchFamily="18" charset="-127"/>
              <a:ea typeface="Arita Dotum KR Medium" panose="02020603020101020101" pitchFamily="18" charset="-127"/>
            </a:endParaRPr>
          </a:p>
        </p:txBody>
      </p:sp>
      <p:pic>
        <p:nvPicPr>
          <p:cNvPr id="2" name="그림 1"/>
          <p:cNvPicPr>
            <a:picLocks noChangeAspect="1"/>
          </p:cNvPicPr>
          <p:nvPr/>
        </p:nvPicPr>
        <p:blipFill>
          <a:blip r:embed="rId2"/>
          <a:stretch>
            <a:fillRect/>
          </a:stretch>
        </p:blipFill>
        <p:spPr>
          <a:xfrm>
            <a:off x="649287" y="2591177"/>
            <a:ext cx="9598989" cy="3861662"/>
          </a:xfrm>
          <a:prstGeom prst="rect">
            <a:avLst/>
          </a:prstGeom>
        </p:spPr>
      </p:pic>
      <p:sp>
        <p:nvSpPr>
          <p:cNvPr id="9" name="모서리가 둥근 직사각형 8"/>
          <p:cNvSpPr/>
          <p:nvPr/>
        </p:nvSpPr>
        <p:spPr>
          <a:xfrm>
            <a:off x="649287"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10" name="TextBox 9">
            <a:extLst>
              <a:ext uri="{FF2B5EF4-FFF2-40B4-BE49-F238E27FC236}">
                <a16:creationId xmlns:a16="http://schemas.microsoft.com/office/drawing/2014/main" id="{B90186AB-10F7-0A0A-4756-EF3C110F88A1}"/>
              </a:ext>
            </a:extLst>
          </p:cNvPr>
          <p:cNvSpPr txBox="1"/>
          <p:nvPr/>
        </p:nvSpPr>
        <p:spPr>
          <a:xfrm>
            <a:off x="649286" y="1628061"/>
            <a:ext cx="959643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회사정보를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관리하는 프로그램입니다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회사정보의</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기초데이터를 바탕으로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양식출력</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UNIPASS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전송등에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사용됩니다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1" name="TextBox 10">
            <a:extLst>
              <a:ext uri="{FF2B5EF4-FFF2-40B4-BE49-F238E27FC236}">
                <a16:creationId xmlns:a16="http://schemas.microsoft.com/office/drawing/2014/main" id="{B90186AB-10F7-0A0A-4756-EF3C110F88A1}"/>
              </a:ext>
            </a:extLst>
          </p:cNvPr>
          <p:cNvSpPr txBox="1"/>
          <p:nvPr/>
        </p:nvSpPr>
        <p:spPr>
          <a:xfrm>
            <a:off x="649286" y="1939156"/>
            <a:ext cx="9596437"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통관고유부호</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제출번호식별자</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세관코드</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유니패스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ID,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유니패스</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문서함 코드 등의 주요 정보는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hlinkClick r:id="rId3"/>
              </a:rPr>
              <a:t>https://</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hlinkClick r:id="rId3"/>
              </a:rPr>
              <a:t>unipass.customs.go.kr (UNIPASS</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Site)</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에서 확인 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sp>
        <p:nvSpPr>
          <p:cNvPr id="7" name="TextBox 6">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마스터 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40989399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smtClean="0">
                <a:latin typeface="Arita Dotum KR Medium" panose="02020603020101020101" pitchFamily="18" charset="-127"/>
                <a:ea typeface="Arita Dotum KR Medium" panose="02020603020101020101" pitchFamily="18" charset="-127"/>
              </a:rPr>
              <a:t>회사관리</a:t>
            </a:r>
            <a:r>
              <a:rPr lang="en-US" altLang="ko-KR" dirty="0" smtClean="0">
                <a:latin typeface="Arita Dotum KR Medium" panose="02020603020101020101" pitchFamily="18" charset="-127"/>
                <a:ea typeface="Arita Dotum KR Medium" panose="02020603020101020101" pitchFamily="18" charset="-127"/>
              </a:rPr>
              <a:t>(</a:t>
            </a:r>
            <a:r>
              <a:rPr lang="ko-KR" altLang="en-US" dirty="0" smtClean="0">
                <a:latin typeface="Arita Dotum KR Medium" panose="02020603020101020101" pitchFamily="18" charset="-127"/>
                <a:ea typeface="Arita Dotum KR Medium" panose="02020603020101020101" pitchFamily="18" charset="-127"/>
              </a:rPr>
              <a:t>계속</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7" name="직사각형 6"/>
          <p:cNvSpPr/>
          <p:nvPr/>
        </p:nvSpPr>
        <p:spPr>
          <a:xfrm>
            <a:off x="536550" y="1139154"/>
            <a:ext cx="2005928"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smtClean="0">
                <a:solidFill>
                  <a:schemeClr val="bg1"/>
                </a:solidFill>
                <a:latin typeface="Arita Dotum KR Medium" panose="02020603020101020101" pitchFamily="18" charset="-127"/>
                <a:ea typeface="Arita Dotum KR Medium" panose="02020603020101020101" pitchFamily="18" charset="-127"/>
              </a:rPr>
              <a:t>관리항목</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2653990" y="1139154"/>
            <a:ext cx="7790986"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주요 항목 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cxnSp>
        <p:nvCxnSpPr>
          <p:cNvPr id="31" name="직선 연결선 30"/>
          <p:cNvCxnSpPr/>
          <p:nvPr/>
        </p:nvCxnSpPr>
        <p:spPr>
          <a:xfrm flipH="1">
            <a:off x="536550" y="1846814"/>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B90186AB-10F7-0A0A-4756-EF3C110F88A1}"/>
              </a:ext>
            </a:extLst>
          </p:cNvPr>
          <p:cNvSpPr txBox="1"/>
          <p:nvPr/>
        </p:nvSpPr>
        <p:spPr>
          <a:xfrm>
            <a:off x="844418" y="1486448"/>
            <a:ext cx="9600558" cy="3554819"/>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회사명                                      각종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양식및</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관세청 데이터 전송 시 사용됩니다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대표자 명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각종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양식및</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관세청 데이터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시 사용됩니다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통관고유부호                         수출입 신고 시 사용하는 부호로</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관세청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데이터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전송 시 사용됩니다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제출번호식별자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제출번호</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생성시 업체를 구분하기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위한고유</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번호입니다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5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회사주소</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각종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양식및</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관세청 데이터 전송 시 사용됩니다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50000"/>
              </a:lnSpc>
              <a:defRPr/>
            </a:pP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사업자등록번호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각종 </a:t>
            </a:r>
            <a:r>
              <a:rPr lang="ko-KR" altLang="en-US" sz="1400"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양식및</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관세청 데이터 전송 시 사용됩니다</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환급구분코드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개별환급</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및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간이환급을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구분하는 코드로 아모레퍼시픽은 개별환급으로 환급을 진행합니다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소요량산정방법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설계소요량</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단위소요량등이 있으며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을 이용한 환급을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진행시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설계소요량으로 산정합니다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5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세관코드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담당 세관에 대한 코드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5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유니패스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ID                             UNIPASS</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 등록된 업체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ID</a:t>
            </a:r>
          </a:p>
          <a:p>
            <a:pPr latinLnBrk="1">
              <a:lnSpc>
                <a:spcPct val="15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유니패스</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문서함 코드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 등록된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업체 문서함번호로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환급업무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진행시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해당 문서함에서 확인할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67" name="직선 연결선 66"/>
          <p:cNvCxnSpPr/>
          <p:nvPr/>
        </p:nvCxnSpPr>
        <p:spPr>
          <a:xfrm flipH="1">
            <a:off x="536550" y="2167317"/>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8" name="직선 연결선 77"/>
          <p:cNvCxnSpPr/>
          <p:nvPr/>
        </p:nvCxnSpPr>
        <p:spPr>
          <a:xfrm flipH="1">
            <a:off x="536550" y="2487820"/>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p:cNvCxnSpPr/>
          <p:nvPr/>
        </p:nvCxnSpPr>
        <p:spPr>
          <a:xfrm flipH="1">
            <a:off x="536550" y="2808323"/>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1" name="직선 연결선 80"/>
          <p:cNvCxnSpPr/>
          <p:nvPr/>
        </p:nvCxnSpPr>
        <p:spPr>
          <a:xfrm flipH="1">
            <a:off x="536550" y="3128826"/>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2" name="직선 연결선 81"/>
          <p:cNvCxnSpPr/>
          <p:nvPr/>
        </p:nvCxnSpPr>
        <p:spPr>
          <a:xfrm flipH="1">
            <a:off x="536550" y="3449329"/>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3" name="직선 연결선 82"/>
          <p:cNvCxnSpPr/>
          <p:nvPr/>
        </p:nvCxnSpPr>
        <p:spPr>
          <a:xfrm flipH="1">
            <a:off x="536550" y="3769832"/>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H="1">
            <a:off x="536550" y="4090335"/>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6" name="직선 연결선 85"/>
          <p:cNvCxnSpPr/>
          <p:nvPr/>
        </p:nvCxnSpPr>
        <p:spPr>
          <a:xfrm flipH="1">
            <a:off x="536550" y="4410838"/>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7" name="직선 연결선 86"/>
          <p:cNvCxnSpPr/>
          <p:nvPr/>
        </p:nvCxnSpPr>
        <p:spPr>
          <a:xfrm flipH="1">
            <a:off x="536550" y="4731341"/>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8" name="직선 연결선 87"/>
          <p:cNvCxnSpPr/>
          <p:nvPr/>
        </p:nvCxnSpPr>
        <p:spPr>
          <a:xfrm flipH="1">
            <a:off x="536550" y="5051847"/>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마스터 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41160771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거래처 관리</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584434"/>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구매 업체 및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매출업체에</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대한 정보를 조회하는 프로그램 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8" name="TextBox 7">
            <a:extLst>
              <a:ext uri="{FF2B5EF4-FFF2-40B4-BE49-F238E27FC236}">
                <a16:creationId xmlns:a16="http://schemas.microsoft.com/office/drawing/2014/main" id="{B90186AB-10F7-0A0A-4756-EF3C110F88A1}"/>
              </a:ext>
            </a:extLst>
          </p:cNvPr>
          <p:cNvSpPr txBox="1"/>
          <p:nvPr/>
        </p:nvSpPr>
        <p:spPr>
          <a:xfrm>
            <a:off x="7558259" y="2254953"/>
            <a:ext cx="3005662" cy="1077218"/>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마스터성</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데이터로 각 업체의 이름이나 기타 추가 정보를 활용하는데 목적이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해당 데이터는 주기적으로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ERP</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에서 인터페이스 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2" name="그림 1"/>
          <p:cNvPicPr>
            <a:picLocks noChangeAspect="1"/>
          </p:cNvPicPr>
          <p:nvPr/>
        </p:nvPicPr>
        <p:blipFill>
          <a:blip r:embed="rId2"/>
          <a:stretch>
            <a:fillRect/>
          </a:stretch>
        </p:blipFill>
        <p:spPr>
          <a:xfrm>
            <a:off x="649287" y="1200058"/>
            <a:ext cx="6635054" cy="3924000"/>
          </a:xfrm>
          <a:prstGeom prst="rect">
            <a:avLst/>
          </a:prstGeom>
        </p:spPr>
      </p:pic>
      <p:sp>
        <p:nvSpPr>
          <p:cNvPr id="7" name="TextBox 6">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마스터 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83972656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a:latin typeface="Arita Dotum KR Medium" panose="02020603020101020101" pitchFamily="18" charset="-127"/>
                <a:ea typeface="Arita Dotum KR Medium" panose="02020603020101020101" pitchFamily="18" charset="-127"/>
              </a:rPr>
              <a:t>환급제한규정 관리</a:t>
            </a: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603092"/>
            <a:ext cx="3005662"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환급업무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진행 시 국가에서 지정한 특정 세번에 대한 제한규정을 관리하는 프로그램 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pic>
        <p:nvPicPr>
          <p:cNvPr id="3" name="그림 2"/>
          <p:cNvPicPr>
            <a:picLocks noChangeAspect="1"/>
          </p:cNvPicPr>
          <p:nvPr/>
        </p:nvPicPr>
        <p:blipFill>
          <a:blip r:embed="rId2"/>
          <a:stretch>
            <a:fillRect/>
          </a:stretch>
        </p:blipFill>
        <p:spPr>
          <a:xfrm>
            <a:off x="649287" y="1200058"/>
            <a:ext cx="6138089" cy="3558904"/>
          </a:xfrm>
          <a:prstGeom prst="rect">
            <a:avLst/>
          </a:prstGeom>
        </p:spPr>
      </p:pic>
      <p:sp>
        <p:nvSpPr>
          <p:cNvPr id="9" name="TextBox 8">
            <a:extLst>
              <a:ext uri="{FF2B5EF4-FFF2-40B4-BE49-F238E27FC236}">
                <a16:creationId xmlns:a16="http://schemas.microsoft.com/office/drawing/2014/main" id="{B90186AB-10F7-0A0A-4756-EF3C110F88A1}"/>
              </a:ext>
            </a:extLst>
          </p:cNvPr>
          <p:cNvSpPr txBox="1"/>
          <p:nvPr/>
        </p:nvSpPr>
        <p:spPr>
          <a:xfrm>
            <a:off x="7558259" y="2550874"/>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환급제한규정이 적용되는 원재료는 별도의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소명절차가</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필요합니다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4" name="그림 3"/>
          <p:cNvPicPr>
            <a:picLocks noChangeAspect="1"/>
          </p:cNvPicPr>
          <p:nvPr/>
        </p:nvPicPr>
        <p:blipFill>
          <a:blip r:embed="rId3"/>
          <a:stretch>
            <a:fillRect/>
          </a:stretch>
        </p:blipFill>
        <p:spPr>
          <a:xfrm>
            <a:off x="2830721" y="2979510"/>
            <a:ext cx="4252262" cy="1977255"/>
          </a:xfrm>
          <a:prstGeom prst="rect">
            <a:avLst/>
          </a:prstGeom>
          <a:effectLst>
            <a:outerShdw blurRad="50800" dist="38100" dir="2700000" algn="tl" rotWithShape="0">
              <a:prstClr val="black">
                <a:alpha val="40000"/>
              </a:prstClr>
            </a:outerShdw>
          </a:effectLst>
        </p:spPr>
      </p:pic>
      <p:pic>
        <p:nvPicPr>
          <p:cNvPr id="5" name="그림 4"/>
          <p:cNvPicPr>
            <a:picLocks noChangeAspect="1"/>
          </p:cNvPicPr>
          <p:nvPr/>
        </p:nvPicPr>
        <p:blipFill>
          <a:blip r:embed="rId4"/>
          <a:stretch>
            <a:fillRect/>
          </a:stretch>
        </p:blipFill>
        <p:spPr>
          <a:xfrm>
            <a:off x="7558259" y="3283212"/>
            <a:ext cx="667649" cy="215806"/>
          </a:xfrm>
          <a:prstGeom prst="rect">
            <a:avLst/>
          </a:prstGeom>
        </p:spPr>
      </p:pic>
      <p:sp>
        <p:nvSpPr>
          <p:cNvPr id="11" name="TextBox 10">
            <a:extLst>
              <a:ext uri="{FF2B5EF4-FFF2-40B4-BE49-F238E27FC236}">
                <a16:creationId xmlns:a16="http://schemas.microsoft.com/office/drawing/2014/main" id="{B90186AB-10F7-0A0A-4756-EF3C110F88A1}"/>
              </a:ext>
            </a:extLst>
          </p:cNvPr>
          <p:cNvSpPr txBox="1"/>
          <p:nvPr/>
        </p:nvSpPr>
        <p:spPr>
          <a:xfrm>
            <a:off x="7558259" y="3390934"/>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버튼을 이용하여 새로운 환급제한규정이 발생할 경우 추가할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2" name="TextBox 11">
            <a:extLst>
              <a:ext uri="{FF2B5EF4-FFF2-40B4-BE49-F238E27FC236}">
                <a16:creationId xmlns:a16="http://schemas.microsoft.com/office/drawing/2014/main" id="{B90186AB-10F7-0A0A-4756-EF3C110F88A1}"/>
              </a:ext>
            </a:extLst>
          </p:cNvPr>
          <p:cNvSpPr txBox="1"/>
          <p:nvPr/>
        </p:nvSpPr>
        <p:spPr>
          <a:xfrm>
            <a:off x="7558259" y="4111333"/>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더블클릭하여 해당 규정에 대한 내용을 수정할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3" name="직사각형 12"/>
          <p:cNvSpPr/>
          <p:nvPr/>
        </p:nvSpPr>
        <p:spPr>
          <a:xfrm>
            <a:off x="536550" y="5258216"/>
            <a:ext cx="2005928"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smtClean="0">
                <a:solidFill>
                  <a:schemeClr val="bg1"/>
                </a:solidFill>
                <a:latin typeface="Arita Dotum KR Medium" panose="02020603020101020101" pitchFamily="18" charset="-127"/>
                <a:ea typeface="Arita Dotum KR Medium" panose="02020603020101020101" pitchFamily="18" charset="-127"/>
              </a:rPr>
              <a:t>관리항목</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4" name="직사각형 13"/>
          <p:cNvSpPr/>
          <p:nvPr/>
        </p:nvSpPr>
        <p:spPr>
          <a:xfrm>
            <a:off x="2653990" y="5258216"/>
            <a:ext cx="7790986"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주요 항목 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5" name="TextBox 14">
            <a:extLst>
              <a:ext uri="{FF2B5EF4-FFF2-40B4-BE49-F238E27FC236}">
                <a16:creationId xmlns:a16="http://schemas.microsoft.com/office/drawing/2014/main" id="{B90186AB-10F7-0A0A-4756-EF3C110F88A1}"/>
              </a:ext>
            </a:extLst>
          </p:cNvPr>
          <p:cNvSpPr txBox="1"/>
          <p:nvPr/>
        </p:nvSpPr>
        <p:spPr>
          <a:xfrm>
            <a:off x="844418" y="5511862"/>
            <a:ext cx="9600558" cy="1292662"/>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환급제한규정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환급제한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규정에 대한 종류를 선택할 수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5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HS Code</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제한 규정의 대상이 되는 세번</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atinLnBrk="1">
              <a:lnSpc>
                <a:spcPct val="15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효력시작일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해당 제한 규정이 적용되는 시점</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atinLnBrk="1">
              <a:lnSpc>
                <a:spcPct val="15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효력종료일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해당 제한 규정이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종료되는 시점</a:t>
            </a: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16" name="직선 연결선 15"/>
          <p:cNvCxnSpPr/>
          <p:nvPr/>
        </p:nvCxnSpPr>
        <p:spPr>
          <a:xfrm flipH="1">
            <a:off x="536550" y="5876124"/>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직선 연결선 16"/>
          <p:cNvCxnSpPr/>
          <p:nvPr/>
        </p:nvCxnSpPr>
        <p:spPr>
          <a:xfrm flipH="1">
            <a:off x="536550" y="6185591"/>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flipH="1">
            <a:off x="536550" y="6495058"/>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a:xfrm flipH="1">
            <a:off x="536550" y="6804524"/>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마스터 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49601016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smtClean="0">
                <a:latin typeface="Arita Dotum KR Medium" panose="02020603020101020101" pitchFamily="18" charset="-127"/>
                <a:ea typeface="Arita Dotum KR Medium" panose="02020603020101020101" pitchFamily="18" charset="-127"/>
              </a:rPr>
              <a:t>자재마스터</a:t>
            </a:r>
            <a:r>
              <a:rPr lang="ko-KR" altLang="en-US" dirty="0" smtClean="0">
                <a:latin typeface="Arita Dotum KR Medium" panose="02020603020101020101" pitchFamily="18" charset="-127"/>
                <a:ea typeface="Arita Dotum KR Medium" panose="02020603020101020101" pitchFamily="18" charset="-127"/>
              </a:rPr>
              <a:t> 관리</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584434"/>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원재료</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제품의 마스터성정보를 조회하는 프로그램 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8" name="TextBox 7">
            <a:extLst>
              <a:ext uri="{FF2B5EF4-FFF2-40B4-BE49-F238E27FC236}">
                <a16:creationId xmlns:a16="http://schemas.microsoft.com/office/drawing/2014/main" id="{B90186AB-10F7-0A0A-4756-EF3C110F88A1}"/>
              </a:ext>
            </a:extLst>
          </p:cNvPr>
          <p:cNvSpPr txBox="1"/>
          <p:nvPr/>
        </p:nvSpPr>
        <p:spPr>
          <a:xfrm>
            <a:off x="7558259" y="2254953"/>
            <a:ext cx="3005662" cy="1077218"/>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마스터성</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데이터로 원재료 또는 제품의  추가 정보를 활용하는데 목적이 있습니다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a:p>
            <a:pPr lvl="0" latinLnBrk="1">
              <a:lnSpc>
                <a:spcPct val="10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해당 데이터는 주기적으로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ERP</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에서 인터페이스 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3" name="그림 2"/>
          <p:cNvPicPr>
            <a:picLocks noChangeAspect="1"/>
          </p:cNvPicPr>
          <p:nvPr/>
        </p:nvPicPr>
        <p:blipFill>
          <a:blip r:embed="rId2"/>
          <a:stretch>
            <a:fillRect/>
          </a:stretch>
        </p:blipFill>
        <p:spPr>
          <a:xfrm>
            <a:off x="649287" y="1200058"/>
            <a:ext cx="6636889" cy="3924000"/>
          </a:xfrm>
          <a:prstGeom prst="rect">
            <a:avLst/>
          </a:prstGeom>
        </p:spPr>
      </p:pic>
      <p:sp>
        <p:nvSpPr>
          <p:cNvPr id="7" name="TextBox 6">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마스터 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58044373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인터페이스 마스터</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603092"/>
            <a:ext cx="3005662"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ERP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데이터를 인터페이스하거나 각종 배치 프로그램을 수동으로 실행하는 프로그램입니다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9" name="TextBox 8">
            <a:extLst>
              <a:ext uri="{FF2B5EF4-FFF2-40B4-BE49-F238E27FC236}">
                <a16:creationId xmlns:a16="http://schemas.microsoft.com/office/drawing/2014/main" id="{B90186AB-10F7-0A0A-4756-EF3C110F88A1}"/>
              </a:ext>
            </a:extLst>
          </p:cNvPr>
          <p:cNvSpPr txBox="1"/>
          <p:nvPr/>
        </p:nvSpPr>
        <p:spPr>
          <a:xfrm>
            <a:off x="7558259" y="2550874"/>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다른 인터페이스가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Running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상태일 때에는 다른 인터페이스를 수행할 수 없습니다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3" name="직사각형 12"/>
          <p:cNvSpPr/>
          <p:nvPr/>
        </p:nvSpPr>
        <p:spPr>
          <a:xfrm>
            <a:off x="536550" y="5258216"/>
            <a:ext cx="2005928"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smtClean="0">
                <a:solidFill>
                  <a:schemeClr val="bg1"/>
                </a:solidFill>
                <a:latin typeface="Arita Dotum KR Medium" panose="02020603020101020101" pitchFamily="18" charset="-127"/>
                <a:ea typeface="Arita Dotum KR Medium" panose="02020603020101020101" pitchFamily="18" charset="-127"/>
              </a:rPr>
              <a:t>관리항목</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4" name="직사각형 13"/>
          <p:cNvSpPr/>
          <p:nvPr/>
        </p:nvSpPr>
        <p:spPr>
          <a:xfrm>
            <a:off x="2653990" y="5231639"/>
            <a:ext cx="7790986"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주요 항목 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5" name="TextBox 14">
            <a:extLst>
              <a:ext uri="{FF2B5EF4-FFF2-40B4-BE49-F238E27FC236}">
                <a16:creationId xmlns:a16="http://schemas.microsoft.com/office/drawing/2014/main" id="{B90186AB-10F7-0A0A-4756-EF3C110F88A1}"/>
              </a:ext>
            </a:extLst>
          </p:cNvPr>
          <p:cNvSpPr txBox="1"/>
          <p:nvPr/>
        </p:nvSpPr>
        <p:spPr>
          <a:xfrm>
            <a:off x="844418" y="5511862"/>
            <a:ext cx="9600558" cy="1292662"/>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상태                                         </a:t>
            </a:r>
            <a:r>
              <a:rPr lang="en-US" altLang="ko-KR"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Wating</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Running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상태가 있으며 모든 인터페이스가 </a:t>
            </a:r>
            <a:r>
              <a:rPr lang="en-US" altLang="ko-KR"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Wating</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 경우에만 인터페이스를 실행할 수 있음</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인터페이스 타입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OP :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관세환급이 데이터를 요청하는 형태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OD : EAI</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가 주기적으로 데이터를 전달해주는 형태</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50000"/>
              </a:lnSpc>
              <a:defRPr/>
            </a:pPr>
            <a:endPar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50000"/>
              </a:lnSpc>
              <a:defRPr/>
            </a:pP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16" name="직선 연결선 15"/>
          <p:cNvCxnSpPr/>
          <p:nvPr/>
        </p:nvCxnSpPr>
        <p:spPr>
          <a:xfrm flipH="1">
            <a:off x="536550" y="5876124"/>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직선 연결선 16"/>
          <p:cNvCxnSpPr/>
          <p:nvPr/>
        </p:nvCxnSpPr>
        <p:spPr>
          <a:xfrm flipH="1">
            <a:off x="536550" y="6185591"/>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2" name="그림 1"/>
          <p:cNvPicPr>
            <a:picLocks noChangeAspect="1"/>
          </p:cNvPicPr>
          <p:nvPr/>
        </p:nvPicPr>
        <p:blipFill>
          <a:blip r:embed="rId2"/>
          <a:stretch>
            <a:fillRect/>
          </a:stretch>
        </p:blipFill>
        <p:spPr>
          <a:xfrm>
            <a:off x="536550" y="1200058"/>
            <a:ext cx="6875796" cy="3573084"/>
          </a:xfrm>
          <a:prstGeom prst="rect">
            <a:avLst/>
          </a:prstGeom>
        </p:spPr>
      </p:pic>
      <p:sp>
        <p:nvSpPr>
          <p:cNvPr id="20" name="직사각형 19"/>
          <p:cNvSpPr/>
          <p:nvPr/>
        </p:nvSpPr>
        <p:spPr>
          <a:xfrm>
            <a:off x="617035" y="1603092"/>
            <a:ext cx="4386145" cy="2002469"/>
          </a:xfrm>
          <a:prstGeom prst="rect">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2" name="직사각형 21"/>
          <p:cNvSpPr/>
          <p:nvPr/>
        </p:nvSpPr>
        <p:spPr>
          <a:xfrm>
            <a:off x="5204404" y="3678465"/>
            <a:ext cx="2207942" cy="1039259"/>
          </a:xfrm>
          <a:prstGeom prst="rect">
            <a:avLst/>
          </a:prstGeom>
          <a:solidFill>
            <a:srgbClr val="FF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5" name="직사각형 24"/>
          <p:cNvSpPr/>
          <p:nvPr/>
        </p:nvSpPr>
        <p:spPr>
          <a:xfrm>
            <a:off x="5204405" y="1337021"/>
            <a:ext cx="2207942" cy="2268540"/>
          </a:xfrm>
          <a:prstGeom prst="rect">
            <a:avLst/>
          </a:prstGeom>
          <a:solidFill>
            <a:schemeClr val="accent5">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7" name="직사각형 26"/>
          <p:cNvSpPr/>
          <p:nvPr/>
        </p:nvSpPr>
        <p:spPr>
          <a:xfrm>
            <a:off x="7558259" y="3890331"/>
            <a:ext cx="396000" cy="216000"/>
          </a:xfrm>
          <a:prstGeom prst="rect">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8" name="직사각형 27"/>
          <p:cNvSpPr/>
          <p:nvPr/>
        </p:nvSpPr>
        <p:spPr>
          <a:xfrm>
            <a:off x="7558259" y="4495014"/>
            <a:ext cx="396000" cy="216000"/>
          </a:xfrm>
          <a:prstGeom prst="rect">
            <a:avLst/>
          </a:prstGeom>
          <a:solidFill>
            <a:srgbClr val="FF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7558259" y="4181029"/>
            <a:ext cx="396000" cy="216000"/>
          </a:xfrm>
          <a:prstGeom prst="rect">
            <a:avLst/>
          </a:prstGeom>
          <a:solidFill>
            <a:schemeClr val="accent5">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1" name="TextBox 30">
            <a:extLst>
              <a:ext uri="{FF2B5EF4-FFF2-40B4-BE49-F238E27FC236}">
                <a16:creationId xmlns:a16="http://schemas.microsoft.com/office/drawing/2014/main" id="{B90186AB-10F7-0A0A-4756-EF3C110F88A1}"/>
              </a:ext>
            </a:extLst>
          </p:cNvPr>
          <p:cNvSpPr txBox="1"/>
          <p:nvPr/>
        </p:nvSpPr>
        <p:spPr>
          <a:xfrm>
            <a:off x="8100171" y="3892890"/>
            <a:ext cx="179389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인터페이스 목록</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8100171" y="4181675"/>
            <a:ext cx="179389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인터페이스 상세 정보</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34" name="TextBox 33">
            <a:extLst>
              <a:ext uri="{FF2B5EF4-FFF2-40B4-BE49-F238E27FC236}">
                <a16:creationId xmlns:a16="http://schemas.microsoft.com/office/drawing/2014/main" id="{B90186AB-10F7-0A0A-4756-EF3C110F88A1}"/>
              </a:ext>
            </a:extLst>
          </p:cNvPr>
          <p:cNvSpPr txBox="1"/>
          <p:nvPr/>
        </p:nvSpPr>
        <p:spPr>
          <a:xfrm>
            <a:off x="8100171" y="4495014"/>
            <a:ext cx="2344805"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인터페이스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수동실행</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영역</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7" name="직사각형 6"/>
          <p:cNvSpPr/>
          <p:nvPr/>
        </p:nvSpPr>
        <p:spPr>
          <a:xfrm>
            <a:off x="844418" y="3762637"/>
            <a:ext cx="3731941" cy="713678"/>
          </a:xfrm>
          <a:prstGeom prst="rect">
            <a:avLst/>
          </a:prstGeom>
          <a:solidFill>
            <a:schemeClr val="bg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b="1"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분증생성</a:t>
            </a:r>
            <a:r>
              <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배치</a:t>
            </a:r>
            <a:r>
              <a:rPr lang="en-US" altLang="ko-KR"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기초납입증명서 생성 </a:t>
            </a:r>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배치는</a:t>
            </a:r>
            <a:endPar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algn="ctr"/>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AP </a:t>
            </a:r>
            <a:r>
              <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법인만 실행 가능합니다</a:t>
            </a:r>
            <a:r>
              <a:rPr lang="en-US" altLang="ko-KR"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4" name="TextBox 23">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시스템</a:t>
            </a: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 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403578832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0913"/>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인터페이스 마스터</a:t>
            </a:r>
            <a:r>
              <a:rPr lang="en-US" altLang="ko-KR" dirty="0" smtClean="0">
                <a:latin typeface="Arita Dotum KR Medium" panose="02020603020101020101" pitchFamily="18" charset="-127"/>
                <a:ea typeface="Arita Dotum KR Medium" panose="02020603020101020101" pitchFamily="18" charset="-127"/>
              </a:rPr>
              <a:t>(</a:t>
            </a:r>
            <a:r>
              <a:rPr lang="ko-KR" altLang="en-US" dirty="0" smtClean="0">
                <a:latin typeface="Arita Dotum KR Medium" panose="02020603020101020101" pitchFamily="18" charset="-127"/>
                <a:ea typeface="Arita Dotum KR Medium" panose="02020603020101020101" pitchFamily="18" charset="-127"/>
              </a:rPr>
              <a:t>계속</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pic>
        <p:nvPicPr>
          <p:cNvPr id="2" name="그림 1"/>
          <p:cNvPicPr>
            <a:picLocks noChangeAspect="1"/>
          </p:cNvPicPr>
          <p:nvPr/>
        </p:nvPicPr>
        <p:blipFill>
          <a:blip r:embed="rId2"/>
          <a:stretch>
            <a:fillRect/>
          </a:stretch>
        </p:blipFill>
        <p:spPr>
          <a:xfrm>
            <a:off x="1530768" y="1200058"/>
            <a:ext cx="7833474" cy="4070752"/>
          </a:xfrm>
          <a:prstGeom prst="rect">
            <a:avLst/>
          </a:prstGeom>
        </p:spPr>
      </p:pic>
      <p:sp>
        <p:nvSpPr>
          <p:cNvPr id="21" name="직사각형 20"/>
          <p:cNvSpPr/>
          <p:nvPr/>
        </p:nvSpPr>
        <p:spPr>
          <a:xfrm>
            <a:off x="1600857" y="1622915"/>
            <a:ext cx="5067571" cy="2384089"/>
          </a:xfrm>
          <a:prstGeom prst="rect">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4" name="직사각형 23"/>
          <p:cNvSpPr/>
          <p:nvPr/>
        </p:nvSpPr>
        <p:spPr>
          <a:xfrm>
            <a:off x="6799976" y="4007003"/>
            <a:ext cx="2564266" cy="1129991"/>
          </a:xfrm>
          <a:prstGeom prst="rect">
            <a:avLst/>
          </a:prstGeom>
          <a:solidFill>
            <a:srgbClr val="FF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5" name="직사각형 34"/>
          <p:cNvSpPr/>
          <p:nvPr/>
        </p:nvSpPr>
        <p:spPr>
          <a:xfrm>
            <a:off x="536550" y="5456664"/>
            <a:ext cx="2110006"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smtClean="0">
                <a:solidFill>
                  <a:schemeClr val="bg1"/>
                </a:solidFill>
                <a:latin typeface="Arita Dotum KR Medium" panose="02020603020101020101" pitchFamily="18" charset="-127"/>
                <a:ea typeface="Arita Dotum KR Medium" panose="02020603020101020101" pitchFamily="18" charset="-127"/>
              </a:rPr>
              <a:t>인터페이스 </a:t>
            </a:r>
            <a:r>
              <a:rPr lang="ko-KR" altLang="en-US" sz="1400" dirty="0" err="1" smtClean="0">
                <a:solidFill>
                  <a:schemeClr val="bg1"/>
                </a:solidFill>
                <a:latin typeface="Arita Dotum KR Medium" panose="02020603020101020101" pitchFamily="18" charset="-127"/>
                <a:ea typeface="Arita Dotum KR Medium" panose="02020603020101020101" pitchFamily="18" charset="-127"/>
              </a:rPr>
              <a:t>수동실행</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37" name="직사각형 36"/>
          <p:cNvSpPr/>
          <p:nvPr/>
        </p:nvSpPr>
        <p:spPr>
          <a:xfrm>
            <a:off x="649287" y="5831884"/>
            <a:ext cx="396000" cy="216000"/>
          </a:xfrm>
          <a:prstGeom prst="rect">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8" name="TextBox 37">
            <a:extLst>
              <a:ext uri="{FF2B5EF4-FFF2-40B4-BE49-F238E27FC236}">
                <a16:creationId xmlns:a16="http://schemas.microsoft.com/office/drawing/2014/main" id="{B90186AB-10F7-0A0A-4756-EF3C110F88A1}"/>
              </a:ext>
            </a:extLst>
          </p:cNvPr>
          <p:cNvSpPr txBox="1"/>
          <p:nvPr/>
        </p:nvSpPr>
        <p:spPr>
          <a:xfrm>
            <a:off x="645166" y="5798081"/>
            <a:ext cx="9600558" cy="28360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영역의 인터페이스 항목을 더블클릭하여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수동실행을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하고자하는</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인터페이스 항목을 선택합니다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39" name="직사각형 38"/>
          <p:cNvSpPr/>
          <p:nvPr/>
        </p:nvSpPr>
        <p:spPr>
          <a:xfrm>
            <a:off x="649287" y="6153521"/>
            <a:ext cx="396000" cy="216000"/>
          </a:xfrm>
          <a:prstGeom prst="rect">
            <a:avLst/>
          </a:prstGeom>
          <a:solidFill>
            <a:srgbClr val="FF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40" name="TextBox 39">
            <a:extLst>
              <a:ext uri="{FF2B5EF4-FFF2-40B4-BE49-F238E27FC236}">
                <a16:creationId xmlns:a16="http://schemas.microsoft.com/office/drawing/2014/main" id="{B90186AB-10F7-0A0A-4756-EF3C110F88A1}"/>
              </a:ext>
            </a:extLst>
          </p:cNvPr>
          <p:cNvSpPr txBox="1"/>
          <p:nvPr/>
        </p:nvSpPr>
        <p:spPr>
          <a:xfrm>
            <a:off x="645166" y="6121246"/>
            <a:ext cx="9600558" cy="28360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5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영역에서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시작일자와</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종료일자를</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입력하여 해당 기간만큼 설정한 후                                  버튼을 클릭하여 인터페이스를 수행</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3" name="그림 2"/>
          <p:cNvPicPr>
            <a:picLocks noChangeAspect="1"/>
          </p:cNvPicPr>
          <p:nvPr/>
        </p:nvPicPr>
        <p:blipFill>
          <a:blip r:embed="rId3"/>
          <a:stretch>
            <a:fillRect/>
          </a:stretch>
        </p:blipFill>
        <p:spPr>
          <a:xfrm>
            <a:off x="6281143" y="6156968"/>
            <a:ext cx="1095980" cy="212554"/>
          </a:xfrm>
          <a:prstGeom prst="rect">
            <a:avLst/>
          </a:prstGeom>
        </p:spPr>
      </p:pic>
      <p:sp>
        <p:nvSpPr>
          <p:cNvPr id="41" name="직사각형 40"/>
          <p:cNvSpPr/>
          <p:nvPr/>
        </p:nvSpPr>
        <p:spPr>
          <a:xfrm>
            <a:off x="2189999" y="4132402"/>
            <a:ext cx="3731941" cy="713678"/>
          </a:xfrm>
          <a:prstGeom prst="rect">
            <a:avLst/>
          </a:prstGeom>
          <a:solidFill>
            <a:schemeClr val="bg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b="1"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분증생성</a:t>
            </a:r>
            <a:r>
              <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배치</a:t>
            </a:r>
            <a:r>
              <a:rPr lang="en-US" altLang="ko-KR"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기초납입증명서 생성 </a:t>
            </a:r>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배치는</a:t>
            </a:r>
            <a:endPar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algn="ctr"/>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AP </a:t>
            </a:r>
            <a:r>
              <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법인만 실행 가능합니다</a:t>
            </a:r>
            <a:r>
              <a:rPr lang="en-US" altLang="ko-KR"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13" name="TextBox 12">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시스템</a:t>
            </a: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 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28612416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p:cNvPicPr>
            <a:picLocks noChangeAspect="1"/>
          </p:cNvPicPr>
          <p:nvPr/>
        </p:nvPicPr>
        <p:blipFill>
          <a:blip r:embed="rId2"/>
          <a:stretch>
            <a:fillRect/>
          </a:stretch>
        </p:blipFill>
        <p:spPr>
          <a:xfrm>
            <a:off x="536550" y="1200058"/>
            <a:ext cx="6875796" cy="3924000"/>
          </a:xfrm>
          <a:prstGeom prst="rect">
            <a:avLst/>
          </a:prstGeom>
        </p:spPr>
      </p:pic>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smtClean="0">
                <a:latin typeface="Arita Dotum KR Medium" panose="02020603020101020101" pitchFamily="18" charset="-127"/>
                <a:ea typeface="Arita Dotum KR Medium" panose="02020603020101020101" pitchFamily="18" charset="-127"/>
              </a:rPr>
              <a:t>권한관리</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593067"/>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시스템에서 사용하는 권한을 관리하는 프로그램입니다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9" name="TextBox 8">
            <a:extLst>
              <a:ext uri="{FF2B5EF4-FFF2-40B4-BE49-F238E27FC236}">
                <a16:creationId xmlns:a16="http://schemas.microsoft.com/office/drawing/2014/main" id="{B90186AB-10F7-0A0A-4756-EF3C110F88A1}"/>
              </a:ext>
            </a:extLst>
          </p:cNvPr>
          <p:cNvSpPr txBox="1"/>
          <p:nvPr/>
        </p:nvSpPr>
        <p:spPr>
          <a:xfrm>
            <a:off x="7558259" y="2972044"/>
            <a:ext cx="3005662"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권한을 추가하거나 삭제할 경우 데이터가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IAM</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으로 연동되어 자동으로 동기화가 수행됩니다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배치 간격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2</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시간</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13" name="직사각형 12"/>
          <p:cNvSpPr/>
          <p:nvPr/>
        </p:nvSpPr>
        <p:spPr>
          <a:xfrm>
            <a:off x="536550" y="5258216"/>
            <a:ext cx="2005928"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smtClean="0">
                <a:solidFill>
                  <a:schemeClr val="bg1"/>
                </a:solidFill>
                <a:latin typeface="Arita Dotum KR Medium" panose="02020603020101020101" pitchFamily="18" charset="-127"/>
                <a:ea typeface="Arita Dotum KR Medium" panose="02020603020101020101" pitchFamily="18" charset="-127"/>
              </a:rPr>
              <a:t>관리항목</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4" name="직사각형 13"/>
          <p:cNvSpPr/>
          <p:nvPr/>
        </p:nvSpPr>
        <p:spPr>
          <a:xfrm>
            <a:off x="2653990" y="5231639"/>
            <a:ext cx="7790986" cy="2973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bg1"/>
                </a:solidFill>
                <a:latin typeface="Arita Dotum KR Medium" panose="02020603020101020101" pitchFamily="18" charset="-127"/>
                <a:ea typeface="Arita Dotum KR Medium" panose="02020603020101020101" pitchFamily="18" charset="-127"/>
              </a:rPr>
              <a:t>주요 항목 설명</a:t>
            </a:r>
            <a:endParaRPr lang="ko-KR" altLang="en-US" sz="1400" dirty="0">
              <a:solidFill>
                <a:schemeClr val="bg1"/>
              </a:solidFill>
              <a:latin typeface="Arita Dotum KR Medium" panose="02020603020101020101" pitchFamily="18" charset="-127"/>
              <a:ea typeface="Arita Dotum KR Medium" panose="02020603020101020101" pitchFamily="18" charset="-127"/>
            </a:endParaRPr>
          </a:p>
        </p:txBody>
      </p:sp>
      <p:sp>
        <p:nvSpPr>
          <p:cNvPr id="15" name="TextBox 14">
            <a:extLst>
              <a:ext uri="{FF2B5EF4-FFF2-40B4-BE49-F238E27FC236}">
                <a16:creationId xmlns:a16="http://schemas.microsoft.com/office/drawing/2014/main" id="{B90186AB-10F7-0A0A-4756-EF3C110F88A1}"/>
              </a:ext>
            </a:extLst>
          </p:cNvPr>
          <p:cNvSpPr txBox="1"/>
          <p:nvPr/>
        </p:nvSpPr>
        <p:spPr>
          <a:xfrm>
            <a:off x="1307155" y="5511862"/>
            <a:ext cx="9600558" cy="1292662"/>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5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선택한 메뉴에 대해서 권한을 부여</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 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모든 메뉴에 대해서 권한을 부여</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5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선택한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메뉴에 대해서 권한을 제거</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endParaRPr>
          </a:p>
          <a:p>
            <a:pPr marL="285750" lvl="0" indent="-285750" latinLnBrk="1">
              <a:lnSpc>
                <a:spcPct val="150000"/>
              </a:lnSpc>
              <a:buFont typeface="Wingdings" panose="05000000000000000000" pitchFamily="2" charset="2"/>
              <a:buChar char="ß"/>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sym typeface="Wingdings" panose="05000000000000000000" pitchFamily="2" charset="2"/>
              </a:rPr>
              <a:t>모든 메뉴에 대해서 권한을 제거</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16" name="직선 연결선 15"/>
          <p:cNvCxnSpPr/>
          <p:nvPr/>
        </p:nvCxnSpPr>
        <p:spPr>
          <a:xfrm flipH="1">
            <a:off x="536550" y="5876124"/>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직선 연결선 16"/>
          <p:cNvCxnSpPr/>
          <p:nvPr/>
        </p:nvCxnSpPr>
        <p:spPr>
          <a:xfrm flipH="1">
            <a:off x="536550" y="6185591"/>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직사각형 19"/>
          <p:cNvSpPr/>
          <p:nvPr/>
        </p:nvSpPr>
        <p:spPr>
          <a:xfrm>
            <a:off x="617035" y="1603093"/>
            <a:ext cx="2222809" cy="1518298"/>
          </a:xfrm>
          <a:prstGeom prst="rect">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2" name="직사각형 21"/>
          <p:cNvSpPr/>
          <p:nvPr/>
        </p:nvSpPr>
        <p:spPr>
          <a:xfrm>
            <a:off x="617035" y="3255549"/>
            <a:ext cx="6735336" cy="1868509"/>
          </a:xfrm>
          <a:prstGeom prst="rect">
            <a:avLst/>
          </a:prstGeom>
          <a:solidFill>
            <a:srgbClr val="FF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5" name="직사각형 24"/>
          <p:cNvSpPr/>
          <p:nvPr/>
        </p:nvSpPr>
        <p:spPr>
          <a:xfrm>
            <a:off x="2870477" y="1602854"/>
            <a:ext cx="4481894" cy="1486629"/>
          </a:xfrm>
          <a:prstGeom prst="rect">
            <a:avLst/>
          </a:prstGeom>
          <a:solidFill>
            <a:schemeClr val="accent5">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7" name="직사각형 26"/>
          <p:cNvSpPr/>
          <p:nvPr/>
        </p:nvSpPr>
        <p:spPr>
          <a:xfrm>
            <a:off x="7558259" y="3890331"/>
            <a:ext cx="396000" cy="216000"/>
          </a:xfrm>
          <a:prstGeom prst="rect">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8" name="직사각형 27"/>
          <p:cNvSpPr/>
          <p:nvPr/>
        </p:nvSpPr>
        <p:spPr>
          <a:xfrm>
            <a:off x="7558259" y="4495014"/>
            <a:ext cx="396000" cy="216000"/>
          </a:xfrm>
          <a:prstGeom prst="rect">
            <a:avLst/>
          </a:prstGeom>
          <a:solidFill>
            <a:srgbClr val="FF00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7558259" y="4181029"/>
            <a:ext cx="396000" cy="216000"/>
          </a:xfrm>
          <a:prstGeom prst="rect">
            <a:avLst/>
          </a:prstGeom>
          <a:solidFill>
            <a:schemeClr val="accent5">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1" name="TextBox 30">
            <a:extLst>
              <a:ext uri="{FF2B5EF4-FFF2-40B4-BE49-F238E27FC236}">
                <a16:creationId xmlns:a16="http://schemas.microsoft.com/office/drawing/2014/main" id="{B90186AB-10F7-0A0A-4756-EF3C110F88A1}"/>
              </a:ext>
            </a:extLst>
          </p:cNvPr>
          <p:cNvSpPr txBox="1"/>
          <p:nvPr/>
        </p:nvSpPr>
        <p:spPr>
          <a:xfrm>
            <a:off x="8100171" y="3892890"/>
            <a:ext cx="179389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권한 목록</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8100171" y="4181675"/>
            <a:ext cx="179389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권한 상세 정보</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34" name="TextBox 33">
            <a:extLst>
              <a:ext uri="{FF2B5EF4-FFF2-40B4-BE49-F238E27FC236}">
                <a16:creationId xmlns:a16="http://schemas.microsoft.com/office/drawing/2014/main" id="{B90186AB-10F7-0A0A-4756-EF3C110F88A1}"/>
              </a:ext>
            </a:extLst>
          </p:cNvPr>
          <p:cNvSpPr txBox="1"/>
          <p:nvPr/>
        </p:nvSpPr>
        <p:spPr>
          <a:xfrm>
            <a:off x="8100171" y="4495014"/>
            <a:ext cx="2344805"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권한별</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사용가능한</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메뉴 목록</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4" name="TextBox 23">
            <a:extLst>
              <a:ext uri="{FF2B5EF4-FFF2-40B4-BE49-F238E27FC236}">
                <a16:creationId xmlns:a16="http://schemas.microsoft.com/office/drawing/2014/main" id="{B90186AB-10F7-0A0A-4756-EF3C110F88A1}"/>
              </a:ext>
            </a:extLst>
          </p:cNvPr>
          <p:cNvSpPr txBox="1"/>
          <p:nvPr/>
        </p:nvSpPr>
        <p:spPr>
          <a:xfrm>
            <a:off x="7558259" y="2152153"/>
            <a:ext cx="3005662"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메뉴 권한이 제거 되면 해당 권한을 가진 사용자는 삭제된 메뉴에 대해서 사용할 수 없습니다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cxnSp>
        <p:nvCxnSpPr>
          <p:cNvPr id="26" name="직선 연결선 25"/>
          <p:cNvCxnSpPr/>
          <p:nvPr/>
        </p:nvCxnSpPr>
        <p:spPr>
          <a:xfrm flipH="1">
            <a:off x="536550" y="6497825"/>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p:cNvCxnSpPr/>
          <p:nvPr/>
        </p:nvCxnSpPr>
        <p:spPr>
          <a:xfrm flipH="1">
            <a:off x="536550" y="6804524"/>
            <a:ext cx="9908426"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시스템</a:t>
            </a: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 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28248545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a:blip r:embed="rId2"/>
          <a:stretch>
            <a:fillRect/>
          </a:stretch>
        </p:blipFill>
        <p:spPr>
          <a:xfrm>
            <a:off x="511761" y="1276560"/>
            <a:ext cx="6884854" cy="2613771"/>
          </a:xfrm>
          <a:prstGeom prst="rect">
            <a:avLst/>
          </a:prstGeom>
        </p:spPr>
      </p:pic>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err="1" smtClean="0">
                <a:latin typeface="Arita Dotum KR Medium" panose="02020603020101020101" pitchFamily="18" charset="-127"/>
                <a:ea typeface="Arita Dotum KR Medium" panose="02020603020101020101" pitchFamily="18" charset="-127"/>
              </a:rPr>
              <a:t>권한관리</a:t>
            </a:r>
            <a:endParaRPr lang="ko-KR" altLang="en-US" dirty="0">
              <a:latin typeface="Arita Dotum KR Medium" panose="02020603020101020101" pitchFamily="18" charset="-127"/>
              <a:ea typeface="Arita Dotum KR Medium" panose="02020603020101020101" pitchFamily="18" charset="-127"/>
            </a:endParaRPr>
          </a:p>
        </p:txBody>
      </p:sp>
      <p:sp>
        <p:nvSpPr>
          <p:cNvPr id="23" name="TextBox 22">
            <a:extLst>
              <a:ext uri="{FF2B5EF4-FFF2-40B4-BE49-F238E27FC236}">
                <a16:creationId xmlns:a16="http://schemas.microsoft.com/office/drawing/2014/main" id="{B90186AB-10F7-0A0A-4756-EF3C110F88A1}"/>
              </a:ext>
            </a:extLst>
          </p:cNvPr>
          <p:cNvSpPr txBox="1"/>
          <p:nvPr/>
        </p:nvSpPr>
        <p:spPr>
          <a:xfrm>
            <a:off x="7558259" y="1593067"/>
            <a:ext cx="3005662"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시스템에서 사용되는 메뉴를 관리하는 프로그램 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29" name="모서리가 둥근 직사각형 28"/>
          <p:cNvSpPr/>
          <p:nvPr/>
        </p:nvSpPr>
        <p:spPr>
          <a:xfrm>
            <a:off x="7558259" y="1200058"/>
            <a:ext cx="3005662" cy="31966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latin typeface="Arita Dotum KR Medium" panose="02020603020101020101" pitchFamily="18" charset="-127"/>
                <a:ea typeface="Arita Dotum KR Medium" panose="02020603020101020101" pitchFamily="18" charset="-127"/>
              </a:rPr>
              <a:t>프로그램 개요</a:t>
            </a:r>
          </a:p>
        </p:txBody>
      </p:sp>
      <p:sp>
        <p:nvSpPr>
          <p:cNvPr id="20" name="직사각형 19"/>
          <p:cNvSpPr/>
          <p:nvPr/>
        </p:nvSpPr>
        <p:spPr>
          <a:xfrm>
            <a:off x="617036" y="1603092"/>
            <a:ext cx="2091798" cy="2180887"/>
          </a:xfrm>
          <a:prstGeom prst="rect">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5" name="직사각형 24"/>
          <p:cNvSpPr/>
          <p:nvPr/>
        </p:nvSpPr>
        <p:spPr>
          <a:xfrm>
            <a:off x="2870477" y="1903141"/>
            <a:ext cx="4481894" cy="1186342"/>
          </a:xfrm>
          <a:prstGeom prst="rect">
            <a:avLst/>
          </a:prstGeom>
          <a:solidFill>
            <a:schemeClr val="accent5">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7" name="직사각형 26"/>
          <p:cNvSpPr/>
          <p:nvPr/>
        </p:nvSpPr>
        <p:spPr>
          <a:xfrm>
            <a:off x="7558259" y="3375793"/>
            <a:ext cx="396000" cy="216000"/>
          </a:xfrm>
          <a:prstGeom prst="rect">
            <a:avLst/>
          </a:prstGeom>
          <a:solidFill>
            <a:schemeClr val="accent1">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7558259" y="3666491"/>
            <a:ext cx="396000" cy="216000"/>
          </a:xfrm>
          <a:prstGeom prst="rect">
            <a:avLst/>
          </a:prstGeom>
          <a:solidFill>
            <a:schemeClr val="accent5">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1" name="TextBox 30">
            <a:extLst>
              <a:ext uri="{FF2B5EF4-FFF2-40B4-BE49-F238E27FC236}">
                <a16:creationId xmlns:a16="http://schemas.microsoft.com/office/drawing/2014/main" id="{B90186AB-10F7-0A0A-4756-EF3C110F88A1}"/>
              </a:ext>
            </a:extLst>
          </p:cNvPr>
          <p:cNvSpPr txBox="1"/>
          <p:nvPr/>
        </p:nvSpPr>
        <p:spPr>
          <a:xfrm>
            <a:off x="8100171" y="3378352"/>
            <a:ext cx="179389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메뉴 목록</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32" name="TextBox 31">
            <a:extLst>
              <a:ext uri="{FF2B5EF4-FFF2-40B4-BE49-F238E27FC236}">
                <a16:creationId xmlns:a16="http://schemas.microsoft.com/office/drawing/2014/main" id="{B90186AB-10F7-0A0A-4756-EF3C110F88A1}"/>
              </a:ext>
            </a:extLst>
          </p:cNvPr>
          <p:cNvSpPr txBox="1"/>
          <p:nvPr/>
        </p:nvSpPr>
        <p:spPr>
          <a:xfrm>
            <a:off x="8100171" y="3667137"/>
            <a:ext cx="1793897" cy="215444"/>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메뉴 상세 정보</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24" name="TextBox 23">
            <a:extLst>
              <a:ext uri="{FF2B5EF4-FFF2-40B4-BE49-F238E27FC236}">
                <a16:creationId xmlns:a16="http://schemas.microsoft.com/office/drawing/2014/main" id="{B90186AB-10F7-0A0A-4756-EF3C110F88A1}"/>
              </a:ext>
            </a:extLst>
          </p:cNvPr>
          <p:cNvSpPr txBox="1"/>
          <p:nvPr/>
        </p:nvSpPr>
        <p:spPr>
          <a:xfrm>
            <a:off x="7558259" y="2319865"/>
            <a:ext cx="3005662"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권한관리에서 </a:t>
            </a:r>
            <a:r>
              <a:rPr lang="ko-KR" altLang="en-US" sz="14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메뉴권한이</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부여되어 있어도 메뉴관리에서 해당 메뉴의 사용여부가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No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지정되어 있을 경우 메뉴를 사용할 수 없습니다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p>
        </p:txBody>
      </p:sp>
      <p:sp>
        <p:nvSpPr>
          <p:cNvPr id="13" name="TextBox 12">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시스템</a:t>
            </a: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 관리</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2687105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75356" y="3010830"/>
            <a:ext cx="1620957" cy="1218795"/>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7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부록</a:t>
            </a:r>
          </a:p>
        </p:txBody>
      </p:sp>
    </p:spTree>
    <p:extLst>
      <p:ext uri="{BB962C8B-B14F-4D97-AF65-F5344CB8AC3E}">
        <p14:creationId xmlns:p14="http://schemas.microsoft.com/office/powerpoint/2010/main" val="334853369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그림 9"/>
          <p:cNvPicPr>
            <a:picLocks noChangeAspect="1"/>
          </p:cNvPicPr>
          <p:nvPr/>
        </p:nvPicPr>
        <p:blipFill>
          <a:blip r:embed="rId2"/>
          <a:stretch>
            <a:fillRect/>
          </a:stretch>
        </p:blipFill>
        <p:spPr>
          <a:xfrm>
            <a:off x="797335" y="1257420"/>
            <a:ext cx="1486621" cy="2653990"/>
          </a:xfrm>
          <a:prstGeom prst="rect">
            <a:avLst/>
          </a:prstGeom>
        </p:spPr>
      </p:pic>
      <p:sp>
        <p:nvSpPr>
          <p:cNvPr id="20" name="TextBox 19">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아리따-돋움(TTF)-Bold" panose="02020603020101020101" pitchFamily="18" charset="-127"/>
                <a:ea typeface="아리따-돋움(TTF)-Bold" panose="02020603020101020101" pitchFamily="18" charset="-127"/>
              </a:defRPr>
            </a:lvl1pPr>
          </a:lstStyle>
          <a:p>
            <a:r>
              <a:rPr lang="ko-KR" altLang="en-US" dirty="0" smtClean="0">
                <a:latin typeface="Arita Dotum KR Medium" panose="02020603020101020101" pitchFamily="18" charset="-127"/>
                <a:ea typeface="Arita Dotum KR Medium" panose="02020603020101020101" pitchFamily="18" charset="-127"/>
              </a:rPr>
              <a:t>부록</a:t>
            </a:r>
            <a:r>
              <a:rPr lang="en-US" altLang="ko-KR" dirty="0" smtClean="0">
                <a:latin typeface="Arita Dotum KR Medium" panose="02020603020101020101" pitchFamily="18" charset="-127"/>
                <a:ea typeface="Arita Dotum KR Medium" panose="02020603020101020101" pitchFamily="18" charset="-127"/>
              </a:rPr>
              <a:t>1. Edge </a:t>
            </a:r>
            <a:r>
              <a:rPr lang="ko-KR" altLang="en-US" dirty="0">
                <a:latin typeface="Arita Dotum KR Medium" panose="02020603020101020101" pitchFamily="18" charset="-127"/>
                <a:ea typeface="Arita Dotum KR Medium" panose="02020603020101020101" pitchFamily="18" charset="-127"/>
              </a:rPr>
              <a:t>브라우저 </a:t>
            </a:r>
            <a:r>
              <a:rPr lang="en-US" altLang="ko-KR" dirty="0">
                <a:latin typeface="Arita Dotum KR Medium" panose="02020603020101020101" pitchFamily="18" charset="-127"/>
                <a:ea typeface="Arita Dotum KR Medium" panose="02020603020101020101" pitchFamily="18" charset="-127"/>
              </a:rPr>
              <a:t>Internet Explorer </a:t>
            </a:r>
            <a:r>
              <a:rPr lang="ko-KR" altLang="en-US" dirty="0">
                <a:latin typeface="Arita Dotum KR Medium" panose="02020603020101020101" pitchFamily="18" charset="-127"/>
                <a:ea typeface="Arita Dotum KR Medium" panose="02020603020101020101" pitchFamily="18" charset="-127"/>
              </a:rPr>
              <a:t>모드 페이지 등록</a:t>
            </a:r>
          </a:p>
        </p:txBody>
      </p:sp>
      <p:sp>
        <p:nvSpPr>
          <p:cNvPr id="14" name="직사각형 13"/>
          <p:cNvSpPr/>
          <p:nvPr/>
        </p:nvSpPr>
        <p:spPr>
          <a:xfrm>
            <a:off x="1037958" y="2914185"/>
            <a:ext cx="2552736" cy="899532"/>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pic>
        <p:nvPicPr>
          <p:cNvPr id="11" name="그림 10"/>
          <p:cNvPicPr>
            <a:picLocks noChangeAspect="1"/>
          </p:cNvPicPr>
          <p:nvPr/>
        </p:nvPicPr>
        <p:blipFill>
          <a:blip r:embed="rId3"/>
          <a:stretch>
            <a:fillRect/>
          </a:stretch>
        </p:blipFill>
        <p:spPr>
          <a:xfrm>
            <a:off x="1037957" y="3012531"/>
            <a:ext cx="2487923" cy="710835"/>
          </a:xfrm>
          <a:prstGeom prst="rect">
            <a:avLst/>
          </a:prstGeom>
        </p:spPr>
      </p:pic>
      <p:pic>
        <p:nvPicPr>
          <p:cNvPr id="15" name="그림 14"/>
          <p:cNvPicPr>
            <a:picLocks noChangeAspect="1"/>
          </p:cNvPicPr>
          <p:nvPr/>
        </p:nvPicPr>
        <p:blipFill>
          <a:blip r:embed="rId4"/>
          <a:stretch>
            <a:fillRect/>
          </a:stretch>
        </p:blipFill>
        <p:spPr>
          <a:xfrm>
            <a:off x="5764167" y="1159727"/>
            <a:ext cx="2127640" cy="2653990"/>
          </a:xfrm>
          <a:prstGeom prst="rect">
            <a:avLst/>
          </a:prstGeom>
        </p:spPr>
      </p:pic>
      <p:sp>
        <p:nvSpPr>
          <p:cNvPr id="28" name="TextBox 27">
            <a:extLst>
              <a:ext uri="{FF2B5EF4-FFF2-40B4-BE49-F238E27FC236}">
                <a16:creationId xmlns:a16="http://schemas.microsoft.com/office/drawing/2014/main" id="{B90186AB-10F7-0A0A-4756-EF3C110F88A1}"/>
              </a:ext>
            </a:extLst>
          </p:cNvPr>
          <p:cNvSpPr txBox="1"/>
          <p:nvPr/>
        </p:nvSpPr>
        <p:spPr>
          <a:xfrm>
            <a:off x="8016402" y="1595333"/>
            <a:ext cx="2546321"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설정 메뉴에서 기본브라우저를 </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선택합니다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grpSp>
        <p:nvGrpSpPr>
          <p:cNvPr id="23" name="그룹 22"/>
          <p:cNvGrpSpPr/>
          <p:nvPr/>
        </p:nvGrpSpPr>
        <p:grpSpPr>
          <a:xfrm>
            <a:off x="2811387" y="1805596"/>
            <a:ext cx="2027004" cy="646331"/>
            <a:chOff x="4182987" y="2036716"/>
            <a:chExt cx="2027004" cy="646331"/>
          </a:xfrm>
        </p:grpSpPr>
        <p:sp>
          <p:nvSpPr>
            <p:cNvPr id="27" name="TextBox 26">
              <a:extLst>
                <a:ext uri="{FF2B5EF4-FFF2-40B4-BE49-F238E27FC236}">
                  <a16:creationId xmlns:a16="http://schemas.microsoft.com/office/drawing/2014/main" id="{B90186AB-10F7-0A0A-4756-EF3C110F88A1}"/>
                </a:ext>
              </a:extLst>
            </p:cNvPr>
            <p:cNvSpPr txBox="1"/>
            <p:nvPr/>
          </p:nvSpPr>
          <p:spPr>
            <a:xfrm>
              <a:off x="4182987" y="2036716"/>
              <a:ext cx="2027004"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브라우저 우측 상단의             </a:t>
              </a:r>
              <a:endPar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lvl="0" latinLnBrk="1">
                <a:lnSpc>
                  <a:spcPct val="100000"/>
                </a:lnSpc>
                <a:defRPr/>
              </a:pP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을 클릭하여 하단의 설정 메뉴를 선택합니다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grpSp>
          <p:nvGrpSpPr>
            <p:cNvPr id="22" name="그룹 21"/>
            <p:cNvGrpSpPr/>
            <p:nvPr/>
          </p:nvGrpSpPr>
          <p:grpSpPr>
            <a:xfrm>
              <a:off x="4234517" y="2246886"/>
              <a:ext cx="355898" cy="212681"/>
              <a:chOff x="3360757" y="1308960"/>
              <a:chExt cx="355898" cy="212681"/>
            </a:xfrm>
          </p:grpSpPr>
          <p:sp>
            <p:nvSpPr>
              <p:cNvPr id="29" name="직사각형 28"/>
              <p:cNvSpPr/>
              <p:nvPr/>
            </p:nvSpPr>
            <p:spPr>
              <a:xfrm>
                <a:off x="3360757" y="1308960"/>
                <a:ext cx="355898" cy="212681"/>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pic>
            <p:nvPicPr>
              <p:cNvPr id="21" name="그림 20"/>
              <p:cNvPicPr>
                <a:picLocks noChangeAspect="1"/>
              </p:cNvPicPr>
              <p:nvPr/>
            </p:nvPicPr>
            <p:blipFill>
              <a:blip r:embed="rId5"/>
              <a:stretch>
                <a:fillRect/>
              </a:stretch>
            </p:blipFill>
            <p:spPr>
              <a:xfrm>
                <a:off x="3375997" y="1319414"/>
                <a:ext cx="325008" cy="202227"/>
              </a:xfrm>
              <a:prstGeom prst="rect">
                <a:avLst/>
              </a:prstGeom>
            </p:spPr>
          </p:pic>
        </p:grpSp>
      </p:grpSp>
      <p:cxnSp>
        <p:nvCxnSpPr>
          <p:cNvPr id="25" name="직선 연결선 24"/>
          <p:cNvCxnSpPr/>
          <p:nvPr/>
        </p:nvCxnSpPr>
        <p:spPr>
          <a:xfrm>
            <a:off x="5248507" y="1257420"/>
            <a:ext cx="0" cy="5864492"/>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flipH="1">
            <a:off x="797335" y="4098960"/>
            <a:ext cx="9552878"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38" name="그림 37"/>
          <p:cNvPicPr>
            <a:picLocks noChangeAspect="1"/>
          </p:cNvPicPr>
          <p:nvPr/>
        </p:nvPicPr>
        <p:blipFill>
          <a:blip r:embed="rId6"/>
          <a:stretch>
            <a:fillRect/>
          </a:stretch>
        </p:blipFill>
        <p:spPr>
          <a:xfrm>
            <a:off x="1037957" y="4497695"/>
            <a:ext cx="3759797" cy="1591543"/>
          </a:xfrm>
          <a:prstGeom prst="rect">
            <a:avLst/>
          </a:prstGeom>
        </p:spPr>
      </p:pic>
      <p:sp>
        <p:nvSpPr>
          <p:cNvPr id="39" name="직사각형 38"/>
          <p:cNvSpPr/>
          <p:nvPr/>
        </p:nvSpPr>
        <p:spPr>
          <a:xfrm>
            <a:off x="4408448" y="5104214"/>
            <a:ext cx="389305" cy="2469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40" name="TextBox 39">
            <a:extLst>
              <a:ext uri="{FF2B5EF4-FFF2-40B4-BE49-F238E27FC236}">
                <a16:creationId xmlns:a16="http://schemas.microsoft.com/office/drawing/2014/main" id="{B90186AB-10F7-0A0A-4756-EF3C110F88A1}"/>
              </a:ext>
            </a:extLst>
          </p:cNvPr>
          <p:cNvSpPr txBox="1"/>
          <p:nvPr/>
        </p:nvSpPr>
        <p:spPr>
          <a:xfrm>
            <a:off x="1018517" y="6116648"/>
            <a:ext cx="4004613"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Internet Explorer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모드 페이지 항목에서 추가 버튼을</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r>
            <a:b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b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클릭하여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hlinkClick r:id="rId7"/>
              </a:rPr>
              <a:t>https://</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hlinkClick r:id="rId7"/>
              </a:rPr>
              <a:t>drwb.amorepacific.com</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주소를 입력합니다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pic>
        <p:nvPicPr>
          <p:cNvPr id="41" name="그림 40"/>
          <p:cNvPicPr>
            <a:picLocks noChangeAspect="1"/>
          </p:cNvPicPr>
          <p:nvPr/>
        </p:nvPicPr>
        <p:blipFill>
          <a:blip r:embed="rId8"/>
          <a:stretch>
            <a:fillRect/>
          </a:stretch>
        </p:blipFill>
        <p:spPr>
          <a:xfrm>
            <a:off x="1880068" y="4920645"/>
            <a:ext cx="1862638" cy="965812"/>
          </a:xfrm>
          <a:prstGeom prst="rect">
            <a:avLst/>
          </a:prstGeom>
        </p:spPr>
      </p:pic>
      <p:sp>
        <p:nvSpPr>
          <p:cNvPr id="42" name="직사각형 41"/>
          <p:cNvSpPr/>
          <p:nvPr/>
        </p:nvSpPr>
        <p:spPr>
          <a:xfrm>
            <a:off x="1874366" y="4921189"/>
            <a:ext cx="1868340" cy="9652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cxnSp>
        <p:nvCxnSpPr>
          <p:cNvPr id="36" name="직선 화살표 연결선 35"/>
          <p:cNvCxnSpPr>
            <a:stCxn id="39" idx="1"/>
            <a:endCxn id="42" idx="3"/>
          </p:cNvCxnSpPr>
          <p:nvPr/>
        </p:nvCxnSpPr>
        <p:spPr>
          <a:xfrm flipH="1">
            <a:off x="3742706" y="5227707"/>
            <a:ext cx="665742" cy="1761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7" name="그림 36"/>
          <p:cNvPicPr>
            <a:picLocks noChangeAspect="1"/>
          </p:cNvPicPr>
          <p:nvPr/>
        </p:nvPicPr>
        <p:blipFill>
          <a:blip r:embed="rId9"/>
          <a:stretch>
            <a:fillRect/>
          </a:stretch>
        </p:blipFill>
        <p:spPr>
          <a:xfrm>
            <a:off x="5573774" y="4497695"/>
            <a:ext cx="4333875" cy="685800"/>
          </a:xfrm>
          <a:prstGeom prst="rect">
            <a:avLst/>
          </a:prstGeom>
        </p:spPr>
      </p:pic>
      <p:sp>
        <p:nvSpPr>
          <p:cNvPr id="47" name="직사각형 46"/>
          <p:cNvSpPr/>
          <p:nvPr/>
        </p:nvSpPr>
        <p:spPr>
          <a:xfrm>
            <a:off x="6534616" y="4936510"/>
            <a:ext cx="446047" cy="24698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48" name="TextBox 47">
            <a:extLst>
              <a:ext uri="{FF2B5EF4-FFF2-40B4-BE49-F238E27FC236}">
                <a16:creationId xmlns:a16="http://schemas.microsoft.com/office/drawing/2014/main" id="{B90186AB-10F7-0A0A-4756-EF3C110F88A1}"/>
              </a:ext>
            </a:extLst>
          </p:cNvPr>
          <p:cNvSpPr txBox="1"/>
          <p:nvPr/>
        </p:nvSpPr>
        <p:spPr>
          <a:xfrm>
            <a:off x="5571676" y="5470317"/>
            <a:ext cx="4004613" cy="646331"/>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브라우저를 모두 종료하고 관세환급 시스템에 접속 시 위 그림과 같이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IE </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아이콘이 표시되면 정상적으로 </a:t>
            </a:r>
            <a:r>
              <a:rPr lang="en-US" altLang="ko-KR" sz="14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Internet </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Explorer</a:t>
            </a:r>
            <a:r>
              <a:rPr lang="ko-KR" altLang="en-US"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 접속되 된 상태입니다</a:t>
            </a: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p>
        </p:txBody>
      </p:sp>
      <p:sp>
        <p:nvSpPr>
          <p:cNvPr id="49" name="TextBox 48">
            <a:extLst>
              <a:ext uri="{FF2B5EF4-FFF2-40B4-BE49-F238E27FC236}">
                <a16:creationId xmlns:a16="http://schemas.microsoft.com/office/drawing/2014/main" id="{B90186AB-10F7-0A0A-4756-EF3C110F88A1}"/>
              </a:ext>
            </a:extLst>
          </p:cNvPr>
          <p:cNvSpPr txBox="1"/>
          <p:nvPr/>
        </p:nvSpPr>
        <p:spPr>
          <a:xfrm>
            <a:off x="4998008" y="3867441"/>
            <a:ext cx="573668"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marL="342900" lvl="0" indent="-342900" latinLnBrk="1">
              <a:lnSpc>
                <a:spcPct val="100000"/>
              </a:lnSpc>
              <a:buAutoNum type="arabicPlain"/>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2</a:t>
            </a:r>
          </a:p>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3       4</a:t>
            </a:r>
          </a:p>
        </p:txBody>
      </p:sp>
      <p:sp>
        <p:nvSpPr>
          <p:cNvPr id="26" name="TextBox 25">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부록</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36065095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부록</a:t>
            </a:r>
            <a:r>
              <a:rPr lang="en-US" altLang="ko-KR" dirty="0" smtClean="0">
                <a:latin typeface="Arita Dotum KR Medium" panose="02020603020101020101" pitchFamily="18" charset="-127"/>
                <a:ea typeface="Arita Dotum KR Medium" panose="02020603020101020101" pitchFamily="18" charset="-127"/>
              </a:rPr>
              <a:t>2.</a:t>
            </a:r>
            <a:r>
              <a:rPr lang="ko-KR" altLang="en-US" dirty="0" smtClean="0">
                <a:latin typeface="Arita Dotum KR Medium" panose="02020603020101020101" pitchFamily="18" charset="-127"/>
                <a:ea typeface="Arita Dotum KR Medium" panose="02020603020101020101" pitchFamily="18" charset="-127"/>
              </a:rPr>
              <a:t>시스템 프로세스</a:t>
            </a:r>
            <a:endParaRPr lang="ko-KR" altLang="en-US" dirty="0">
              <a:latin typeface="Arita Dotum KR Medium" panose="02020603020101020101" pitchFamily="18" charset="-127"/>
              <a:ea typeface="Arita Dotum KR Medium" panose="02020603020101020101" pitchFamily="18" charset="-127"/>
            </a:endParaRPr>
          </a:p>
        </p:txBody>
      </p:sp>
      <p:sp>
        <p:nvSpPr>
          <p:cNvPr id="7" name="TextBox 6">
            <a:extLst>
              <a:ext uri="{FF2B5EF4-FFF2-40B4-BE49-F238E27FC236}">
                <a16:creationId xmlns:a16="http://schemas.microsoft.com/office/drawing/2014/main" id="{B90186AB-10F7-0A0A-4756-EF3C110F88A1}"/>
              </a:ext>
            </a:extLst>
          </p:cNvPr>
          <p:cNvSpPr txBox="1"/>
          <p:nvPr/>
        </p:nvSpPr>
        <p:spPr>
          <a:xfrm>
            <a:off x="649288" y="1161212"/>
            <a:ext cx="9596437" cy="553998"/>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8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관세법인</a:t>
            </a:r>
            <a:r>
              <a:rPr lang="en-US" altLang="ko-KR" sz="18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ERP, </a:t>
            </a:r>
            <a:r>
              <a:rPr lang="ko-KR" altLang="en-US" sz="18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관세청 데이터를 통합하여 환급계산에 활용하며 담당자는 생성된 환급신청서를 관세청에 신청 할 수 있습니다</a:t>
            </a:r>
            <a:r>
              <a:rPr lang="en-US" altLang="ko-KR" sz="18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각 모듈의 특이사항은 부록 페이지를 참조 부탁드립니다</a:t>
            </a: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endParaRPr lang="en-US" altLang="ko-KR" sz="18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grpSp>
        <p:nvGrpSpPr>
          <p:cNvPr id="3" name="그룹 2"/>
          <p:cNvGrpSpPr/>
          <p:nvPr/>
        </p:nvGrpSpPr>
        <p:grpSpPr>
          <a:xfrm>
            <a:off x="723628" y="2374978"/>
            <a:ext cx="9677922" cy="4515933"/>
            <a:chOff x="723628" y="2374978"/>
            <a:chExt cx="9677922" cy="4515933"/>
          </a:xfrm>
        </p:grpSpPr>
        <p:pic>
          <p:nvPicPr>
            <p:cNvPr id="17" name="그림 16" descr="텍스트, 스크린샷, 멀티미디어, 운영 체제이(가) 표시된 사진&#10;&#10;자동 생성된 설명">
              <a:extLst>
                <a:ext uri="{FF2B5EF4-FFF2-40B4-BE49-F238E27FC236}">
                  <a16:creationId xmlns:a16="http://schemas.microsoft.com/office/drawing/2014/main" id="{D1722B28-1D9A-6D97-755B-5ED1E4EE37BB}"/>
                </a:ext>
              </a:extLst>
            </p:cNvPr>
            <p:cNvPicPr>
              <a:picLocks noChangeAspect="1"/>
            </p:cNvPicPr>
            <p:nvPr/>
          </p:nvPicPr>
          <p:blipFill>
            <a:blip r:embed="rId2"/>
            <a:stretch>
              <a:fillRect/>
            </a:stretch>
          </p:blipFill>
          <p:spPr>
            <a:xfrm>
              <a:off x="723628" y="2374978"/>
              <a:ext cx="9677922" cy="4515933"/>
            </a:xfrm>
            <a:prstGeom prst="rect">
              <a:avLst/>
            </a:prstGeom>
          </p:spPr>
        </p:pic>
        <p:sp>
          <p:nvSpPr>
            <p:cNvPr id="2" name="직사각형 1"/>
            <p:cNvSpPr/>
            <p:nvPr/>
          </p:nvSpPr>
          <p:spPr>
            <a:xfrm>
              <a:off x="4440033" y="3461530"/>
              <a:ext cx="555713" cy="245327"/>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chemeClr val="tx1"/>
                  </a:solidFill>
                  <a:latin typeface="Arita Dotum KR Medium" panose="02020603020101020101" pitchFamily="18" charset="-127"/>
                  <a:ea typeface="Arita Dotum KR Medium" panose="02020603020101020101" pitchFamily="18" charset="-127"/>
                </a:rPr>
                <a:t>수입</a:t>
              </a:r>
            </a:p>
          </p:txBody>
        </p:sp>
        <p:sp>
          <p:nvSpPr>
            <p:cNvPr id="8" name="직사각형 7"/>
            <p:cNvSpPr/>
            <p:nvPr/>
          </p:nvSpPr>
          <p:spPr>
            <a:xfrm>
              <a:off x="4440033" y="4036741"/>
              <a:ext cx="555713" cy="282497"/>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chemeClr val="tx1"/>
                  </a:solidFill>
                  <a:latin typeface="Arita Dotum KR Medium" panose="02020603020101020101" pitchFamily="18" charset="-127"/>
                  <a:ea typeface="Arita Dotum KR Medium" panose="02020603020101020101" pitchFamily="18" charset="-127"/>
                </a:rPr>
                <a:t>수출</a:t>
              </a:r>
            </a:p>
          </p:txBody>
        </p:sp>
        <p:sp>
          <p:nvSpPr>
            <p:cNvPr id="9" name="직사각형 8"/>
            <p:cNvSpPr/>
            <p:nvPr/>
          </p:nvSpPr>
          <p:spPr>
            <a:xfrm>
              <a:off x="4440033" y="4768733"/>
              <a:ext cx="496240" cy="282497"/>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ta Dotum KR Medium" panose="02020603020101020101" pitchFamily="18" charset="-127"/>
                  <a:ea typeface="Arita Dotum KR Medium" panose="02020603020101020101" pitchFamily="18" charset="-127"/>
                </a:rPr>
                <a:t>BOM</a:t>
              </a:r>
              <a:endParaRPr lang="ko-KR" altLang="en-US" sz="900" dirty="0">
                <a:solidFill>
                  <a:schemeClr val="tx1"/>
                </a:solidFill>
                <a:latin typeface="Arita Dotum KR Medium" panose="02020603020101020101" pitchFamily="18" charset="-127"/>
                <a:ea typeface="Arita Dotum KR Medium" panose="02020603020101020101" pitchFamily="18" charset="-127"/>
              </a:endParaRPr>
            </a:p>
          </p:txBody>
        </p:sp>
        <p:sp>
          <p:nvSpPr>
            <p:cNvPr id="10" name="직사각형 9"/>
            <p:cNvSpPr/>
            <p:nvPr/>
          </p:nvSpPr>
          <p:spPr>
            <a:xfrm>
              <a:off x="4440032" y="5415206"/>
              <a:ext cx="696963" cy="282497"/>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900">
                  <a:solidFill>
                    <a:schemeClr val="tx1"/>
                  </a:solidFill>
                  <a:latin typeface="Arita Dotum KR Medium" panose="02020603020101020101" pitchFamily="18" charset="-127"/>
                  <a:ea typeface="Arita Dotum KR Medium" panose="02020603020101020101" pitchFamily="18" charset="-127"/>
                </a:rPr>
                <a:t>매출</a:t>
              </a:r>
              <a:r>
                <a:rPr lang="en-US" altLang="ko-KR" sz="900" dirty="0">
                  <a:solidFill>
                    <a:schemeClr val="tx1"/>
                  </a:solidFill>
                  <a:latin typeface="Arita Dotum KR Medium" panose="02020603020101020101" pitchFamily="18" charset="-127"/>
                  <a:ea typeface="Arita Dotum KR Medium" panose="02020603020101020101" pitchFamily="18" charset="-127"/>
                </a:rPr>
                <a:t>,</a:t>
              </a:r>
              <a:r>
                <a:rPr lang="ko-KR" altLang="en-US" sz="900" dirty="0">
                  <a:solidFill>
                    <a:schemeClr val="tx1"/>
                  </a:solidFill>
                  <a:latin typeface="Arita Dotum KR Medium" panose="02020603020101020101" pitchFamily="18" charset="-127"/>
                  <a:ea typeface="Arita Dotum KR Medium" panose="02020603020101020101" pitchFamily="18" charset="-127"/>
                </a:rPr>
                <a:t>매각</a:t>
              </a:r>
            </a:p>
          </p:txBody>
        </p:sp>
        <p:sp>
          <p:nvSpPr>
            <p:cNvPr id="11" name="직사각형 10"/>
            <p:cNvSpPr/>
            <p:nvPr/>
          </p:nvSpPr>
          <p:spPr>
            <a:xfrm>
              <a:off x="4440032" y="6074974"/>
              <a:ext cx="696963" cy="282497"/>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chemeClr val="tx1"/>
                  </a:solidFill>
                  <a:latin typeface="Arita Dotum KR Medium" panose="02020603020101020101" pitchFamily="18" charset="-127"/>
                  <a:ea typeface="Arita Dotum KR Medium" panose="02020603020101020101" pitchFamily="18" charset="-127"/>
                </a:rPr>
                <a:t>마스터</a:t>
              </a:r>
              <a:r>
                <a:rPr lang="en-US" altLang="ko-KR" sz="900" dirty="0">
                  <a:solidFill>
                    <a:schemeClr val="tx1"/>
                  </a:solidFill>
                  <a:latin typeface="Arita Dotum KR Medium" panose="02020603020101020101" pitchFamily="18" charset="-127"/>
                  <a:ea typeface="Arita Dotum KR Medium" panose="02020603020101020101" pitchFamily="18" charset="-127"/>
                </a:rPr>
                <a:t> Data</a:t>
              </a:r>
              <a:endParaRPr lang="ko-KR" altLang="en-US" sz="900" dirty="0">
                <a:solidFill>
                  <a:schemeClr val="tx1"/>
                </a:solidFill>
                <a:latin typeface="Arita Dotum KR Medium" panose="02020603020101020101" pitchFamily="18" charset="-127"/>
                <a:ea typeface="Arita Dotum KR Medium" panose="02020603020101020101" pitchFamily="18" charset="-127"/>
              </a:endParaRPr>
            </a:p>
          </p:txBody>
        </p:sp>
        <p:sp>
          <p:nvSpPr>
            <p:cNvPr id="12" name="직사각형 11"/>
            <p:cNvSpPr/>
            <p:nvPr/>
          </p:nvSpPr>
          <p:spPr>
            <a:xfrm>
              <a:off x="5629496" y="3521003"/>
              <a:ext cx="704396" cy="245327"/>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900">
                  <a:solidFill>
                    <a:schemeClr val="tx1"/>
                  </a:solidFill>
                  <a:latin typeface="Arita Dotum KR Medium" panose="02020603020101020101" pitchFamily="18" charset="-127"/>
                  <a:ea typeface="Arita Dotum KR Medium" panose="02020603020101020101" pitchFamily="18" charset="-127"/>
                </a:rPr>
                <a:t>잔량모듈</a:t>
              </a:r>
              <a:endParaRPr lang="ko-KR" altLang="en-US" sz="900" dirty="0">
                <a:solidFill>
                  <a:schemeClr val="tx1"/>
                </a:solidFill>
                <a:latin typeface="Arita Dotum KR Medium" panose="02020603020101020101" pitchFamily="18" charset="-127"/>
                <a:ea typeface="Arita Dotum KR Medium" panose="02020603020101020101" pitchFamily="18" charset="-127"/>
              </a:endParaRPr>
            </a:p>
          </p:txBody>
        </p:sp>
        <p:sp>
          <p:nvSpPr>
            <p:cNvPr id="13" name="직사각형 12"/>
            <p:cNvSpPr/>
            <p:nvPr/>
          </p:nvSpPr>
          <p:spPr>
            <a:xfrm>
              <a:off x="5629495" y="4196574"/>
              <a:ext cx="942289" cy="245327"/>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chemeClr val="tx1"/>
                  </a:solidFill>
                  <a:latin typeface="Arita Dotum KR Medium" panose="02020603020101020101" pitchFamily="18" charset="-127"/>
                  <a:ea typeface="Arita Dotum KR Medium" panose="02020603020101020101" pitchFamily="18" charset="-127"/>
                </a:rPr>
                <a:t>환급 잔량 </a:t>
              </a:r>
              <a:r>
                <a:rPr lang="en-US" altLang="ko-KR" sz="900" dirty="0">
                  <a:solidFill>
                    <a:schemeClr val="tx1"/>
                  </a:solidFill>
                  <a:latin typeface="Arita Dotum KR Medium" panose="02020603020101020101" pitchFamily="18" charset="-127"/>
                  <a:ea typeface="Arita Dotum KR Medium" panose="02020603020101020101" pitchFamily="18" charset="-127"/>
                </a:rPr>
                <a:t>Data</a:t>
              </a:r>
              <a:endParaRPr lang="ko-KR" altLang="en-US" sz="900" dirty="0">
                <a:solidFill>
                  <a:schemeClr val="tx1"/>
                </a:solidFill>
                <a:latin typeface="Arita Dotum KR Medium" panose="02020603020101020101" pitchFamily="18" charset="-127"/>
                <a:ea typeface="Arita Dotum KR Medium" panose="02020603020101020101" pitchFamily="18" charset="-127"/>
              </a:endParaRPr>
            </a:p>
          </p:txBody>
        </p:sp>
        <p:sp>
          <p:nvSpPr>
            <p:cNvPr id="14" name="직사각형 13"/>
            <p:cNvSpPr/>
            <p:nvPr/>
          </p:nvSpPr>
          <p:spPr>
            <a:xfrm>
              <a:off x="6781788" y="3521003"/>
              <a:ext cx="704396" cy="245327"/>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900" dirty="0" err="1">
                  <a:solidFill>
                    <a:schemeClr val="tx1"/>
                  </a:solidFill>
                  <a:latin typeface="Arita Dotum KR Medium" panose="02020603020101020101" pitchFamily="18" charset="-127"/>
                  <a:ea typeface="Arita Dotum KR Medium" panose="02020603020101020101" pitchFamily="18" charset="-127"/>
                </a:rPr>
                <a:t>기납</a:t>
              </a:r>
              <a:r>
                <a:rPr lang="en-US" altLang="ko-KR" sz="900" dirty="0">
                  <a:solidFill>
                    <a:schemeClr val="tx1"/>
                  </a:solidFill>
                  <a:latin typeface="Arita Dotum KR Medium" panose="02020603020101020101" pitchFamily="18" charset="-127"/>
                  <a:ea typeface="Arita Dotum KR Medium" panose="02020603020101020101" pitchFamily="18" charset="-127"/>
                </a:rPr>
                <a:t>/</a:t>
              </a:r>
              <a:r>
                <a:rPr lang="ko-KR" altLang="en-US" sz="900" dirty="0" err="1">
                  <a:solidFill>
                    <a:schemeClr val="tx1"/>
                  </a:solidFill>
                  <a:latin typeface="Arita Dotum KR Medium" panose="02020603020101020101" pitchFamily="18" charset="-127"/>
                  <a:ea typeface="Arita Dotum KR Medium" panose="02020603020101020101" pitchFamily="18" charset="-127"/>
                </a:rPr>
                <a:t>분증</a:t>
              </a:r>
              <a:endParaRPr lang="ko-KR" altLang="en-US" sz="900" dirty="0">
                <a:solidFill>
                  <a:schemeClr val="tx1"/>
                </a:solidFill>
                <a:latin typeface="Arita Dotum KR Medium" panose="02020603020101020101" pitchFamily="18" charset="-127"/>
                <a:ea typeface="Arita Dotum KR Medium" panose="02020603020101020101" pitchFamily="18" charset="-127"/>
              </a:endParaRPr>
            </a:p>
          </p:txBody>
        </p:sp>
      </p:grpSp>
      <p:sp>
        <p:nvSpPr>
          <p:cNvPr id="15" name="TextBox 14">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부록</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62243635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부록</a:t>
            </a:r>
            <a:r>
              <a:rPr lang="en-US" altLang="ko-KR" dirty="0" smtClean="0">
                <a:latin typeface="Arita Dotum KR Medium" panose="02020603020101020101" pitchFamily="18" charset="-127"/>
                <a:ea typeface="Arita Dotum KR Medium" panose="02020603020101020101" pitchFamily="18" charset="-127"/>
              </a:rPr>
              <a:t>2. </a:t>
            </a:r>
            <a:r>
              <a:rPr lang="ko-KR" altLang="en-US" dirty="0" smtClean="0">
                <a:latin typeface="Arita Dotum KR Medium" panose="02020603020101020101" pitchFamily="18" charset="-127"/>
                <a:ea typeface="Arita Dotum KR Medium" panose="02020603020101020101" pitchFamily="18" charset="-127"/>
              </a:rPr>
              <a:t>인터페이스 모듈</a:t>
            </a:r>
            <a:r>
              <a:rPr lang="en-US" altLang="ko-KR" dirty="0" smtClean="0">
                <a:latin typeface="Arita Dotum KR Medium" panose="02020603020101020101" pitchFamily="18" charset="-127"/>
                <a:ea typeface="Arita Dotum KR Medium" panose="02020603020101020101" pitchFamily="18" charset="-127"/>
              </a:rPr>
              <a:t>(BOM)</a:t>
            </a:r>
            <a:endParaRPr lang="ko-KR" altLang="en-US" dirty="0">
              <a:latin typeface="Arita Dotum KR Medium" panose="02020603020101020101" pitchFamily="18" charset="-127"/>
              <a:ea typeface="Arita Dotum KR Medium" panose="02020603020101020101" pitchFamily="18" charset="-127"/>
            </a:endParaRPr>
          </a:p>
        </p:txBody>
      </p:sp>
      <p:grpSp>
        <p:nvGrpSpPr>
          <p:cNvPr id="16" name="그룹 15"/>
          <p:cNvGrpSpPr/>
          <p:nvPr/>
        </p:nvGrpSpPr>
        <p:grpSpPr>
          <a:xfrm>
            <a:off x="2687839" y="1880841"/>
            <a:ext cx="5519332" cy="2287643"/>
            <a:chOff x="2374008" y="2252548"/>
            <a:chExt cx="5519332" cy="2287643"/>
          </a:xfrm>
        </p:grpSpPr>
        <p:pic>
          <p:nvPicPr>
            <p:cNvPr id="35" name="그림 34" descr="텍스트, 스크린샷, 멀티미디어, 운영 체제이(가) 표시된 사진&#10;&#10;자동 생성된 설명">
              <a:extLst>
                <a:ext uri="{FF2B5EF4-FFF2-40B4-BE49-F238E27FC236}">
                  <a16:creationId xmlns:a16="http://schemas.microsoft.com/office/drawing/2014/main" id="{D1722B28-1D9A-6D97-755B-5ED1E4EE37BB}"/>
                </a:ext>
              </a:extLst>
            </p:cNvPr>
            <p:cNvPicPr>
              <a:picLocks noChangeAspect="1"/>
            </p:cNvPicPr>
            <p:nvPr/>
          </p:nvPicPr>
          <p:blipFill rotWithShape="1">
            <a:blip r:embed="rId2"/>
            <a:srcRect l="2509" t="38773" r="83383" b="41473"/>
            <a:stretch/>
          </p:blipFill>
          <p:spPr>
            <a:xfrm>
              <a:off x="2374008" y="2252548"/>
              <a:ext cx="1365367" cy="892097"/>
            </a:xfrm>
            <a:prstGeom prst="rect">
              <a:avLst/>
            </a:prstGeom>
          </p:spPr>
        </p:pic>
        <p:sp>
          <p:nvSpPr>
            <p:cNvPr id="2" name="직사각형 1"/>
            <p:cNvSpPr/>
            <p:nvPr/>
          </p:nvSpPr>
          <p:spPr>
            <a:xfrm>
              <a:off x="4289501" y="2416098"/>
              <a:ext cx="1479396"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latin typeface="Arita Dotum KR Medium" panose="02020603020101020101" pitchFamily="18" charset="-127"/>
                  <a:ea typeface="Arita Dotum KR Medium" panose="02020603020101020101" pitchFamily="18" charset="-127"/>
                </a:rPr>
                <a:t>BOM Data</a:t>
              </a:r>
              <a:endParaRPr lang="ko-KR" altLang="en-US" dirty="0">
                <a:latin typeface="Arita Dotum KR Medium" panose="02020603020101020101" pitchFamily="18" charset="-127"/>
                <a:ea typeface="Arita Dotum KR Medium" panose="02020603020101020101" pitchFamily="18" charset="-127"/>
              </a:endParaRPr>
            </a:p>
          </p:txBody>
        </p:sp>
        <p:sp>
          <p:nvSpPr>
            <p:cNvPr id="46" name="직사각형 45"/>
            <p:cNvSpPr/>
            <p:nvPr/>
          </p:nvSpPr>
          <p:spPr>
            <a:xfrm>
              <a:off x="6413944" y="2252548"/>
              <a:ext cx="1479396" cy="228764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atin typeface="Arita Dotum KR Medium" panose="02020603020101020101" pitchFamily="18" charset="-127"/>
                  <a:ea typeface="Arita Dotum KR Medium" panose="02020603020101020101" pitchFamily="18" charset="-127"/>
                </a:rPr>
                <a:t>환급</a:t>
              </a:r>
              <a:r>
                <a:rPr lang="en-US" altLang="ko-KR" dirty="0">
                  <a:latin typeface="Arita Dotum KR Medium" panose="02020603020101020101" pitchFamily="18" charset="-127"/>
                  <a:ea typeface="Arita Dotum KR Medium" panose="02020603020101020101" pitchFamily="18" charset="-127"/>
                </a:rPr>
                <a:t> </a:t>
              </a:r>
              <a:r>
                <a:rPr lang="en-US" altLang="ko-KR" dirty="0" smtClean="0">
                  <a:latin typeface="Arita Dotum KR Medium" panose="02020603020101020101" pitchFamily="18" charset="-127"/>
                  <a:ea typeface="Arita Dotum KR Medium" panose="02020603020101020101" pitchFamily="18" charset="-127"/>
                </a:rPr>
                <a:t>BOM </a:t>
              </a:r>
              <a:br>
                <a:rPr lang="en-US" altLang="ko-KR" dirty="0" smtClean="0">
                  <a:latin typeface="Arita Dotum KR Medium" panose="02020603020101020101" pitchFamily="18" charset="-127"/>
                  <a:ea typeface="Arita Dotum KR Medium" panose="02020603020101020101" pitchFamily="18" charset="-127"/>
                </a:rPr>
              </a:br>
              <a:r>
                <a:rPr lang="ko-KR" altLang="en-US" dirty="0" smtClean="0">
                  <a:latin typeface="Arita Dotum KR Medium" panose="02020603020101020101" pitchFamily="18" charset="-127"/>
                  <a:ea typeface="Arita Dotum KR Medium" panose="02020603020101020101" pitchFamily="18" charset="-127"/>
                </a:rPr>
                <a:t>생성</a:t>
              </a:r>
              <a:endParaRPr lang="ko-KR" altLang="en-US" dirty="0">
                <a:latin typeface="Arita Dotum KR Medium" panose="02020603020101020101" pitchFamily="18" charset="-127"/>
                <a:ea typeface="Arita Dotum KR Medium" panose="02020603020101020101" pitchFamily="18" charset="-127"/>
              </a:endParaRPr>
            </a:p>
          </p:txBody>
        </p:sp>
        <p:pic>
          <p:nvPicPr>
            <p:cNvPr id="52" name="그림 51" descr="텍스트, 스크린샷, 멀티미디어, 운영 체제이(가) 표시된 사진&#10;&#10;자동 생성된 설명">
              <a:extLst>
                <a:ext uri="{FF2B5EF4-FFF2-40B4-BE49-F238E27FC236}">
                  <a16:creationId xmlns:a16="http://schemas.microsoft.com/office/drawing/2014/main" id="{D1722B28-1D9A-6D97-755B-5ED1E4EE37BB}"/>
                </a:ext>
              </a:extLst>
            </p:cNvPr>
            <p:cNvPicPr>
              <a:picLocks noChangeAspect="1"/>
            </p:cNvPicPr>
            <p:nvPr/>
          </p:nvPicPr>
          <p:blipFill rotWithShape="1">
            <a:blip r:embed="rId2"/>
            <a:srcRect l="23940" t="17614" r="65306" b="59503"/>
            <a:stretch/>
          </p:blipFill>
          <p:spPr>
            <a:xfrm>
              <a:off x="4508808" y="3506845"/>
              <a:ext cx="1040782" cy="1033346"/>
            </a:xfrm>
            <a:prstGeom prst="rect">
              <a:avLst/>
            </a:prstGeom>
          </p:spPr>
        </p:pic>
        <p:cxnSp>
          <p:nvCxnSpPr>
            <p:cNvPr id="4" name="직선 화살표 연결선 3"/>
            <p:cNvCxnSpPr>
              <a:stCxn id="35" idx="3"/>
              <a:endCxn id="2" idx="1"/>
            </p:cNvCxnSpPr>
            <p:nvPr/>
          </p:nvCxnSpPr>
          <p:spPr>
            <a:xfrm flipV="1">
              <a:off x="3739375" y="2698596"/>
              <a:ext cx="55012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꺾인 연결선 8"/>
            <p:cNvCxnSpPr>
              <a:stCxn id="2" idx="3"/>
              <a:endCxn id="46" idx="1"/>
            </p:cNvCxnSpPr>
            <p:nvPr/>
          </p:nvCxnSpPr>
          <p:spPr>
            <a:xfrm>
              <a:off x="5768897" y="2698596"/>
              <a:ext cx="645047" cy="69777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꺾인 연결선 11"/>
            <p:cNvCxnSpPr>
              <a:stCxn id="52" idx="3"/>
              <a:endCxn id="46" idx="1"/>
            </p:cNvCxnSpPr>
            <p:nvPr/>
          </p:nvCxnSpPr>
          <p:spPr>
            <a:xfrm flipV="1">
              <a:off x="5549590" y="3396370"/>
              <a:ext cx="864354" cy="627148"/>
            </a:xfrm>
            <a:prstGeom prst="bentConnector3">
              <a:avLst>
                <a:gd name="adj1" fmla="val 6376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82" name="TextBox 81">
            <a:extLst>
              <a:ext uri="{FF2B5EF4-FFF2-40B4-BE49-F238E27FC236}">
                <a16:creationId xmlns:a16="http://schemas.microsoft.com/office/drawing/2014/main" id="{B90186AB-10F7-0A0A-4756-EF3C110F88A1}"/>
              </a:ext>
            </a:extLst>
          </p:cNvPr>
          <p:cNvSpPr txBox="1"/>
          <p:nvPr/>
        </p:nvSpPr>
        <p:spPr>
          <a:xfrm>
            <a:off x="649288" y="5233641"/>
            <a:ext cx="9596437" cy="83099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marL="342900" lvl="0" indent="-342900" latinLnBrk="1">
              <a:lnSpc>
                <a:spcPct val="100000"/>
              </a:lnSpc>
              <a:buAutoNum type="arabicPeriod"/>
              <a:defRPr/>
            </a:pP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ERP System</a:t>
            </a: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에서 </a:t>
            </a: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데이터를 인터페이스 받음</a:t>
            </a:r>
            <a:endPar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pPr marL="342900" lvl="0" indent="-342900" latinLnBrk="1">
              <a:lnSpc>
                <a:spcPct val="100000"/>
              </a:lnSpc>
              <a:buAutoNum type="arabicPeriod"/>
              <a:defRPr/>
            </a:pP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관세법인에서 제공 받은 업로드 수</a:t>
            </a: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출입 데이터를 </a:t>
            </a: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a:t>
            </a: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과 </a:t>
            </a: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Mapping</a:t>
            </a:r>
          </a:p>
          <a:p>
            <a:pPr marL="342900" lvl="0" indent="-342900" latinLnBrk="1">
              <a:lnSpc>
                <a:spcPct val="100000"/>
              </a:lnSpc>
              <a:buAutoNum type="arabicPeriod"/>
              <a:defRPr/>
            </a:pP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환급에서 사용될</a:t>
            </a: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환급대상이 되는</a:t>
            </a: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원재료 및 제품 데이터로 구성된 </a:t>
            </a: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BOM </a:t>
            </a: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생성</a:t>
            </a:r>
            <a:endParaRPr lang="en-US" altLang="ko-KR" sz="18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13" name="TextBox 12">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부록</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24855039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직사각형 70"/>
          <p:cNvSpPr/>
          <p:nvPr/>
        </p:nvSpPr>
        <p:spPr>
          <a:xfrm>
            <a:off x="809431" y="2218980"/>
            <a:ext cx="8550159" cy="4932669"/>
          </a:xfrm>
          <a:prstGeom prst="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6" name="직사각형 25"/>
          <p:cNvSpPr/>
          <p:nvPr/>
        </p:nvSpPr>
        <p:spPr>
          <a:xfrm>
            <a:off x="809431" y="1263581"/>
            <a:ext cx="3513835" cy="780809"/>
          </a:xfrm>
          <a:prstGeom prst="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부록</a:t>
            </a:r>
            <a:r>
              <a:rPr lang="en-US" altLang="ko-KR" dirty="0" smtClean="0">
                <a:latin typeface="Arita Dotum KR Medium" panose="02020603020101020101" pitchFamily="18" charset="-127"/>
                <a:ea typeface="Arita Dotum KR Medium" panose="02020603020101020101" pitchFamily="18" charset="-127"/>
              </a:rPr>
              <a:t>2. </a:t>
            </a:r>
            <a:r>
              <a:rPr lang="ko-KR" altLang="en-US" dirty="0" smtClean="0">
                <a:latin typeface="Arita Dotum KR Medium" panose="02020603020101020101" pitchFamily="18" charset="-127"/>
                <a:ea typeface="Arita Dotum KR Medium" panose="02020603020101020101" pitchFamily="18" charset="-127"/>
              </a:rPr>
              <a:t>환급계산모듈</a:t>
            </a:r>
            <a:r>
              <a:rPr lang="en-US" altLang="ko-KR" dirty="0" smtClean="0">
                <a:latin typeface="Arita Dotum KR Medium" panose="02020603020101020101" pitchFamily="18" charset="-127"/>
                <a:ea typeface="Arita Dotum KR Medium" panose="02020603020101020101" pitchFamily="18" charset="-127"/>
              </a:rPr>
              <a:t>(</a:t>
            </a:r>
            <a:r>
              <a:rPr lang="ko-KR" altLang="en-US" dirty="0" err="1" smtClean="0">
                <a:latin typeface="Arita Dotum KR Medium" panose="02020603020101020101" pitchFamily="18" charset="-127"/>
                <a:ea typeface="Arita Dotum KR Medium" panose="02020603020101020101" pitchFamily="18" charset="-127"/>
              </a:rPr>
              <a:t>환급신청서</a:t>
            </a:r>
            <a:r>
              <a:rPr lang="ko-KR" altLang="en-US" dirty="0" smtClean="0">
                <a:latin typeface="Arita Dotum KR Medium" panose="02020603020101020101" pitchFamily="18" charset="-127"/>
                <a:ea typeface="Arita Dotum KR Medium" panose="02020603020101020101" pitchFamily="18" charset="-127"/>
              </a:rPr>
              <a:t> 생성</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24" name="직사각형 23"/>
          <p:cNvSpPr/>
          <p:nvPr/>
        </p:nvSpPr>
        <p:spPr>
          <a:xfrm>
            <a:off x="905760" y="1369792"/>
            <a:ext cx="1479396"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atin typeface="Arita Dotum KR Medium" panose="02020603020101020101" pitchFamily="18" charset="-127"/>
                <a:ea typeface="Arita Dotum KR Medium" panose="02020603020101020101" pitchFamily="18" charset="-127"/>
              </a:rPr>
              <a:t>수출 데이터</a:t>
            </a:r>
            <a:endParaRPr lang="ko-KR" altLang="en-US" dirty="0">
              <a:latin typeface="Arita Dotum KR Medium" panose="02020603020101020101" pitchFamily="18" charset="-127"/>
              <a:ea typeface="Arita Dotum KR Medium" panose="02020603020101020101" pitchFamily="18" charset="-127"/>
            </a:endParaRPr>
          </a:p>
        </p:txBody>
      </p:sp>
      <p:sp>
        <p:nvSpPr>
          <p:cNvPr id="25" name="직사각형 24"/>
          <p:cNvSpPr/>
          <p:nvPr/>
        </p:nvSpPr>
        <p:spPr>
          <a:xfrm>
            <a:off x="3487243" y="3477144"/>
            <a:ext cx="1150471" cy="34421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smtClean="0">
                <a:latin typeface="Arita Dotum KR Medium" panose="02020603020101020101" pitchFamily="18" charset="-127"/>
                <a:ea typeface="Arita Dotum KR Medium" panose="02020603020101020101" pitchFamily="18" charset="-127"/>
              </a:rPr>
              <a:t>BOM Data</a:t>
            </a:r>
            <a:endParaRPr lang="ko-KR" altLang="en-US" sz="1400" dirty="0">
              <a:latin typeface="Arita Dotum KR Medium" panose="02020603020101020101" pitchFamily="18" charset="-127"/>
              <a:ea typeface="Arita Dotum KR Medium" panose="02020603020101020101" pitchFamily="18" charset="-127"/>
            </a:endParaRPr>
          </a:p>
        </p:txBody>
      </p:sp>
      <p:sp>
        <p:nvSpPr>
          <p:cNvPr id="27" name="직사각형 26"/>
          <p:cNvSpPr/>
          <p:nvPr/>
        </p:nvSpPr>
        <p:spPr>
          <a:xfrm>
            <a:off x="1361731" y="4292715"/>
            <a:ext cx="2409237"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atin typeface="Arita Dotum KR Medium" panose="02020603020101020101" pitchFamily="18" charset="-127"/>
                <a:ea typeface="Arita Dotum KR Medium" panose="02020603020101020101" pitchFamily="18" charset="-127"/>
              </a:rPr>
              <a:t>환급 원재료 대상 추출</a:t>
            </a:r>
            <a:endParaRPr lang="ko-KR" altLang="en-US" sz="1400" dirty="0">
              <a:latin typeface="Arita Dotum KR Medium" panose="02020603020101020101" pitchFamily="18" charset="-127"/>
              <a:ea typeface="Arita Dotum KR Medium" panose="02020603020101020101" pitchFamily="18" charset="-127"/>
            </a:endParaRPr>
          </a:p>
        </p:txBody>
      </p:sp>
      <p:sp>
        <p:nvSpPr>
          <p:cNvPr id="28" name="직사각형 27"/>
          <p:cNvSpPr/>
          <p:nvPr/>
        </p:nvSpPr>
        <p:spPr>
          <a:xfrm>
            <a:off x="3271369" y="5418578"/>
            <a:ext cx="1582217"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atin typeface="Arita Dotum KR Medium" panose="02020603020101020101" pitchFamily="18" charset="-127"/>
                <a:ea typeface="Arita Dotum KR Medium" panose="02020603020101020101" pitchFamily="18" charset="-127"/>
              </a:rPr>
              <a:t>원재료 잔량</a:t>
            </a:r>
            <a:endParaRPr lang="ko-KR" altLang="en-US" sz="1400" dirty="0">
              <a:latin typeface="Arita Dotum KR Medium" panose="02020603020101020101" pitchFamily="18" charset="-127"/>
              <a:ea typeface="Arita Dotum KR Medium" panose="02020603020101020101" pitchFamily="18" charset="-127"/>
            </a:endParaRPr>
          </a:p>
        </p:txBody>
      </p:sp>
      <p:sp>
        <p:nvSpPr>
          <p:cNvPr id="29" name="직사각형 28"/>
          <p:cNvSpPr/>
          <p:nvPr/>
        </p:nvSpPr>
        <p:spPr>
          <a:xfrm>
            <a:off x="1645458" y="2415328"/>
            <a:ext cx="1841785" cy="56499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latin typeface="Arita Dotum KR Medium" panose="02020603020101020101" pitchFamily="18" charset="-127"/>
                <a:ea typeface="Arita Dotum KR Medium" panose="02020603020101020101" pitchFamily="18" charset="-127"/>
              </a:rPr>
              <a:t>환급 대상 목록</a:t>
            </a:r>
          </a:p>
        </p:txBody>
      </p:sp>
      <p:sp>
        <p:nvSpPr>
          <p:cNvPr id="8" name="TextBox 7"/>
          <p:cNvSpPr txBox="1"/>
          <p:nvPr/>
        </p:nvSpPr>
        <p:spPr>
          <a:xfrm>
            <a:off x="2603200" y="1529462"/>
            <a:ext cx="1330814" cy="203133"/>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환급 대상 데이터 추출</a:t>
            </a:r>
          </a:p>
        </p:txBody>
      </p:sp>
      <p:sp>
        <p:nvSpPr>
          <p:cNvPr id="32" name="TextBox 31"/>
          <p:cNvSpPr txBox="1"/>
          <p:nvPr/>
        </p:nvSpPr>
        <p:spPr>
          <a:xfrm>
            <a:off x="7543192" y="2229859"/>
            <a:ext cx="1515479" cy="203133"/>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환급 대상 목록 만큼 반복</a:t>
            </a:r>
          </a:p>
        </p:txBody>
      </p:sp>
      <p:cxnSp>
        <p:nvCxnSpPr>
          <p:cNvPr id="23" name="직선 화살표 연결선 22"/>
          <p:cNvCxnSpPr>
            <a:stCxn id="29" idx="2"/>
            <a:endCxn id="27" idx="0"/>
          </p:cNvCxnSpPr>
          <p:nvPr/>
        </p:nvCxnSpPr>
        <p:spPr>
          <a:xfrm flipH="1">
            <a:off x="2566350" y="2980323"/>
            <a:ext cx="1" cy="1312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직선 화살표 연결선 33"/>
          <p:cNvCxnSpPr>
            <a:stCxn id="25" idx="1"/>
          </p:cNvCxnSpPr>
          <p:nvPr/>
        </p:nvCxnSpPr>
        <p:spPr>
          <a:xfrm flipH="1">
            <a:off x="2566349" y="3649251"/>
            <a:ext cx="920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직사각형 46"/>
          <p:cNvSpPr/>
          <p:nvPr/>
        </p:nvSpPr>
        <p:spPr>
          <a:xfrm>
            <a:off x="1361731" y="6407226"/>
            <a:ext cx="2409237" cy="5649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latin typeface="Arita Dotum KR Medium" panose="02020603020101020101" pitchFamily="18" charset="-127"/>
                <a:ea typeface="Arita Dotum KR Medium" panose="02020603020101020101" pitchFamily="18" charset="-127"/>
              </a:rPr>
              <a:t>환급신청서</a:t>
            </a:r>
            <a:r>
              <a:rPr lang="ko-KR" altLang="en-US" sz="1400" dirty="0">
                <a:latin typeface="Arita Dotum KR Medium" panose="02020603020101020101" pitchFamily="18" charset="-127"/>
                <a:ea typeface="Arita Dotum KR Medium" panose="02020603020101020101" pitchFamily="18" charset="-127"/>
              </a:rPr>
              <a:t> </a:t>
            </a:r>
            <a:r>
              <a:rPr lang="en-US" altLang="ko-KR" sz="1400" dirty="0">
                <a:latin typeface="Arita Dotum KR Medium" panose="02020603020101020101" pitchFamily="18" charset="-127"/>
                <a:ea typeface="Arita Dotum KR Medium" panose="02020603020101020101" pitchFamily="18" charset="-127"/>
              </a:rPr>
              <a:t>&lt;</a:t>
            </a:r>
            <a:r>
              <a:rPr lang="ko-KR" altLang="en-US" sz="1400" dirty="0">
                <a:latin typeface="Arita Dotum KR Medium" panose="02020603020101020101" pitchFamily="18" charset="-127"/>
                <a:ea typeface="Arita Dotum KR Medium" panose="02020603020101020101" pitchFamily="18" charset="-127"/>
              </a:rPr>
              <a:t>병</a:t>
            </a:r>
            <a:r>
              <a:rPr lang="en-US" altLang="ko-KR" sz="1400" dirty="0">
                <a:latin typeface="Arita Dotum KR Medium" panose="02020603020101020101" pitchFamily="18" charset="-127"/>
                <a:ea typeface="Arita Dotum KR Medium" panose="02020603020101020101" pitchFamily="18" charset="-127"/>
              </a:rPr>
              <a:t>&gt; </a:t>
            </a:r>
            <a:r>
              <a:rPr lang="ko-KR" altLang="en-US" sz="1400" dirty="0">
                <a:latin typeface="Arita Dotum KR Medium" panose="02020603020101020101" pitchFamily="18" charset="-127"/>
                <a:ea typeface="Arita Dotum KR Medium" panose="02020603020101020101" pitchFamily="18" charset="-127"/>
              </a:rPr>
              <a:t>생성</a:t>
            </a:r>
          </a:p>
        </p:txBody>
      </p:sp>
      <p:cxnSp>
        <p:nvCxnSpPr>
          <p:cNvPr id="44" name="직선 화살표 연결선 43"/>
          <p:cNvCxnSpPr>
            <a:stCxn id="27" idx="2"/>
            <a:endCxn id="47" idx="0"/>
          </p:cNvCxnSpPr>
          <p:nvPr/>
        </p:nvCxnSpPr>
        <p:spPr>
          <a:xfrm>
            <a:off x="2566350" y="4857710"/>
            <a:ext cx="0" cy="1549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직선 화살표 연결선 48"/>
          <p:cNvCxnSpPr>
            <a:stCxn id="28" idx="1"/>
          </p:cNvCxnSpPr>
          <p:nvPr/>
        </p:nvCxnSpPr>
        <p:spPr>
          <a:xfrm flipH="1" flipV="1">
            <a:off x="2566349" y="5701075"/>
            <a:ext cx="70502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직사각형 54"/>
          <p:cNvSpPr/>
          <p:nvPr/>
        </p:nvSpPr>
        <p:spPr>
          <a:xfrm>
            <a:off x="5507492" y="5418578"/>
            <a:ext cx="1582217"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atin typeface="Arita Dotum KR Medium" panose="02020603020101020101" pitchFamily="18" charset="-127"/>
                <a:ea typeface="Arita Dotum KR Medium" panose="02020603020101020101" pitchFamily="18" charset="-127"/>
              </a:rPr>
              <a:t>원재료 잔량 차감</a:t>
            </a:r>
            <a:endParaRPr lang="ko-KR" altLang="en-US" sz="1400" dirty="0">
              <a:latin typeface="Arita Dotum KR Medium" panose="02020603020101020101" pitchFamily="18" charset="-127"/>
              <a:ea typeface="Arita Dotum KR Medium" panose="02020603020101020101" pitchFamily="18" charset="-127"/>
            </a:endParaRPr>
          </a:p>
        </p:txBody>
      </p:sp>
      <p:cxnSp>
        <p:nvCxnSpPr>
          <p:cNvPr id="56" name="직선 화살표 연결선 55"/>
          <p:cNvCxnSpPr>
            <a:stCxn id="28" idx="3"/>
            <a:endCxn id="55" idx="1"/>
          </p:cNvCxnSpPr>
          <p:nvPr/>
        </p:nvCxnSpPr>
        <p:spPr>
          <a:xfrm>
            <a:off x="4853586" y="5701076"/>
            <a:ext cx="6539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직사각형 59"/>
          <p:cNvSpPr/>
          <p:nvPr/>
        </p:nvSpPr>
        <p:spPr>
          <a:xfrm>
            <a:off x="5180539" y="3436535"/>
            <a:ext cx="2232379" cy="4254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err="1">
                <a:latin typeface="Arita Dotum KR Medium" panose="02020603020101020101" pitchFamily="18" charset="-127"/>
                <a:ea typeface="Arita Dotum KR Medium" panose="02020603020101020101" pitchFamily="18" charset="-127"/>
              </a:rPr>
              <a:t>환급신청서</a:t>
            </a:r>
            <a:r>
              <a:rPr lang="ko-KR" altLang="en-US" sz="1400" dirty="0">
                <a:latin typeface="Arita Dotum KR Medium" panose="02020603020101020101" pitchFamily="18" charset="-127"/>
                <a:ea typeface="Arita Dotum KR Medium" panose="02020603020101020101" pitchFamily="18" charset="-127"/>
              </a:rPr>
              <a:t> </a:t>
            </a:r>
            <a:r>
              <a:rPr lang="en-US" altLang="ko-KR" sz="1400" dirty="0" smtClean="0">
                <a:latin typeface="Arita Dotum KR Medium" panose="02020603020101020101" pitchFamily="18" charset="-127"/>
                <a:ea typeface="Arita Dotum KR Medium" panose="02020603020101020101" pitchFamily="18" charset="-127"/>
              </a:rPr>
              <a:t>&lt;</a:t>
            </a:r>
            <a:r>
              <a:rPr lang="ko-KR" altLang="en-US" sz="1400" dirty="0" smtClean="0">
                <a:latin typeface="Arita Dotum KR Medium" panose="02020603020101020101" pitchFamily="18" charset="-127"/>
                <a:ea typeface="Arita Dotum KR Medium" panose="02020603020101020101" pitchFamily="18" charset="-127"/>
              </a:rPr>
              <a:t>을</a:t>
            </a:r>
            <a:r>
              <a:rPr lang="en-US" altLang="ko-KR" sz="1400" dirty="0" smtClean="0">
                <a:latin typeface="Arita Dotum KR Medium" panose="02020603020101020101" pitchFamily="18" charset="-127"/>
                <a:ea typeface="Arita Dotum KR Medium" panose="02020603020101020101" pitchFamily="18" charset="-127"/>
              </a:rPr>
              <a:t>&gt; </a:t>
            </a:r>
            <a:r>
              <a:rPr lang="ko-KR" altLang="en-US" sz="1400" dirty="0">
                <a:latin typeface="Arita Dotum KR Medium" panose="02020603020101020101" pitchFamily="18" charset="-127"/>
                <a:ea typeface="Arita Dotum KR Medium" panose="02020603020101020101" pitchFamily="18" charset="-127"/>
              </a:rPr>
              <a:t>생성</a:t>
            </a:r>
          </a:p>
        </p:txBody>
      </p:sp>
      <p:cxnSp>
        <p:nvCxnSpPr>
          <p:cNvPr id="61" name="직선 화살표 연결선 60"/>
          <p:cNvCxnSpPr>
            <a:stCxn id="25" idx="3"/>
            <a:endCxn id="60" idx="1"/>
          </p:cNvCxnSpPr>
          <p:nvPr/>
        </p:nvCxnSpPr>
        <p:spPr>
          <a:xfrm>
            <a:off x="4637714" y="3649251"/>
            <a:ext cx="5428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직선 화살표 연결선 62"/>
          <p:cNvCxnSpPr>
            <a:stCxn id="26" idx="2"/>
            <a:endCxn id="29" idx="0"/>
          </p:cNvCxnSpPr>
          <p:nvPr/>
        </p:nvCxnSpPr>
        <p:spPr>
          <a:xfrm>
            <a:off x="2566349" y="2044390"/>
            <a:ext cx="2" cy="3709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직사각형 65"/>
          <p:cNvSpPr/>
          <p:nvPr/>
        </p:nvSpPr>
        <p:spPr>
          <a:xfrm>
            <a:off x="4391302" y="2490396"/>
            <a:ext cx="2232379" cy="4254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latin typeface="Arita Dotum KR Medium" panose="02020603020101020101" pitchFamily="18" charset="-127"/>
                <a:ea typeface="Arita Dotum KR Medium" panose="02020603020101020101" pitchFamily="18" charset="-127"/>
              </a:rPr>
              <a:t>환급신청서</a:t>
            </a:r>
            <a:r>
              <a:rPr lang="ko-KR" altLang="en-US" sz="1400" dirty="0">
                <a:latin typeface="Arita Dotum KR Medium" panose="02020603020101020101" pitchFamily="18" charset="-127"/>
                <a:ea typeface="Arita Dotum KR Medium" panose="02020603020101020101" pitchFamily="18" charset="-127"/>
              </a:rPr>
              <a:t> </a:t>
            </a:r>
            <a:r>
              <a:rPr lang="en-US" altLang="ko-KR" sz="1400" dirty="0" smtClean="0">
                <a:latin typeface="Arita Dotum KR Medium" panose="02020603020101020101" pitchFamily="18" charset="-127"/>
                <a:ea typeface="Arita Dotum KR Medium" panose="02020603020101020101" pitchFamily="18" charset="-127"/>
              </a:rPr>
              <a:t>&lt;</a:t>
            </a:r>
            <a:r>
              <a:rPr lang="ko-KR" altLang="en-US" sz="1400" dirty="0" smtClean="0">
                <a:latin typeface="Arita Dotum KR Medium" panose="02020603020101020101" pitchFamily="18" charset="-127"/>
                <a:ea typeface="Arita Dotum KR Medium" panose="02020603020101020101" pitchFamily="18" charset="-127"/>
              </a:rPr>
              <a:t>갑</a:t>
            </a:r>
            <a:r>
              <a:rPr lang="en-US" altLang="ko-KR" sz="1400" dirty="0" smtClean="0">
                <a:latin typeface="Arita Dotum KR Medium" panose="02020603020101020101" pitchFamily="18" charset="-127"/>
                <a:ea typeface="Arita Dotum KR Medium" panose="02020603020101020101" pitchFamily="18" charset="-127"/>
              </a:rPr>
              <a:t>&gt; </a:t>
            </a:r>
            <a:r>
              <a:rPr lang="ko-KR" altLang="en-US" sz="1400" dirty="0">
                <a:latin typeface="Arita Dotum KR Medium" panose="02020603020101020101" pitchFamily="18" charset="-127"/>
                <a:ea typeface="Arita Dotum KR Medium" panose="02020603020101020101" pitchFamily="18" charset="-127"/>
              </a:rPr>
              <a:t>생성</a:t>
            </a:r>
          </a:p>
        </p:txBody>
      </p:sp>
      <p:cxnSp>
        <p:nvCxnSpPr>
          <p:cNvPr id="67" name="직선 화살표 연결선 66"/>
          <p:cNvCxnSpPr>
            <a:stCxn id="29" idx="3"/>
            <a:endCxn id="66" idx="1"/>
          </p:cNvCxnSpPr>
          <p:nvPr/>
        </p:nvCxnSpPr>
        <p:spPr>
          <a:xfrm>
            <a:off x="3487243" y="2697826"/>
            <a:ext cx="904059" cy="52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7089709" y="1557314"/>
            <a:ext cx="1997663" cy="444737"/>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환급신청서</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&lt;</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갑</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&gt;</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지 생성 기준</a:t>
            </a:r>
            <a:endPar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a:p>
            <a:pPr algn="l" defTabSz="1036747" fontAlgn="ctr" latinLnBrk="0">
              <a:lnSpc>
                <a:spcPct val="110000"/>
              </a:lnSpc>
              <a:spcBef>
                <a:spcPct val="0"/>
              </a:spcBef>
              <a:spcAft>
                <a:spcPts val="300"/>
              </a:spcAft>
              <a:buSzPct val="100000"/>
            </a:pP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제조자</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HSCODE, </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수출신고 구분</a:t>
            </a:r>
          </a:p>
        </p:txBody>
      </p:sp>
      <p:sp>
        <p:nvSpPr>
          <p:cNvPr id="75" name="TextBox 74"/>
          <p:cNvSpPr txBox="1"/>
          <p:nvPr/>
        </p:nvSpPr>
        <p:spPr>
          <a:xfrm>
            <a:off x="3251614" y="3869062"/>
            <a:ext cx="1452962" cy="203133"/>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수출일자</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기준 최근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BOM</a:t>
            </a:r>
            <a:endPar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p:txBody>
      </p:sp>
      <p:sp>
        <p:nvSpPr>
          <p:cNvPr id="76" name="TextBox 75"/>
          <p:cNvSpPr txBox="1"/>
          <p:nvPr/>
        </p:nvSpPr>
        <p:spPr>
          <a:xfrm>
            <a:off x="5372492" y="6056596"/>
            <a:ext cx="1737014" cy="203133"/>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원자료</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사용 시 선입선출 적용</a:t>
            </a:r>
          </a:p>
        </p:txBody>
      </p:sp>
      <p:sp>
        <p:nvSpPr>
          <p:cNvPr id="30" name="TextBox 29">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부록</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68180466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직사각형 52"/>
          <p:cNvSpPr/>
          <p:nvPr/>
        </p:nvSpPr>
        <p:spPr>
          <a:xfrm>
            <a:off x="3394976" y="5308083"/>
            <a:ext cx="3513835" cy="780809"/>
          </a:xfrm>
          <a:prstGeom prst="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6" name="직사각형 35"/>
          <p:cNvSpPr/>
          <p:nvPr/>
        </p:nvSpPr>
        <p:spPr>
          <a:xfrm>
            <a:off x="1107740" y="3849345"/>
            <a:ext cx="3513835" cy="780809"/>
          </a:xfrm>
          <a:prstGeom prst="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5" name="직사각형 34"/>
          <p:cNvSpPr/>
          <p:nvPr/>
        </p:nvSpPr>
        <p:spPr>
          <a:xfrm>
            <a:off x="1107740" y="2410461"/>
            <a:ext cx="3513835" cy="780809"/>
          </a:xfrm>
          <a:prstGeom prst="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3" name="TextBox 32">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부록</a:t>
            </a:r>
            <a:r>
              <a:rPr lang="en-US" altLang="ko-KR" dirty="0" smtClean="0">
                <a:latin typeface="Arita Dotum KR Medium" panose="02020603020101020101" pitchFamily="18" charset="-127"/>
                <a:ea typeface="Arita Dotum KR Medium" panose="02020603020101020101" pitchFamily="18" charset="-127"/>
              </a:rPr>
              <a:t>2. </a:t>
            </a:r>
            <a:r>
              <a:rPr lang="ko-KR" altLang="en-US" dirty="0">
                <a:latin typeface="Arita Dotum KR Medium" panose="02020603020101020101" pitchFamily="18" charset="-127"/>
                <a:ea typeface="Arita Dotum KR Medium" panose="02020603020101020101" pitchFamily="18" charset="-127"/>
              </a:rPr>
              <a:t>분증계산모듈</a:t>
            </a:r>
            <a:r>
              <a:rPr lang="en-US" altLang="ko-KR" dirty="0">
                <a:latin typeface="Arita Dotum KR Medium" panose="02020603020101020101" pitchFamily="18" charset="-127"/>
                <a:ea typeface="Arita Dotum KR Medium" panose="02020603020101020101" pitchFamily="18" charset="-127"/>
              </a:rPr>
              <a:t>(</a:t>
            </a:r>
            <a:r>
              <a:rPr lang="ko-KR" altLang="en-US" dirty="0" err="1">
                <a:latin typeface="Arita Dotum KR Medium" panose="02020603020101020101" pitchFamily="18" charset="-127"/>
                <a:ea typeface="Arita Dotum KR Medium" panose="02020603020101020101" pitchFamily="18" charset="-127"/>
              </a:rPr>
              <a:t>분할증명서</a:t>
            </a:r>
            <a:r>
              <a:rPr lang="ko-KR" altLang="en-US" dirty="0">
                <a:latin typeface="Arita Dotum KR Medium" panose="02020603020101020101" pitchFamily="18" charset="-127"/>
                <a:ea typeface="Arita Dotum KR Medium" panose="02020603020101020101" pitchFamily="18" charset="-127"/>
              </a:rPr>
              <a:t> 생성</a:t>
            </a:r>
            <a:r>
              <a:rPr lang="en-US" altLang="ko-KR" dirty="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24" name="직사각형 23"/>
          <p:cNvSpPr/>
          <p:nvPr/>
        </p:nvSpPr>
        <p:spPr>
          <a:xfrm>
            <a:off x="2124960" y="1369792"/>
            <a:ext cx="1479396"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atin typeface="Arita Dotum KR Medium" panose="02020603020101020101" pitchFamily="18" charset="-127"/>
                <a:ea typeface="Arita Dotum KR Medium" panose="02020603020101020101" pitchFamily="18" charset="-127"/>
              </a:rPr>
              <a:t>수출 데이터</a:t>
            </a:r>
            <a:endParaRPr lang="ko-KR" altLang="en-US" dirty="0">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1314638" y="2518368"/>
            <a:ext cx="1479396"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atin typeface="Arita Dotum KR Medium" panose="02020603020101020101" pitchFamily="18" charset="-127"/>
                <a:ea typeface="Arita Dotum KR Medium" panose="02020603020101020101" pitchFamily="18" charset="-127"/>
              </a:rPr>
              <a:t>매출데이터</a:t>
            </a:r>
            <a:endParaRPr lang="ko-KR" altLang="en-US" dirty="0">
              <a:latin typeface="Arita Dotum KR Medium" panose="02020603020101020101" pitchFamily="18" charset="-127"/>
              <a:ea typeface="Arita Dotum KR Medium" panose="02020603020101020101" pitchFamily="18" charset="-127"/>
            </a:endParaRPr>
          </a:p>
        </p:txBody>
      </p:sp>
      <p:sp>
        <p:nvSpPr>
          <p:cNvPr id="31" name="직사각형 30"/>
          <p:cNvSpPr/>
          <p:nvPr/>
        </p:nvSpPr>
        <p:spPr>
          <a:xfrm>
            <a:off x="1314638" y="3957251"/>
            <a:ext cx="1479396"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atin typeface="Arita Dotum KR Medium" panose="02020603020101020101" pitchFamily="18" charset="-127"/>
                <a:ea typeface="Arita Dotum KR Medium" panose="02020603020101020101" pitchFamily="18" charset="-127"/>
              </a:rPr>
              <a:t>매각데이터</a:t>
            </a:r>
            <a:endParaRPr lang="ko-KR" altLang="en-US" dirty="0">
              <a:latin typeface="Arita Dotum KR Medium" panose="02020603020101020101" pitchFamily="18" charset="-127"/>
              <a:ea typeface="Arita Dotum KR Medium" panose="02020603020101020101" pitchFamily="18" charset="-127"/>
            </a:endParaRPr>
          </a:p>
        </p:txBody>
      </p:sp>
      <p:sp>
        <p:nvSpPr>
          <p:cNvPr id="37" name="TextBox 36"/>
          <p:cNvSpPr txBox="1"/>
          <p:nvPr/>
        </p:nvSpPr>
        <p:spPr>
          <a:xfrm>
            <a:off x="2956637" y="2570672"/>
            <a:ext cx="1391086" cy="444737"/>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수출일자</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기준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1</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년 내의</a:t>
            </a:r>
            <a:endPar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매출데이터</a:t>
            </a:r>
            <a:endPar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p:txBody>
      </p:sp>
      <p:sp>
        <p:nvSpPr>
          <p:cNvPr id="38" name="TextBox 37"/>
          <p:cNvSpPr txBox="1"/>
          <p:nvPr/>
        </p:nvSpPr>
        <p:spPr>
          <a:xfrm>
            <a:off x="2956637" y="4017379"/>
            <a:ext cx="1399101" cy="444737"/>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매출일자</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기준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1</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년 내의</a:t>
            </a:r>
            <a:endPar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매각데이터</a:t>
            </a:r>
            <a:endPar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p:txBody>
      </p:sp>
      <p:sp>
        <p:nvSpPr>
          <p:cNvPr id="41" name="직사각형 40"/>
          <p:cNvSpPr/>
          <p:nvPr/>
        </p:nvSpPr>
        <p:spPr>
          <a:xfrm>
            <a:off x="1748467" y="6476708"/>
            <a:ext cx="2232379" cy="4254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atin typeface="Arita Dotum KR Medium" panose="02020603020101020101" pitchFamily="18" charset="-127"/>
                <a:ea typeface="Arita Dotum KR Medium" panose="02020603020101020101" pitchFamily="18" charset="-127"/>
              </a:rPr>
              <a:t>분할 증명서 </a:t>
            </a:r>
            <a:r>
              <a:rPr lang="en-US" altLang="ko-KR" sz="1400" dirty="0" smtClean="0">
                <a:latin typeface="Arita Dotum KR Medium" panose="02020603020101020101" pitchFamily="18" charset="-127"/>
                <a:ea typeface="Arita Dotum KR Medium" panose="02020603020101020101" pitchFamily="18" charset="-127"/>
              </a:rPr>
              <a:t>&lt;</a:t>
            </a:r>
            <a:r>
              <a:rPr lang="ko-KR" altLang="en-US" sz="1400" dirty="0" smtClean="0">
                <a:latin typeface="Arita Dotum KR Medium" panose="02020603020101020101" pitchFamily="18" charset="-127"/>
                <a:ea typeface="Arita Dotum KR Medium" panose="02020603020101020101" pitchFamily="18" charset="-127"/>
              </a:rPr>
              <a:t>을</a:t>
            </a:r>
            <a:r>
              <a:rPr lang="en-US" altLang="ko-KR" sz="1400" dirty="0" smtClean="0">
                <a:latin typeface="Arita Dotum KR Medium" panose="02020603020101020101" pitchFamily="18" charset="-127"/>
                <a:ea typeface="Arita Dotum KR Medium" panose="02020603020101020101" pitchFamily="18" charset="-127"/>
              </a:rPr>
              <a:t>&gt; </a:t>
            </a:r>
            <a:r>
              <a:rPr lang="ko-KR" altLang="en-US" sz="1400" dirty="0">
                <a:latin typeface="Arita Dotum KR Medium" panose="02020603020101020101" pitchFamily="18" charset="-127"/>
                <a:ea typeface="Arita Dotum KR Medium" panose="02020603020101020101" pitchFamily="18" charset="-127"/>
              </a:rPr>
              <a:t>생성</a:t>
            </a:r>
          </a:p>
        </p:txBody>
      </p:sp>
      <p:sp>
        <p:nvSpPr>
          <p:cNvPr id="42" name="TextBox 41"/>
          <p:cNvSpPr txBox="1"/>
          <p:nvPr/>
        </p:nvSpPr>
        <p:spPr>
          <a:xfrm>
            <a:off x="4621575" y="1322921"/>
            <a:ext cx="1709763" cy="444737"/>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분할증명서</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&lt;</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갑</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&gt;</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지 생성 기준</a:t>
            </a:r>
            <a:endPar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a:p>
            <a:pPr algn="l" defTabSz="1036747" fontAlgn="ctr" latinLnBrk="0">
              <a:lnSpc>
                <a:spcPct val="110000"/>
              </a:lnSpc>
              <a:spcBef>
                <a:spcPct val="0"/>
              </a:spcBef>
              <a:spcAft>
                <a:spcPts val="300"/>
              </a:spcAft>
              <a:buSzPct val="100000"/>
            </a:pP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a:t>
            </a: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매각일자</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HSCODE</a:t>
            </a:r>
            <a:endPar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p:txBody>
      </p:sp>
      <p:cxnSp>
        <p:nvCxnSpPr>
          <p:cNvPr id="3" name="직선 화살표 연결선 2"/>
          <p:cNvCxnSpPr>
            <a:stCxn id="24" idx="2"/>
            <a:endCxn id="35" idx="0"/>
          </p:cNvCxnSpPr>
          <p:nvPr/>
        </p:nvCxnSpPr>
        <p:spPr>
          <a:xfrm>
            <a:off x="2864658" y="1934787"/>
            <a:ext cx="0" cy="475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직선 화살표 연결선 4"/>
          <p:cNvCxnSpPr>
            <a:stCxn id="35" idx="2"/>
            <a:endCxn id="36" idx="0"/>
          </p:cNvCxnSpPr>
          <p:nvPr/>
        </p:nvCxnSpPr>
        <p:spPr>
          <a:xfrm>
            <a:off x="2864658" y="3191270"/>
            <a:ext cx="0" cy="6580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직선 화살표 연결선 6"/>
          <p:cNvCxnSpPr>
            <a:stCxn id="36" idx="2"/>
            <a:endCxn id="41" idx="0"/>
          </p:cNvCxnSpPr>
          <p:nvPr/>
        </p:nvCxnSpPr>
        <p:spPr>
          <a:xfrm flipH="1">
            <a:off x="2864657" y="4630154"/>
            <a:ext cx="1" cy="1846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직사각형 42"/>
          <p:cNvSpPr/>
          <p:nvPr/>
        </p:nvSpPr>
        <p:spPr>
          <a:xfrm>
            <a:off x="3569677" y="5418578"/>
            <a:ext cx="1582217"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atin typeface="Arita Dotum KR Medium" panose="02020603020101020101" pitchFamily="18" charset="-127"/>
                <a:ea typeface="Arita Dotum KR Medium" panose="02020603020101020101" pitchFamily="18" charset="-127"/>
              </a:rPr>
              <a:t>원재료 잔량</a:t>
            </a:r>
            <a:endParaRPr lang="ko-KR" altLang="en-US" sz="1400" dirty="0">
              <a:latin typeface="Arita Dotum KR Medium" panose="02020603020101020101" pitchFamily="18" charset="-127"/>
              <a:ea typeface="Arita Dotum KR Medium" panose="02020603020101020101" pitchFamily="18" charset="-127"/>
            </a:endParaRPr>
          </a:p>
        </p:txBody>
      </p:sp>
      <p:cxnSp>
        <p:nvCxnSpPr>
          <p:cNvPr id="45" name="직선 화살표 연결선 44"/>
          <p:cNvCxnSpPr>
            <a:stCxn id="53" idx="1"/>
          </p:cNvCxnSpPr>
          <p:nvPr/>
        </p:nvCxnSpPr>
        <p:spPr>
          <a:xfrm flipH="1">
            <a:off x="2864657" y="5698488"/>
            <a:ext cx="530319" cy="2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직사각형 45"/>
          <p:cNvSpPr/>
          <p:nvPr/>
        </p:nvSpPr>
        <p:spPr>
          <a:xfrm>
            <a:off x="7984005" y="5418578"/>
            <a:ext cx="1582217"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atin typeface="Arita Dotum KR Medium" panose="02020603020101020101" pitchFamily="18" charset="-127"/>
                <a:ea typeface="Arita Dotum KR Medium" panose="02020603020101020101" pitchFamily="18" charset="-127"/>
              </a:rPr>
              <a:t>원재료 잔량 차감</a:t>
            </a:r>
            <a:endParaRPr lang="ko-KR" altLang="en-US" sz="1400" dirty="0">
              <a:latin typeface="Arita Dotum KR Medium" panose="02020603020101020101" pitchFamily="18" charset="-127"/>
              <a:ea typeface="Arita Dotum KR Medium" panose="02020603020101020101" pitchFamily="18" charset="-127"/>
            </a:endParaRPr>
          </a:p>
        </p:txBody>
      </p:sp>
      <p:cxnSp>
        <p:nvCxnSpPr>
          <p:cNvPr id="48" name="직선 화살표 연결선 47"/>
          <p:cNvCxnSpPr>
            <a:stCxn id="53" idx="3"/>
            <a:endCxn id="46" idx="1"/>
          </p:cNvCxnSpPr>
          <p:nvPr/>
        </p:nvCxnSpPr>
        <p:spPr>
          <a:xfrm>
            <a:off x="6908811" y="5698488"/>
            <a:ext cx="1075194" cy="2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직사각형 49"/>
          <p:cNvSpPr/>
          <p:nvPr/>
        </p:nvSpPr>
        <p:spPr>
          <a:xfrm>
            <a:off x="5026925" y="4028338"/>
            <a:ext cx="2232379" cy="4254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atin typeface="Arita Dotum KR Medium" panose="02020603020101020101" pitchFamily="18" charset="-127"/>
                <a:ea typeface="Arita Dotum KR Medium" panose="02020603020101020101" pitchFamily="18" charset="-127"/>
              </a:rPr>
              <a:t>분할 증명서 </a:t>
            </a:r>
            <a:r>
              <a:rPr lang="en-US" altLang="ko-KR" sz="1400" dirty="0" smtClean="0">
                <a:latin typeface="Arita Dotum KR Medium" panose="02020603020101020101" pitchFamily="18" charset="-127"/>
                <a:ea typeface="Arita Dotum KR Medium" panose="02020603020101020101" pitchFamily="18" charset="-127"/>
              </a:rPr>
              <a:t>&lt;</a:t>
            </a:r>
            <a:r>
              <a:rPr lang="ko-KR" altLang="en-US" sz="1400" dirty="0" smtClean="0">
                <a:latin typeface="Arita Dotum KR Medium" panose="02020603020101020101" pitchFamily="18" charset="-127"/>
                <a:ea typeface="Arita Dotum KR Medium" panose="02020603020101020101" pitchFamily="18" charset="-127"/>
              </a:rPr>
              <a:t>갑</a:t>
            </a:r>
            <a:r>
              <a:rPr lang="en-US" altLang="ko-KR" sz="1400" dirty="0" smtClean="0">
                <a:latin typeface="Arita Dotum KR Medium" panose="02020603020101020101" pitchFamily="18" charset="-127"/>
                <a:ea typeface="Arita Dotum KR Medium" panose="02020603020101020101" pitchFamily="18" charset="-127"/>
              </a:rPr>
              <a:t>&gt; </a:t>
            </a:r>
            <a:r>
              <a:rPr lang="ko-KR" altLang="en-US" sz="1400" dirty="0">
                <a:latin typeface="Arita Dotum KR Medium" panose="02020603020101020101" pitchFamily="18" charset="-127"/>
                <a:ea typeface="Arita Dotum KR Medium" panose="02020603020101020101" pitchFamily="18" charset="-127"/>
              </a:rPr>
              <a:t>생성</a:t>
            </a:r>
          </a:p>
        </p:txBody>
      </p:sp>
      <p:cxnSp>
        <p:nvCxnSpPr>
          <p:cNvPr id="13" name="직선 화살표 연결선 12"/>
          <p:cNvCxnSpPr>
            <a:stCxn id="36" idx="3"/>
            <a:endCxn id="50" idx="1"/>
          </p:cNvCxnSpPr>
          <p:nvPr/>
        </p:nvCxnSpPr>
        <p:spPr>
          <a:xfrm>
            <a:off x="4621575" y="4239750"/>
            <a:ext cx="405350" cy="13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5236225" y="5476118"/>
            <a:ext cx="1175963" cy="406265"/>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수출 이행 </a:t>
            </a: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기준일자</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a:r>
            <a:b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b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원재료 잔량 대상</a:t>
            </a:r>
          </a:p>
        </p:txBody>
      </p:sp>
      <p:sp>
        <p:nvSpPr>
          <p:cNvPr id="25" name="직사각형 24"/>
          <p:cNvSpPr/>
          <p:nvPr/>
        </p:nvSpPr>
        <p:spPr>
          <a:xfrm>
            <a:off x="3394421" y="3262753"/>
            <a:ext cx="1150471" cy="34421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smtClean="0">
                <a:latin typeface="Arita Dotum KR Medium" panose="02020603020101020101" pitchFamily="18" charset="-127"/>
                <a:ea typeface="Arita Dotum KR Medium" panose="02020603020101020101" pitchFamily="18" charset="-127"/>
              </a:rPr>
              <a:t>BOM Data</a:t>
            </a:r>
            <a:endParaRPr lang="ko-KR" altLang="en-US" sz="1400" dirty="0">
              <a:latin typeface="Arita Dotum KR Medium" panose="02020603020101020101" pitchFamily="18" charset="-127"/>
              <a:ea typeface="Arita Dotum KR Medium" panose="02020603020101020101" pitchFamily="18" charset="-127"/>
            </a:endParaRPr>
          </a:p>
        </p:txBody>
      </p:sp>
      <p:cxnSp>
        <p:nvCxnSpPr>
          <p:cNvPr id="26" name="직선 화살표 연결선 25"/>
          <p:cNvCxnSpPr>
            <a:stCxn id="25" idx="1"/>
          </p:cNvCxnSpPr>
          <p:nvPr/>
        </p:nvCxnSpPr>
        <p:spPr>
          <a:xfrm flipH="1" flipV="1">
            <a:off x="2864656" y="3434747"/>
            <a:ext cx="529765" cy="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229875" y="3590291"/>
            <a:ext cx="1460977" cy="203133"/>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매출일자</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기준 최근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BOM</a:t>
            </a:r>
            <a:endPar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p:txBody>
      </p:sp>
      <p:sp>
        <p:nvSpPr>
          <p:cNvPr id="28" name="TextBox 27"/>
          <p:cNvSpPr txBox="1"/>
          <p:nvPr/>
        </p:nvSpPr>
        <p:spPr>
          <a:xfrm>
            <a:off x="7773557" y="6023255"/>
            <a:ext cx="1737014" cy="203133"/>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원자료</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사용 시 선입선출 적용</a:t>
            </a:r>
          </a:p>
        </p:txBody>
      </p:sp>
      <p:sp>
        <p:nvSpPr>
          <p:cNvPr id="29" name="TextBox 28">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부록</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403437181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직사각형 52"/>
          <p:cNvSpPr/>
          <p:nvPr/>
        </p:nvSpPr>
        <p:spPr>
          <a:xfrm>
            <a:off x="3394976" y="4890392"/>
            <a:ext cx="3513835" cy="780809"/>
          </a:xfrm>
          <a:prstGeom prst="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35" name="직사각형 34"/>
          <p:cNvSpPr/>
          <p:nvPr/>
        </p:nvSpPr>
        <p:spPr>
          <a:xfrm>
            <a:off x="1107740" y="2410461"/>
            <a:ext cx="3513835" cy="780809"/>
          </a:xfrm>
          <a:prstGeom prst="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Arita Dotum KR Medium" panose="02020603020101020101" pitchFamily="18" charset="-127"/>
              <a:ea typeface="Arita Dotum KR Medium" panose="02020603020101020101" pitchFamily="18" charset="-127"/>
            </a:endParaRPr>
          </a:p>
        </p:txBody>
      </p:sp>
      <p:sp>
        <p:nvSpPr>
          <p:cNvPr id="24" name="직사각형 23"/>
          <p:cNvSpPr/>
          <p:nvPr/>
        </p:nvSpPr>
        <p:spPr>
          <a:xfrm>
            <a:off x="2124960" y="1369792"/>
            <a:ext cx="1479396"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atin typeface="Arita Dotum KR Medium" panose="02020603020101020101" pitchFamily="18" charset="-127"/>
                <a:ea typeface="Arita Dotum KR Medium" panose="02020603020101020101" pitchFamily="18" charset="-127"/>
              </a:rPr>
              <a:t>수출 데이터</a:t>
            </a:r>
            <a:endParaRPr lang="ko-KR" altLang="en-US" dirty="0">
              <a:latin typeface="Arita Dotum KR Medium" panose="02020603020101020101" pitchFamily="18" charset="-127"/>
              <a:ea typeface="Arita Dotum KR Medium" panose="02020603020101020101" pitchFamily="18" charset="-127"/>
            </a:endParaRPr>
          </a:p>
        </p:txBody>
      </p:sp>
      <p:sp>
        <p:nvSpPr>
          <p:cNvPr id="30" name="직사각형 29"/>
          <p:cNvSpPr/>
          <p:nvPr/>
        </p:nvSpPr>
        <p:spPr>
          <a:xfrm>
            <a:off x="1314638" y="2518368"/>
            <a:ext cx="1479396"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atin typeface="Arita Dotum KR Medium" panose="02020603020101020101" pitchFamily="18" charset="-127"/>
                <a:ea typeface="Arita Dotum KR Medium" panose="02020603020101020101" pitchFamily="18" charset="-127"/>
              </a:rPr>
              <a:t>매출데이터</a:t>
            </a:r>
            <a:endParaRPr lang="ko-KR" altLang="en-US" dirty="0">
              <a:latin typeface="Arita Dotum KR Medium" panose="02020603020101020101" pitchFamily="18" charset="-127"/>
              <a:ea typeface="Arita Dotum KR Medium" panose="02020603020101020101" pitchFamily="18" charset="-127"/>
            </a:endParaRPr>
          </a:p>
        </p:txBody>
      </p:sp>
      <p:sp>
        <p:nvSpPr>
          <p:cNvPr id="31" name="직사각형 30"/>
          <p:cNvSpPr/>
          <p:nvPr/>
        </p:nvSpPr>
        <p:spPr>
          <a:xfrm>
            <a:off x="1432979" y="3921819"/>
            <a:ext cx="2863353"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latin typeface="Arita Dotum KR Medium" panose="02020603020101020101" pitchFamily="18" charset="-127"/>
                <a:ea typeface="Arita Dotum KR Medium" panose="02020603020101020101" pitchFamily="18" charset="-127"/>
              </a:rPr>
              <a:t>환급 원재료 대상 추출</a:t>
            </a:r>
          </a:p>
        </p:txBody>
      </p:sp>
      <p:sp>
        <p:nvSpPr>
          <p:cNvPr id="37" name="TextBox 36"/>
          <p:cNvSpPr txBox="1"/>
          <p:nvPr/>
        </p:nvSpPr>
        <p:spPr>
          <a:xfrm>
            <a:off x="2956637" y="2570672"/>
            <a:ext cx="1391086" cy="444737"/>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수출일자</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기준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1</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년 내의</a:t>
            </a:r>
            <a:endPar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매출데이터</a:t>
            </a:r>
            <a:endPar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p:txBody>
      </p:sp>
      <p:sp>
        <p:nvSpPr>
          <p:cNvPr id="41" name="직사각형 40"/>
          <p:cNvSpPr/>
          <p:nvPr/>
        </p:nvSpPr>
        <p:spPr>
          <a:xfrm>
            <a:off x="1748467" y="6476708"/>
            <a:ext cx="2232379" cy="4254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smtClean="0">
                <a:latin typeface="Arita Dotum KR Medium" panose="02020603020101020101" pitchFamily="18" charset="-127"/>
                <a:ea typeface="Arita Dotum KR Medium" panose="02020603020101020101" pitchFamily="18" charset="-127"/>
              </a:rPr>
              <a:t>기납증</a:t>
            </a:r>
            <a:r>
              <a:rPr lang="ko-KR" altLang="en-US" sz="1400" dirty="0" smtClean="0">
                <a:latin typeface="Arita Dotum KR Medium" panose="02020603020101020101" pitchFamily="18" charset="-127"/>
                <a:ea typeface="Arita Dotum KR Medium" panose="02020603020101020101" pitchFamily="18" charset="-127"/>
              </a:rPr>
              <a:t> </a:t>
            </a:r>
            <a:r>
              <a:rPr lang="en-US" altLang="ko-KR" sz="1400" dirty="0" smtClean="0">
                <a:latin typeface="Arita Dotum KR Medium" panose="02020603020101020101" pitchFamily="18" charset="-127"/>
                <a:ea typeface="Arita Dotum KR Medium" panose="02020603020101020101" pitchFamily="18" charset="-127"/>
              </a:rPr>
              <a:t>&lt;</a:t>
            </a:r>
            <a:r>
              <a:rPr lang="ko-KR" altLang="en-US" sz="1400" dirty="0" smtClean="0">
                <a:latin typeface="Arita Dotum KR Medium" panose="02020603020101020101" pitchFamily="18" charset="-127"/>
                <a:ea typeface="Arita Dotum KR Medium" panose="02020603020101020101" pitchFamily="18" charset="-127"/>
              </a:rPr>
              <a:t>병</a:t>
            </a:r>
            <a:r>
              <a:rPr lang="en-US" altLang="ko-KR" sz="1400" dirty="0" smtClean="0">
                <a:latin typeface="Arita Dotum KR Medium" panose="02020603020101020101" pitchFamily="18" charset="-127"/>
                <a:ea typeface="Arita Dotum KR Medium" panose="02020603020101020101" pitchFamily="18" charset="-127"/>
              </a:rPr>
              <a:t>&gt; </a:t>
            </a:r>
            <a:r>
              <a:rPr lang="ko-KR" altLang="en-US" sz="1400" dirty="0">
                <a:latin typeface="Arita Dotum KR Medium" panose="02020603020101020101" pitchFamily="18" charset="-127"/>
                <a:ea typeface="Arita Dotum KR Medium" panose="02020603020101020101" pitchFamily="18" charset="-127"/>
              </a:rPr>
              <a:t>생성</a:t>
            </a:r>
          </a:p>
        </p:txBody>
      </p:sp>
      <p:sp>
        <p:nvSpPr>
          <p:cNvPr id="42" name="TextBox 41"/>
          <p:cNvSpPr txBox="1"/>
          <p:nvPr/>
        </p:nvSpPr>
        <p:spPr>
          <a:xfrm>
            <a:off x="4621575" y="1322921"/>
            <a:ext cx="1709763" cy="444737"/>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분할증명서</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&lt;</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갑</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&gt;</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지 생성 기준</a:t>
            </a:r>
            <a:endPar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a:p>
            <a:pPr algn="l" defTabSz="1036747" fontAlgn="ctr" latinLnBrk="0">
              <a:lnSpc>
                <a:spcPct val="110000"/>
              </a:lnSpc>
              <a:spcBef>
                <a:spcPct val="0"/>
              </a:spcBef>
              <a:spcAft>
                <a:spcPts val="300"/>
              </a:spcAft>
              <a:buSzPct val="100000"/>
            </a:pP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a:t>
            </a: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매각일자</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HSCODE</a:t>
            </a:r>
            <a:endPar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p:txBody>
      </p:sp>
      <p:cxnSp>
        <p:nvCxnSpPr>
          <p:cNvPr id="3" name="직선 화살표 연결선 2"/>
          <p:cNvCxnSpPr>
            <a:stCxn id="24" idx="2"/>
            <a:endCxn id="35" idx="0"/>
          </p:cNvCxnSpPr>
          <p:nvPr/>
        </p:nvCxnSpPr>
        <p:spPr>
          <a:xfrm>
            <a:off x="2864658" y="1934787"/>
            <a:ext cx="0" cy="475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직선 화살표 연결선 4"/>
          <p:cNvCxnSpPr>
            <a:stCxn id="35" idx="2"/>
            <a:endCxn id="31" idx="0"/>
          </p:cNvCxnSpPr>
          <p:nvPr/>
        </p:nvCxnSpPr>
        <p:spPr>
          <a:xfrm flipH="1">
            <a:off x="2864656" y="3191270"/>
            <a:ext cx="2" cy="7305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직선 화살표 연결선 6"/>
          <p:cNvCxnSpPr>
            <a:stCxn id="31" idx="2"/>
            <a:endCxn id="41" idx="0"/>
          </p:cNvCxnSpPr>
          <p:nvPr/>
        </p:nvCxnSpPr>
        <p:spPr>
          <a:xfrm>
            <a:off x="2864656" y="4486814"/>
            <a:ext cx="1" cy="19898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직사각형 42"/>
          <p:cNvSpPr/>
          <p:nvPr/>
        </p:nvSpPr>
        <p:spPr>
          <a:xfrm>
            <a:off x="3569677" y="5000887"/>
            <a:ext cx="1582217"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atin typeface="Arita Dotum KR Medium" panose="02020603020101020101" pitchFamily="18" charset="-127"/>
                <a:ea typeface="Arita Dotum KR Medium" panose="02020603020101020101" pitchFamily="18" charset="-127"/>
              </a:rPr>
              <a:t>원재료 잔량</a:t>
            </a:r>
            <a:endParaRPr lang="ko-KR" altLang="en-US" sz="1400" dirty="0">
              <a:latin typeface="Arita Dotum KR Medium" panose="02020603020101020101" pitchFamily="18" charset="-127"/>
              <a:ea typeface="Arita Dotum KR Medium" panose="02020603020101020101" pitchFamily="18" charset="-127"/>
            </a:endParaRPr>
          </a:p>
        </p:txBody>
      </p:sp>
      <p:cxnSp>
        <p:nvCxnSpPr>
          <p:cNvPr id="45" name="직선 화살표 연결선 44"/>
          <p:cNvCxnSpPr>
            <a:stCxn id="53" idx="1"/>
          </p:cNvCxnSpPr>
          <p:nvPr/>
        </p:nvCxnSpPr>
        <p:spPr>
          <a:xfrm flipH="1">
            <a:off x="2864657" y="5280797"/>
            <a:ext cx="530319" cy="2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직사각형 45"/>
          <p:cNvSpPr/>
          <p:nvPr/>
        </p:nvSpPr>
        <p:spPr>
          <a:xfrm>
            <a:off x="7984005" y="5000887"/>
            <a:ext cx="1582217" cy="56499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latin typeface="Arita Dotum KR Medium" panose="02020603020101020101" pitchFamily="18" charset="-127"/>
                <a:ea typeface="Arita Dotum KR Medium" panose="02020603020101020101" pitchFamily="18" charset="-127"/>
              </a:rPr>
              <a:t>원재료 잔량 차감</a:t>
            </a:r>
            <a:endParaRPr lang="ko-KR" altLang="en-US" sz="1400" dirty="0">
              <a:latin typeface="Arita Dotum KR Medium" panose="02020603020101020101" pitchFamily="18" charset="-127"/>
              <a:ea typeface="Arita Dotum KR Medium" panose="02020603020101020101" pitchFamily="18" charset="-127"/>
            </a:endParaRPr>
          </a:p>
        </p:txBody>
      </p:sp>
      <p:cxnSp>
        <p:nvCxnSpPr>
          <p:cNvPr id="48" name="직선 화살표 연결선 47"/>
          <p:cNvCxnSpPr>
            <a:stCxn id="53" idx="3"/>
            <a:endCxn id="46" idx="1"/>
          </p:cNvCxnSpPr>
          <p:nvPr/>
        </p:nvCxnSpPr>
        <p:spPr>
          <a:xfrm>
            <a:off x="6908811" y="5280797"/>
            <a:ext cx="1075194" cy="2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직사각형 49"/>
          <p:cNvSpPr/>
          <p:nvPr/>
        </p:nvSpPr>
        <p:spPr>
          <a:xfrm>
            <a:off x="5026925" y="3991600"/>
            <a:ext cx="2232379" cy="4254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smtClean="0">
                <a:latin typeface="Arita Dotum KR Medium" panose="02020603020101020101" pitchFamily="18" charset="-127"/>
                <a:ea typeface="Arita Dotum KR Medium" panose="02020603020101020101" pitchFamily="18" charset="-127"/>
              </a:rPr>
              <a:t>기납증</a:t>
            </a:r>
            <a:r>
              <a:rPr lang="ko-KR" altLang="en-US" sz="1400" dirty="0" smtClean="0">
                <a:latin typeface="Arita Dotum KR Medium" panose="02020603020101020101" pitchFamily="18" charset="-127"/>
                <a:ea typeface="Arita Dotum KR Medium" panose="02020603020101020101" pitchFamily="18" charset="-127"/>
              </a:rPr>
              <a:t> </a:t>
            </a:r>
            <a:r>
              <a:rPr lang="en-US" altLang="ko-KR" sz="1400" dirty="0" smtClean="0">
                <a:latin typeface="Arita Dotum KR Medium" panose="02020603020101020101" pitchFamily="18" charset="-127"/>
                <a:ea typeface="Arita Dotum KR Medium" panose="02020603020101020101" pitchFamily="18" charset="-127"/>
              </a:rPr>
              <a:t>&lt;</a:t>
            </a:r>
            <a:r>
              <a:rPr lang="ko-KR" altLang="en-US" sz="1400" dirty="0" smtClean="0">
                <a:latin typeface="Arita Dotum KR Medium" panose="02020603020101020101" pitchFamily="18" charset="-127"/>
                <a:ea typeface="Arita Dotum KR Medium" panose="02020603020101020101" pitchFamily="18" charset="-127"/>
              </a:rPr>
              <a:t>을</a:t>
            </a:r>
            <a:r>
              <a:rPr lang="en-US" altLang="ko-KR" sz="1400" dirty="0" smtClean="0">
                <a:latin typeface="Arita Dotum KR Medium" panose="02020603020101020101" pitchFamily="18" charset="-127"/>
                <a:ea typeface="Arita Dotum KR Medium" panose="02020603020101020101" pitchFamily="18" charset="-127"/>
              </a:rPr>
              <a:t>&gt; </a:t>
            </a:r>
            <a:r>
              <a:rPr lang="ko-KR" altLang="en-US" sz="1400" dirty="0">
                <a:latin typeface="Arita Dotum KR Medium" panose="02020603020101020101" pitchFamily="18" charset="-127"/>
                <a:ea typeface="Arita Dotum KR Medium" panose="02020603020101020101" pitchFamily="18" charset="-127"/>
              </a:rPr>
              <a:t>생성</a:t>
            </a:r>
          </a:p>
        </p:txBody>
      </p:sp>
      <p:cxnSp>
        <p:nvCxnSpPr>
          <p:cNvPr id="13" name="직선 화살표 연결선 12"/>
          <p:cNvCxnSpPr>
            <a:stCxn id="31" idx="3"/>
            <a:endCxn id="50" idx="1"/>
          </p:cNvCxnSpPr>
          <p:nvPr/>
        </p:nvCxnSpPr>
        <p:spPr>
          <a:xfrm flipV="1">
            <a:off x="4296332" y="4204316"/>
            <a:ext cx="73059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5236225" y="5058427"/>
            <a:ext cx="1175963" cy="406265"/>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수출 이행 </a:t>
            </a: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기준일자</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a:r>
            <a:b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b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원재료 잔량 대상</a:t>
            </a:r>
          </a:p>
        </p:txBody>
      </p:sp>
      <p:sp>
        <p:nvSpPr>
          <p:cNvPr id="58" name="직사각형 57"/>
          <p:cNvSpPr/>
          <p:nvPr/>
        </p:nvSpPr>
        <p:spPr>
          <a:xfrm>
            <a:off x="3394421" y="3337093"/>
            <a:ext cx="1150471" cy="344214"/>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smtClean="0">
                <a:latin typeface="Arita Dotum KR Medium" panose="02020603020101020101" pitchFamily="18" charset="-127"/>
                <a:ea typeface="Arita Dotum KR Medium" panose="02020603020101020101" pitchFamily="18" charset="-127"/>
              </a:rPr>
              <a:t>BOM Data</a:t>
            </a:r>
            <a:endParaRPr lang="ko-KR" altLang="en-US" sz="1400" dirty="0">
              <a:latin typeface="Arita Dotum KR Medium" panose="02020603020101020101" pitchFamily="18" charset="-127"/>
              <a:ea typeface="Arita Dotum KR Medium" panose="02020603020101020101" pitchFamily="18" charset="-127"/>
            </a:endParaRPr>
          </a:p>
        </p:txBody>
      </p:sp>
      <p:cxnSp>
        <p:nvCxnSpPr>
          <p:cNvPr id="21" name="직선 화살표 연결선 20"/>
          <p:cNvCxnSpPr>
            <a:stCxn id="58" idx="1"/>
          </p:cNvCxnSpPr>
          <p:nvPr/>
        </p:nvCxnSpPr>
        <p:spPr>
          <a:xfrm flipH="1" flipV="1">
            <a:off x="2864656" y="3509087"/>
            <a:ext cx="529765" cy="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r>
              <a:rPr lang="ko-KR" altLang="en-US" dirty="0" smtClean="0">
                <a:latin typeface="Arita Dotum KR Medium" panose="02020603020101020101" pitchFamily="18" charset="-127"/>
                <a:ea typeface="Arita Dotum KR Medium" panose="02020603020101020101" pitchFamily="18" charset="-127"/>
              </a:rPr>
              <a:t>부록</a:t>
            </a:r>
            <a:r>
              <a:rPr lang="en-US" altLang="ko-KR" dirty="0" smtClean="0">
                <a:latin typeface="Arita Dotum KR Medium" panose="02020603020101020101" pitchFamily="18" charset="-127"/>
                <a:ea typeface="Arita Dotum KR Medium" panose="02020603020101020101" pitchFamily="18" charset="-127"/>
              </a:rPr>
              <a:t>2. </a:t>
            </a:r>
            <a:r>
              <a:rPr lang="ko-KR" altLang="en-US" dirty="0" err="1" smtClean="0">
                <a:latin typeface="Arita Dotum KR Medium" panose="02020603020101020101" pitchFamily="18" charset="-127"/>
                <a:ea typeface="Arita Dotum KR Medium" panose="02020603020101020101" pitchFamily="18" charset="-127"/>
              </a:rPr>
              <a:t>기납증계산모듈</a:t>
            </a:r>
            <a:r>
              <a:rPr lang="en-US" altLang="ko-KR" dirty="0" smtClean="0">
                <a:latin typeface="Arita Dotum KR Medium" panose="02020603020101020101" pitchFamily="18" charset="-127"/>
                <a:ea typeface="Arita Dotum KR Medium" panose="02020603020101020101" pitchFamily="18" charset="-127"/>
              </a:rPr>
              <a:t>(</a:t>
            </a:r>
            <a:r>
              <a:rPr lang="ko-KR" altLang="en-US" dirty="0" smtClean="0">
                <a:latin typeface="Arita Dotum KR Medium" panose="02020603020101020101" pitchFamily="18" charset="-127"/>
                <a:ea typeface="Arita Dotum KR Medium" panose="02020603020101020101" pitchFamily="18" charset="-127"/>
              </a:rPr>
              <a:t>기초원재료납세 증명서 생성</a:t>
            </a:r>
            <a:r>
              <a:rPr lang="en-US" altLang="ko-KR" dirty="0" smtClean="0">
                <a:latin typeface="Arita Dotum KR Medium" panose="02020603020101020101" pitchFamily="18" charset="-127"/>
                <a:ea typeface="Arita Dotum KR Medium" panose="02020603020101020101" pitchFamily="18" charset="-127"/>
              </a:rPr>
              <a:t>)</a:t>
            </a:r>
            <a:endParaRPr lang="ko-KR" altLang="en-US" dirty="0">
              <a:latin typeface="Arita Dotum KR Medium" panose="02020603020101020101" pitchFamily="18" charset="-127"/>
              <a:ea typeface="Arita Dotum KR Medium" panose="02020603020101020101" pitchFamily="18" charset="-127"/>
            </a:endParaRPr>
          </a:p>
        </p:txBody>
      </p:sp>
      <p:sp>
        <p:nvSpPr>
          <p:cNvPr id="68" name="TextBox 67"/>
          <p:cNvSpPr txBox="1"/>
          <p:nvPr/>
        </p:nvSpPr>
        <p:spPr>
          <a:xfrm>
            <a:off x="3229875" y="3664631"/>
            <a:ext cx="1460977" cy="203133"/>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매출일자</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기준 최근 </a:t>
            </a:r>
            <a:r>
              <a:rPr lang="en-US" altLang="ko-KR"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BOM</a:t>
            </a:r>
            <a:endPar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endParaRPr>
          </a:p>
        </p:txBody>
      </p:sp>
      <p:sp>
        <p:nvSpPr>
          <p:cNvPr id="69" name="직사각형 68"/>
          <p:cNvSpPr/>
          <p:nvPr/>
        </p:nvSpPr>
        <p:spPr>
          <a:xfrm>
            <a:off x="5751626" y="2588149"/>
            <a:ext cx="2232379" cy="4254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latin typeface="Arita Dotum KR Medium" panose="02020603020101020101" pitchFamily="18" charset="-127"/>
                <a:ea typeface="Arita Dotum KR Medium" panose="02020603020101020101" pitchFamily="18" charset="-127"/>
              </a:rPr>
              <a:t>기납증</a:t>
            </a:r>
            <a:r>
              <a:rPr lang="ko-KR" altLang="en-US" sz="1400" dirty="0" smtClean="0">
                <a:latin typeface="Arita Dotum KR Medium" panose="02020603020101020101" pitchFamily="18" charset="-127"/>
                <a:ea typeface="Arita Dotum KR Medium" panose="02020603020101020101" pitchFamily="18" charset="-127"/>
              </a:rPr>
              <a:t> </a:t>
            </a:r>
            <a:r>
              <a:rPr lang="en-US" altLang="ko-KR" sz="1400" dirty="0" smtClean="0">
                <a:latin typeface="Arita Dotum KR Medium" panose="02020603020101020101" pitchFamily="18" charset="-127"/>
                <a:ea typeface="Arita Dotum KR Medium" panose="02020603020101020101" pitchFamily="18" charset="-127"/>
              </a:rPr>
              <a:t>&lt;</a:t>
            </a:r>
            <a:r>
              <a:rPr lang="ko-KR" altLang="en-US" sz="1400" dirty="0" smtClean="0">
                <a:latin typeface="Arita Dotum KR Medium" panose="02020603020101020101" pitchFamily="18" charset="-127"/>
                <a:ea typeface="Arita Dotum KR Medium" panose="02020603020101020101" pitchFamily="18" charset="-127"/>
              </a:rPr>
              <a:t>갑</a:t>
            </a:r>
            <a:r>
              <a:rPr lang="en-US" altLang="ko-KR" sz="1400" dirty="0" smtClean="0">
                <a:latin typeface="Arita Dotum KR Medium" panose="02020603020101020101" pitchFamily="18" charset="-127"/>
                <a:ea typeface="Arita Dotum KR Medium" panose="02020603020101020101" pitchFamily="18" charset="-127"/>
              </a:rPr>
              <a:t>&gt; </a:t>
            </a:r>
            <a:r>
              <a:rPr lang="ko-KR" altLang="en-US" sz="1400" dirty="0">
                <a:latin typeface="Arita Dotum KR Medium" panose="02020603020101020101" pitchFamily="18" charset="-127"/>
                <a:ea typeface="Arita Dotum KR Medium" panose="02020603020101020101" pitchFamily="18" charset="-127"/>
              </a:rPr>
              <a:t>생성</a:t>
            </a:r>
          </a:p>
        </p:txBody>
      </p:sp>
      <p:cxnSp>
        <p:nvCxnSpPr>
          <p:cNvPr id="70" name="직선 화살표 연결선 69"/>
          <p:cNvCxnSpPr>
            <a:stCxn id="35" idx="3"/>
            <a:endCxn id="69" idx="1"/>
          </p:cNvCxnSpPr>
          <p:nvPr/>
        </p:nvCxnSpPr>
        <p:spPr>
          <a:xfrm flipV="1">
            <a:off x="4621575" y="2800865"/>
            <a:ext cx="113005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7773557" y="5601437"/>
            <a:ext cx="1737014" cy="203133"/>
          </a:xfrm>
          <a:prstGeom prst="rect">
            <a:avLst/>
          </a:prstGeom>
          <a:noFill/>
        </p:spPr>
        <p:txBody>
          <a:bodyPr wrap="none" lIns="0" tIns="0" rIns="0" bIns="0" rtlCol="0">
            <a:spAutoFit/>
          </a:bodyPr>
          <a:lstStyle/>
          <a:p>
            <a:pPr algn="l" defTabSz="1036747" fontAlgn="ctr" latinLnBrk="0">
              <a:lnSpc>
                <a:spcPct val="110000"/>
              </a:lnSpc>
              <a:spcBef>
                <a:spcPct val="0"/>
              </a:spcBef>
              <a:spcAft>
                <a:spcPts val="300"/>
              </a:spcAft>
              <a:buSzPct val="100000"/>
            </a:pPr>
            <a:r>
              <a:rPr lang="ko-KR" altLang="en-US" sz="1200" b="1" spc="-30" dirty="0" err="1"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원자료</a:t>
            </a:r>
            <a:r>
              <a:rPr lang="ko-KR" altLang="en-US" sz="1200" b="1" spc="-30" dirty="0" smtClean="0">
                <a:ln>
                  <a:solidFill>
                    <a:schemeClr val="bg1">
                      <a:alpha val="0"/>
                    </a:schemeClr>
                  </a:solidFill>
                </a:ln>
                <a:solidFill>
                  <a:schemeClr val="tx1">
                    <a:lumMod val="85000"/>
                    <a:lumOff val="15000"/>
                  </a:schemeClr>
                </a:solidFill>
                <a:latin typeface="Arita Dotum KR Medium" panose="02020603020101020101" pitchFamily="18" charset="-127"/>
                <a:ea typeface="Arita Dotum KR Medium" panose="02020603020101020101" pitchFamily="18" charset="-127"/>
              </a:rPr>
              <a:t> 사용 시 선입선출 적용</a:t>
            </a:r>
          </a:p>
        </p:txBody>
      </p:sp>
      <p:sp>
        <p:nvSpPr>
          <p:cNvPr id="27" name="TextBox 26">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부록</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156293093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7C49267A-5354-4D03-BDAD-B95113459E3F}"/>
              </a:ext>
            </a:extLst>
          </p:cNvPr>
          <p:cNvSpPr txBox="1"/>
          <p:nvPr/>
        </p:nvSpPr>
        <p:spPr>
          <a:xfrm>
            <a:off x="649287" y="548347"/>
            <a:ext cx="9596437" cy="430887"/>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아리따-돋움(TTF)-Bold" panose="02020603020101020101" pitchFamily="18" charset="-127"/>
                <a:ea typeface="아리따-돋움(TTF)-Bold" panose="02020603020101020101" pitchFamily="18" charset="-127"/>
              </a:defRPr>
            </a:lvl1pPr>
          </a:lstStyle>
          <a:p>
            <a:r>
              <a:rPr lang="ko-KR" altLang="en-US" dirty="0" smtClean="0">
                <a:latin typeface="Arita Dotum KR Medium" panose="02020603020101020101" pitchFamily="18" charset="-127"/>
                <a:ea typeface="Arita Dotum KR Medium" panose="02020603020101020101" pitchFamily="18" charset="-127"/>
              </a:rPr>
              <a:t>부록</a:t>
            </a:r>
            <a:r>
              <a:rPr lang="en-US" altLang="ko-KR" dirty="0" smtClean="0">
                <a:latin typeface="Arita Dotum KR Medium" panose="02020603020101020101" pitchFamily="18" charset="-127"/>
                <a:ea typeface="Arita Dotum KR Medium" panose="02020603020101020101" pitchFamily="18" charset="-127"/>
              </a:rPr>
              <a:t>3. UNIPASS  </a:t>
            </a:r>
            <a:r>
              <a:rPr lang="ko-KR" altLang="en-US" dirty="0" err="1" smtClean="0">
                <a:latin typeface="Arita Dotum KR Medium" panose="02020603020101020101" pitchFamily="18" charset="-127"/>
                <a:ea typeface="Arita Dotum KR Medium" panose="02020603020101020101" pitchFamily="18" charset="-127"/>
              </a:rPr>
              <a:t>재수신</a:t>
            </a:r>
            <a:r>
              <a:rPr lang="ko-KR" altLang="en-US" dirty="0" smtClean="0">
                <a:latin typeface="Arita Dotum KR Medium" panose="02020603020101020101" pitchFamily="18" charset="-127"/>
                <a:ea typeface="Arita Dotum KR Medium" panose="02020603020101020101" pitchFamily="18" charset="-127"/>
              </a:rPr>
              <a:t> 처리</a:t>
            </a:r>
            <a:endParaRPr lang="ko-KR" altLang="en-US" dirty="0">
              <a:latin typeface="Arita Dotum KR Medium" panose="02020603020101020101" pitchFamily="18" charset="-127"/>
              <a:ea typeface="Arita Dotum KR Medium" panose="02020603020101020101" pitchFamily="18" charset="-127"/>
            </a:endParaRPr>
          </a:p>
        </p:txBody>
      </p:sp>
      <p:sp>
        <p:nvSpPr>
          <p:cNvPr id="16" name="TextBox 15">
            <a:extLst>
              <a:ext uri="{FF2B5EF4-FFF2-40B4-BE49-F238E27FC236}">
                <a16:creationId xmlns:a16="http://schemas.microsoft.com/office/drawing/2014/main" id="{B90186AB-10F7-0A0A-4756-EF3C110F88A1}"/>
              </a:ext>
            </a:extLst>
          </p:cNvPr>
          <p:cNvSpPr txBox="1"/>
          <p:nvPr/>
        </p:nvSpPr>
        <p:spPr>
          <a:xfrm>
            <a:off x="649288" y="1161212"/>
            <a:ext cx="9596437" cy="553998"/>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lvl="0" latinLnBrk="1">
              <a:lnSpc>
                <a:spcPct val="100000"/>
              </a:lnSpc>
              <a:defRPr/>
            </a:pP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정상적으로 수신이 되지 않거나 기타 사유로 </a:t>
            </a: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UNIPASS</a:t>
            </a: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상에는 </a:t>
            </a:r>
            <a:r>
              <a:rPr lang="ko-KR" altLang="en-US" sz="1800"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수신완료</a:t>
            </a:r>
            <a:r>
              <a:rPr lang="ko-KR" altLang="en-US"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처리 되었으나 관세환급 시스템에는 수신이 되지 않는 경우에 대한 가이드 입니다</a:t>
            </a:r>
            <a:r>
              <a:rPr lang="en-US" altLang="ko-KR" sz="18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en-US" altLang="ko-KR" sz="1800"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18" name="그림 17"/>
          <p:cNvPicPr>
            <a:picLocks noChangeAspect="1"/>
          </p:cNvPicPr>
          <p:nvPr/>
        </p:nvPicPr>
        <p:blipFill>
          <a:blip r:embed="rId2"/>
          <a:stretch>
            <a:fillRect/>
          </a:stretch>
        </p:blipFill>
        <p:spPr>
          <a:xfrm>
            <a:off x="1087902" y="2333245"/>
            <a:ext cx="3030276" cy="1815009"/>
          </a:xfrm>
          <a:prstGeom prst="rect">
            <a:avLst/>
          </a:prstGeom>
        </p:spPr>
      </p:pic>
      <p:sp>
        <p:nvSpPr>
          <p:cNvPr id="19" name="직사각형 18"/>
          <p:cNvSpPr/>
          <p:nvPr/>
        </p:nvSpPr>
        <p:spPr>
          <a:xfrm>
            <a:off x="1026881" y="1897188"/>
            <a:ext cx="2964273" cy="523220"/>
          </a:xfrm>
          <a:prstGeom prst="rect">
            <a:avLst/>
          </a:prstGeom>
        </p:spPr>
        <p:txBody>
          <a:bodyPr wrap="none">
            <a:spAutoFit/>
          </a:bodyPr>
          <a:lstStyle/>
          <a:p>
            <a:r>
              <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hlinkClick r:id="rId3"/>
              </a:rPr>
              <a:t>https://unipass.customs.go.kr/</a:t>
            </a:r>
            <a:r>
              <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endPar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사이트에 </a:t>
            </a:r>
            <a:r>
              <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접속하여 </a:t>
            </a:r>
            <a:r>
              <a:rPr lang="ko-KR" altLang="en-US" sz="1400" b="1" spc="-50" dirty="0" err="1">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로그인을</a:t>
            </a:r>
            <a:r>
              <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수행합니다</a:t>
            </a:r>
            <a:r>
              <a:rPr lang="en-US" altLang="ko-KR"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cxnSp>
        <p:nvCxnSpPr>
          <p:cNvPr id="20" name="직선 연결선 19"/>
          <p:cNvCxnSpPr/>
          <p:nvPr/>
        </p:nvCxnSpPr>
        <p:spPr>
          <a:xfrm>
            <a:off x="5248507" y="2075176"/>
            <a:ext cx="0" cy="505417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직선 연결선 20"/>
          <p:cNvCxnSpPr/>
          <p:nvPr/>
        </p:nvCxnSpPr>
        <p:spPr>
          <a:xfrm flipH="1">
            <a:off x="797335" y="4522707"/>
            <a:ext cx="9552878"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pic>
        <p:nvPicPr>
          <p:cNvPr id="26" name="그림 25"/>
          <p:cNvPicPr>
            <a:picLocks noChangeAspect="1"/>
          </p:cNvPicPr>
          <p:nvPr/>
        </p:nvPicPr>
        <p:blipFill>
          <a:blip r:embed="rId4"/>
          <a:stretch>
            <a:fillRect/>
          </a:stretch>
        </p:blipFill>
        <p:spPr>
          <a:xfrm>
            <a:off x="6070148" y="2333245"/>
            <a:ext cx="3629532" cy="1676634"/>
          </a:xfrm>
          <a:prstGeom prst="rect">
            <a:avLst/>
          </a:prstGeom>
        </p:spPr>
      </p:pic>
      <p:sp>
        <p:nvSpPr>
          <p:cNvPr id="27" name="직사각형 26"/>
          <p:cNvSpPr/>
          <p:nvPr/>
        </p:nvSpPr>
        <p:spPr>
          <a:xfrm>
            <a:off x="7642302" y="2505643"/>
            <a:ext cx="735981" cy="32676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p:cNvSpPr/>
          <p:nvPr/>
        </p:nvSpPr>
        <p:spPr>
          <a:xfrm>
            <a:off x="6027116" y="2004909"/>
            <a:ext cx="2616422" cy="307777"/>
          </a:xfrm>
          <a:prstGeom prst="rect">
            <a:avLst/>
          </a:prstGeom>
        </p:spPr>
        <p:txBody>
          <a:bodyPr wrap="none">
            <a:spAutoFit/>
          </a:bodyPr>
          <a:lstStyle/>
          <a:p>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우측 상단의 </a:t>
            </a:r>
            <a:r>
              <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MY </a:t>
            </a:r>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메뉴를 클릭합니다</a:t>
            </a:r>
            <a:r>
              <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29" name="그림 28"/>
          <p:cNvPicPr>
            <a:picLocks noChangeAspect="1"/>
          </p:cNvPicPr>
          <p:nvPr/>
        </p:nvPicPr>
        <p:blipFill>
          <a:blip r:embed="rId5"/>
          <a:stretch>
            <a:fillRect/>
          </a:stretch>
        </p:blipFill>
        <p:spPr>
          <a:xfrm>
            <a:off x="797335" y="4990555"/>
            <a:ext cx="1165280" cy="2053567"/>
          </a:xfrm>
          <a:prstGeom prst="rect">
            <a:avLst/>
          </a:prstGeom>
        </p:spPr>
      </p:pic>
      <p:pic>
        <p:nvPicPr>
          <p:cNvPr id="30" name="그림 29"/>
          <p:cNvPicPr>
            <a:picLocks noChangeAspect="1"/>
          </p:cNvPicPr>
          <p:nvPr/>
        </p:nvPicPr>
        <p:blipFill>
          <a:blip r:embed="rId6"/>
          <a:stretch>
            <a:fillRect/>
          </a:stretch>
        </p:blipFill>
        <p:spPr>
          <a:xfrm>
            <a:off x="892299" y="6318497"/>
            <a:ext cx="2200645" cy="852750"/>
          </a:xfrm>
          <a:prstGeom prst="rect">
            <a:avLst/>
          </a:prstGeom>
        </p:spPr>
      </p:pic>
      <p:sp>
        <p:nvSpPr>
          <p:cNvPr id="31" name="직사각형 30"/>
          <p:cNvSpPr/>
          <p:nvPr/>
        </p:nvSpPr>
        <p:spPr>
          <a:xfrm>
            <a:off x="892299" y="6314521"/>
            <a:ext cx="2061570" cy="8567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p:cNvSpPr/>
          <p:nvPr/>
        </p:nvSpPr>
        <p:spPr>
          <a:xfrm>
            <a:off x="1923084" y="5465474"/>
            <a:ext cx="3158237" cy="523220"/>
          </a:xfrm>
          <a:prstGeom prst="rect">
            <a:avLst/>
          </a:prstGeom>
        </p:spPr>
        <p:txBody>
          <a:bodyPr wrap="none">
            <a:spAutoFit/>
          </a:bodyPr>
          <a:lstStyle/>
          <a:p>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좌측 메뉴에서 </a:t>
            </a:r>
            <a:endPar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r>
              <a:rPr lang="ko-KR" altLang="en-US" sz="1400" b="1"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수신문서함</a:t>
            </a:r>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r>
              <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&gt; </a:t>
            </a:r>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수신 현황 메뉴로 이동합니다</a:t>
            </a:r>
            <a:r>
              <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a:t>
            </a:r>
            <a:endPar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pic>
        <p:nvPicPr>
          <p:cNvPr id="33" name="그림 32"/>
          <p:cNvPicPr>
            <a:picLocks noChangeAspect="1"/>
          </p:cNvPicPr>
          <p:nvPr/>
        </p:nvPicPr>
        <p:blipFill>
          <a:blip r:embed="rId7"/>
          <a:stretch>
            <a:fillRect/>
          </a:stretch>
        </p:blipFill>
        <p:spPr>
          <a:xfrm>
            <a:off x="5602286" y="5543673"/>
            <a:ext cx="4495730" cy="1612546"/>
          </a:xfrm>
          <a:prstGeom prst="rect">
            <a:avLst/>
          </a:prstGeom>
        </p:spPr>
      </p:pic>
      <p:pic>
        <p:nvPicPr>
          <p:cNvPr id="34" name="그림 33"/>
          <p:cNvPicPr>
            <a:picLocks noChangeAspect="1"/>
          </p:cNvPicPr>
          <p:nvPr/>
        </p:nvPicPr>
        <p:blipFill>
          <a:blip r:embed="rId8"/>
          <a:stretch>
            <a:fillRect/>
          </a:stretch>
        </p:blipFill>
        <p:spPr>
          <a:xfrm>
            <a:off x="5974318" y="6223059"/>
            <a:ext cx="530885" cy="519825"/>
          </a:xfrm>
          <a:prstGeom prst="rect">
            <a:avLst/>
          </a:prstGeom>
        </p:spPr>
      </p:pic>
      <p:pic>
        <p:nvPicPr>
          <p:cNvPr id="35" name="그림 34"/>
          <p:cNvPicPr>
            <a:picLocks noChangeAspect="1"/>
          </p:cNvPicPr>
          <p:nvPr/>
        </p:nvPicPr>
        <p:blipFill>
          <a:blip r:embed="rId9"/>
          <a:stretch>
            <a:fillRect/>
          </a:stretch>
        </p:blipFill>
        <p:spPr>
          <a:xfrm>
            <a:off x="9165189" y="6112178"/>
            <a:ext cx="695422" cy="323895"/>
          </a:xfrm>
          <a:prstGeom prst="rect">
            <a:avLst/>
          </a:prstGeom>
        </p:spPr>
      </p:pic>
      <p:sp>
        <p:nvSpPr>
          <p:cNvPr id="36" name="직사각형 35"/>
          <p:cNvSpPr/>
          <p:nvPr/>
        </p:nvSpPr>
        <p:spPr>
          <a:xfrm>
            <a:off x="5974318" y="6187396"/>
            <a:ext cx="542454" cy="5554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p:cNvSpPr/>
          <p:nvPr/>
        </p:nvSpPr>
        <p:spPr>
          <a:xfrm>
            <a:off x="9241673" y="6112178"/>
            <a:ext cx="618938" cy="3452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직사각형 37"/>
          <p:cNvSpPr/>
          <p:nvPr/>
        </p:nvSpPr>
        <p:spPr>
          <a:xfrm>
            <a:off x="5573775" y="4735463"/>
            <a:ext cx="4671950" cy="738664"/>
          </a:xfrm>
          <a:prstGeom prst="rect">
            <a:avLst/>
          </a:prstGeom>
        </p:spPr>
        <p:txBody>
          <a:bodyPr wrap="square">
            <a:spAutoFit/>
          </a:bodyPr>
          <a:lstStyle/>
          <a:p>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데이터를 조회한 후 </a:t>
            </a:r>
            <a:r>
              <a:rPr lang="ko-KR" altLang="en-US" sz="1400" b="1"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좌측읜</a:t>
            </a:r>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체크박스를 선택한 후 재 수신 </a:t>
            </a:r>
            <a:endPar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버튼을 클릭하면 해당데이터는 </a:t>
            </a:r>
            <a:r>
              <a:rPr lang="ko-KR" altLang="en-US" sz="1400" b="1" spc="-50" dirty="0" err="1"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미수신</a:t>
            </a:r>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 상태로 변경되어 </a:t>
            </a:r>
            <a:endPar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a:p>
            <a:r>
              <a:rPr lang="ko-KR" altLang="en-US"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재 수신 할 수 있습니다</a:t>
            </a:r>
            <a:r>
              <a:rPr lang="en-US" altLang="ko-KR" sz="1400" b="1"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a:t>
            </a:r>
            <a:endParaRPr lang="ko-KR" altLang="en-US" sz="1400" b="1" spc="-50" dirty="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endParaRPr>
          </a:p>
        </p:txBody>
      </p:sp>
      <p:sp>
        <p:nvSpPr>
          <p:cNvPr id="39" name="TextBox 38">
            <a:extLst>
              <a:ext uri="{FF2B5EF4-FFF2-40B4-BE49-F238E27FC236}">
                <a16:creationId xmlns:a16="http://schemas.microsoft.com/office/drawing/2014/main" id="{B90186AB-10F7-0A0A-4756-EF3C110F88A1}"/>
              </a:ext>
            </a:extLst>
          </p:cNvPr>
          <p:cNvSpPr txBox="1"/>
          <p:nvPr/>
        </p:nvSpPr>
        <p:spPr>
          <a:xfrm>
            <a:off x="5028618" y="4282560"/>
            <a:ext cx="573668" cy="430887"/>
          </a:xfrm>
          <a:prstGeom prst="rect">
            <a:avLst/>
          </a:prstGeom>
        </p:spPr>
        <p:txBody>
          <a:bodyPr wrap="square" lIns="0" tIns="0" rIns="0" bIns="0" rtlCol="0" anchor="ctr">
            <a:spAutoFit/>
          </a:bodyPr>
          <a:lstStyle>
            <a:defPPr>
              <a:defRPr lang="ko-KR"/>
            </a:defPPr>
            <a:lvl1pPr latinLnBrk="0">
              <a:lnSpc>
                <a:spcPct val="120000"/>
              </a:lnSpc>
              <a:spcAft>
                <a:spcPts val="0"/>
              </a:spcAft>
              <a:defRPr sz="2000" b="1" spc="-80">
                <a:gradFill>
                  <a:gsLst>
                    <a:gs pos="74312">
                      <a:srgbClr val="004E98"/>
                    </a:gs>
                    <a:gs pos="43000">
                      <a:srgbClr val="004E98"/>
                    </a:gs>
                  </a:gsLst>
                  <a:lin ang="5400000" scaled="1"/>
                </a:gradFill>
                <a:latin typeface="+mj-ea"/>
                <a:ea typeface="+mj-ea"/>
              </a:defRPr>
            </a:lvl1pPr>
          </a:lstStyle>
          <a:p>
            <a:pPr marL="342900" lvl="0" indent="-342900" latinLnBrk="1">
              <a:lnSpc>
                <a:spcPct val="100000"/>
              </a:lnSpc>
              <a:buAutoNum type="arabicPlain"/>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2</a:t>
            </a:r>
          </a:p>
          <a:p>
            <a:pPr lvl="0" latinLnBrk="1">
              <a:lnSpc>
                <a:spcPct val="100000"/>
              </a:lnSpc>
              <a:defRPr/>
            </a:pPr>
            <a:r>
              <a:rPr lang="en-US" altLang="ko-KR" sz="1400" spc="-50" dirty="0" smtClean="0">
                <a:ln>
                  <a:solidFill>
                    <a:schemeClr val="accent1">
                      <a:shade val="50000"/>
                      <a:alpha val="0"/>
                    </a:schemeClr>
                  </a:solidFill>
                </a:ln>
                <a:solidFill>
                  <a:schemeClr val="tx1">
                    <a:lumMod val="65000"/>
                    <a:lumOff val="35000"/>
                  </a:schemeClr>
                </a:solidFill>
                <a:latin typeface="Arita Dotum KR Medium" panose="02020603020101020101" pitchFamily="18" charset="-127"/>
                <a:ea typeface="Arita Dotum KR Medium" panose="02020603020101020101" pitchFamily="18" charset="-127"/>
              </a:rPr>
              <a:t>3       4</a:t>
            </a:r>
          </a:p>
        </p:txBody>
      </p:sp>
      <p:sp>
        <p:nvSpPr>
          <p:cNvPr id="22" name="TextBox 21">
            <a:extLst>
              <a:ext uri="{FF2B5EF4-FFF2-40B4-BE49-F238E27FC236}">
                <a16:creationId xmlns:a16="http://schemas.microsoft.com/office/drawing/2014/main" id="{7C49267A-5354-4D03-BDAD-B95113459E3F}"/>
              </a:ext>
            </a:extLst>
          </p:cNvPr>
          <p:cNvSpPr txBox="1"/>
          <p:nvPr/>
        </p:nvSpPr>
        <p:spPr>
          <a:xfrm>
            <a:off x="8928410" y="696489"/>
            <a:ext cx="1635511" cy="276999"/>
          </a:xfrm>
          <a:prstGeom prst="rect">
            <a:avLst/>
          </a:prstGeom>
          <a:noFill/>
        </p:spPr>
        <p:txBody>
          <a:bodyPr wrap="square" lIns="0" tIns="0" rIns="0" bIns="0" rtlCol="0">
            <a:spAutoFit/>
          </a:bodyPr>
          <a:lstStyle>
            <a:defPPr>
              <a:defRPr lang="ko-KR"/>
            </a:defPPr>
            <a:lvl1pPr>
              <a:lnSpc>
                <a:spcPct val="100000"/>
              </a:lnSpc>
              <a:spcAft>
                <a:spcPts val="600"/>
              </a:spcAft>
              <a:defRPr sz="2800" b="1" spc="-150">
                <a:gradFill>
                  <a:gsLst>
                    <a:gs pos="12844">
                      <a:schemeClr val="tx1"/>
                    </a:gs>
                    <a:gs pos="25000">
                      <a:schemeClr val="tx1"/>
                    </a:gs>
                  </a:gsLst>
                  <a:lin ang="5400000" scaled="1"/>
                </a:gradFill>
                <a:latin typeface="+mj-ea"/>
                <a:ea typeface="+mj-ea"/>
              </a:defRPr>
            </a:lvl1pPr>
          </a:lstStyle>
          <a:p>
            <a:pPr algn="r"/>
            <a:r>
              <a:rPr lang="ko-KR" altLang="en-US" sz="1800" dirty="0" smtClean="0">
                <a:solidFill>
                  <a:schemeClr val="bg1">
                    <a:lumMod val="75000"/>
                  </a:schemeClr>
                </a:solidFill>
                <a:latin typeface="Arita Dotum KR Medium" panose="02020603020101020101" pitchFamily="18" charset="-127"/>
                <a:ea typeface="Arita Dotum KR Medium" panose="02020603020101020101" pitchFamily="18" charset="-127"/>
              </a:rPr>
              <a:t>부록</a:t>
            </a:r>
            <a:endParaRPr lang="ko-KR" altLang="en-US" sz="1800" dirty="0">
              <a:solidFill>
                <a:schemeClr val="bg1">
                  <a:lumMod val="75000"/>
                </a:schemeClr>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214463940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55081" y="2008119"/>
            <a:ext cx="2257990" cy="646331"/>
          </a:xfrm>
          <a:prstGeom prst="rect">
            <a:avLst/>
          </a:prstGeom>
          <a:noFill/>
        </p:spPr>
        <p:txBody>
          <a:bodyPr wrap="none" lIns="0" rtlCol="0">
            <a:spAutoFit/>
          </a:bodyPr>
          <a:lstStyle/>
          <a:p>
            <a:r>
              <a:rPr lang="ko-KR" altLang="en-US" sz="3600" b="1" dirty="0">
                <a:solidFill>
                  <a:schemeClr val="tx2"/>
                </a:solidFill>
                <a:latin typeface="Arita Dotum KR Medium" panose="02020603020101020101" pitchFamily="18" charset="-127"/>
                <a:ea typeface="Arita Dotum KR Medium" panose="02020603020101020101" pitchFamily="18" charset="-127"/>
              </a:rPr>
              <a:t>감사합니다</a:t>
            </a:r>
            <a:r>
              <a:rPr lang="en-US" altLang="ko-KR" sz="3600" b="1" dirty="0">
                <a:solidFill>
                  <a:schemeClr val="tx2"/>
                </a:solidFill>
                <a:latin typeface="Arita Dotum KR Medium" panose="02020603020101020101" pitchFamily="18" charset="-127"/>
                <a:ea typeface="Arita Dotum KR Medium" panose="02020603020101020101" pitchFamily="18" charset="-127"/>
              </a:rPr>
              <a:t>.</a:t>
            </a:r>
            <a:endParaRPr lang="ko-KR" altLang="en-US" sz="3600" b="1" dirty="0">
              <a:solidFill>
                <a:schemeClr val="tx2"/>
              </a:solidFill>
              <a:latin typeface="Arita Dotum KR Medium" panose="02020603020101020101" pitchFamily="18" charset="-127"/>
              <a:ea typeface="Arita Dotum KR Medium" panose="02020603020101020101" pitchFamily="18" charset="-127"/>
            </a:endParaRPr>
          </a:p>
        </p:txBody>
      </p:sp>
    </p:spTree>
    <p:extLst>
      <p:ext uri="{BB962C8B-B14F-4D97-AF65-F5344CB8AC3E}">
        <p14:creationId xmlns:p14="http://schemas.microsoft.com/office/powerpoint/2010/main" val="3334368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New KPMG">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marL="108000" indent="-108000" algn="l" defTabSz="1036747" fontAlgn="ctr" latinLnBrk="0">
          <a:lnSpc>
            <a:spcPct val="110000"/>
          </a:lnSpc>
          <a:spcBef>
            <a:spcPct val="0"/>
          </a:spcBef>
          <a:spcAft>
            <a:spcPts val="300"/>
          </a:spcAft>
          <a:buSzPct val="100000"/>
          <a:buFont typeface="Arial" panose="020B0604020202020204" pitchFamily="34" charset="0"/>
          <a:buChar char="•"/>
          <a:defRPr sz="1200" b="1" spc="-30" dirty="0" smtClean="0">
            <a:ln>
              <a:solidFill>
                <a:schemeClr val="bg1">
                  <a:alpha val="0"/>
                </a:schemeClr>
              </a:solidFill>
            </a:ln>
            <a:solidFill>
              <a:schemeClr val="tx1">
                <a:lumMod val="85000"/>
                <a:lumOff val="15000"/>
              </a:schemeClr>
            </a:solidFill>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문서" ma:contentTypeID="0x0101000A5DD5D33CBCDA47BF42371A9ADE7462" ma:contentTypeVersion="0" ma:contentTypeDescription="새 문서를 만듭니다." ma:contentTypeScope="" ma:versionID="e3b08f037bee35d4537e18a35927b885">
  <xsd:schema xmlns:xsd="http://www.w3.org/2001/XMLSchema" xmlns:xs="http://www.w3.org/2001/XMLSchema" xmlns:p="http://schemas.microsoft.com/office/2006/metadata/properties" targetNamespace="http://schemas.microsoft.com/office/2006/metadata/properties" ma:root="true" ma:fieldsID="98509c16e2068e4d5d0612c501c1975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FCA6AA-35B4-4A6E-9533-113A99B51137}">
  <ds:schemaRefs>
    <ds:schemaRef ds:uri="http://schemas.microsoft.com/sharepoint/v3/contenttype/forms"/>
  </ds:schemaRefs>
</ds:datastoreItem>
</file>

<file path=customXml/itemProps2.xml><?xml version="1.0" encoding="utf-8"?>
<ds:datastoreItem xmlns:ds="http://schemas.openxmlformats.org/officeDocument/2006/customXml" ds:itemID="{1C3F821F-1242-4C55-8C55-6813CE8438EF}">
  <ds:schemaRefs>
    <ds:schemaRef ds:uri="http://www.w3.org/XML/1998/namespace"/>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schemas.microsoft.com/office/infopath/2007/PartnerControls"/>
    <ds:schemaRef ds:uri="http://purl.org/dc/elements/1.1/"/>
    <ds:schemaRef ds:uri="http://purl.org/dc/dcmitype/"/>
  </ds:schemaRefs>
</ds:datastoreItem>
</file>

<file path=customXml/itemProps3.xml><?xml version="1.0" encoding="utf-8"?>
<ds:datastoreItem xmlns:ds="http://schemas.openxmlformats.org/officeDocument/2006/customXml" ds:itemID="{43130C53-D1F4-4697-94A2-7F9F41E344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77971</TotalTime>
  <Words>3700</Words>
  <Application>Microsoft Office PowerPoint</Application>
  <PresentationFormat>사용자 지정</PresentationFormat>
  <Paragraphs>666</Paragraphs>
  <Slides>59</Slides>
  <Notes>0</Notes>
  <HiddenSlides>0</HiddenSlides>
  <MMClips>0</MMClips>
  <ScaleCrop>false</ScaleCrop>
  <HeadingPairs>
    <vt:vector size="6" baseType="variant">
      <vt:variant>
        <vt:lpstr>사용한 글꼴</vt:lpstr>
      </vt:variant>
      <vt:variant>
        <vt:i4>12</vt:i4>
      </vt:variant>
      <vt:variant>
        <vt:lpstr>테마</vt:lpstr>
      </vt:variant>
      <vt:variant>
        <vt:i4>1</vt:i4>
      </vt:variant>
      <vt:variant>
        <vt:lpstr>슬라이드 제목</vt:lpstr>
      </vt:variant>
      <vt:variant>
        <vt:i4>59</vt:i4>
      </vt:variant>
    </vt:vector>
  </HeadingPairs>
  <TitlesOfParts>
    <vt:vector size="72" baseType="lpstr">
      <vt:lpstr>Arita Dotum KR Medium</vt:lpstr>
      <vt:lpstr>KPMG Extralight</vt:lpstr>
      <vt:lpstr>KPMG Light</vt:lpstr>
      <vt:lpstr>Univers 45 Light</vt:lpstr>
      <vt:lpstr>Univers for KPMG</vt:lpstr>
      <vt:lpstr>Univers for KPMG Cond</vt:lpstr>
      <vt:lpstr>나눔고딕</vt:lpstr>
      <vt:lpstr>맑은 고딕</vt:lpstr>
      <vt:lpstr>Arial</vt:lpstr>
      <vt:lpstr>Calibri</vt:lpstr>
      <vt:lpstr>Times New Roman</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삼정KPMG</dc:creator>
  <cp:lastModifiedBy>KPMG</cp:lastModifiedBy>
  <cp:revision>2375</cp:revision>
  <cp:lastPrinted>2019-12-19T05:45:31Z</cp:lastPrinted>
  <dcterms:created xsi:type="dcterms:W3CDTF">2017-12-19T00:07:05Z</dcterms:created>
  <dcterms:modified xsi:type="dcterms:W3CDTF">2025-03-26T10:24:35Z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0x0101000A5DD5D33CBCDA47BF42371A9ADE7462</vt:lpwstr>
  </property>
</Properties>
</file>